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25"/>
  </p:notesMasterIdLst>
  <p:sldIdLst>
    <p:sldId id="256" r:id="rId2"/>
    <p:sldId id="258" r:id="rId3"/>
    <p:sldId id="267" r:id="rId4"/>
    <p:sldId id="259" r:id="rId5"/>
    <p:sldId id="268" r:id="rId6"/>
    <p:sldId id="269" r:id="rId7"/>
    <p:sldId id="260" r:id="rId8"/>
    <p:sldId id="261" r:id="rId9"/>
    <p:sldId id="266" r:id="rId10"/>
    <p:sldId id="289" r:id="rId11"/>
    <p:sldId id="279" r:id="rId12"/>
    <p:sldId id="263" r:id="rId13"/>
    <p:sldId id="278" r:id="rId14"/>
    <p:sldId id="281" r:id="rId15"/>
    <p:sldId id="282" r:id="rId16"/>
    <p:sldId id="284" r:id="rId17"/>
    <p:sldId id="285" r:id="rId18"/>
    <p:sldId id="288" r:id="rId19"/>
    <p:sldId id="286" r:id="rId20"/>
    <p:sldId id="287"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FD33D0-4452-55C2-E1F3-586F74C6BE01}" name="Hajan Dahre" initials="HD" userId="9e3f51fad181913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p:cViewPr>
        <p:scale>
          <a:sx n="60" d="100"/>
          <a:sy n="60" d="100"/>
        </p:scale>
        <p:origin x="1408" y="28"/>
      </p:cViewPr>
      <p:guideLst>
        <p:guide orient="horz" pos="2160"/>
        <p:guide pos="2880"/>
      </p:guideLst>
    </p:cSldViewPr>
  </p:slideViewPr>
  <p:notesTextViewPr>
    <p:cViewPr>
      <p:scale>
        <a:sx n="1" d="1"/>
        <a:sy n="1" d="1"/>
      </p:scale>
      <p:origin x="0" y="0"/>
    </p:cViewPr>
  </p:notesTextViewPr>
  <p:notesViewPr>
    <p:cSldViewPr>
      <p:cViewPr varScale="1">
        <p:scale>
          <a:sx n="54" d="100"/>
          <a:sy n="54" d="100"/>
        </p:scale>
        <p:origin x="2796"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D19B1C-BB23-4BAF-B492-1DD80279498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A9DA8B0-C616-4C37-95C2-4E775B13002F}">
      <dgm:prSet custT="1"/>
      <dgm:spPr/>
      <dgm:t>
        <a:bodyPr/>
        <a:lstStyle/>
        <a:p>
          <a:pPr algn="just">
            <a:lnSpc>
              <a:spcPct val="100000"/>
            </a:lnSpc>
          </a:pPr>
          <a:r>
            <a:rPr lang="en-US" sz="1600" dirty="0">
              <a:latin typeface="Times New Roman" panose="02020603050405020304" pitchFamily="18" charset="0"/>
              <a:cs typeface="Times New Roman" panose="02020603050405020304" pitchFamily="18" charset="0"/>
            </a:rPr>
            <a:t>Sindhi is a low-resource language with very few NLP tools, especially for </a:t>
          </a:r>
          <a:r>
            <a:rPr lang="en-US" sz="1600" b="1" dirty="0">
              <a:latin typeface="Times New Roman" panose="02020603050405020304" pitchFamily="18" charset="0"/>
              <a:cs typeface="Times New Roman" panose="02020603050405020304" pitchFamily="18" charset="0"/>
            </a:rPr>
            <a:t>text generation</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scientific domains</a:t>
          </a:r>
          <a:r>
            <a:rPr lang="en-US" sz="1600" dirty="0">
              <a:latin typeface="Times New Roman" panose="02020603050405020304" pitchFamily="18" charset="0"/>
              <a:cs typeface="Times New Roman" panose="02020603050405020304" pitchFamily="18" charset="0"/>
            </a:rPr>
            <a:t> like education and health. There is </a:t>
          </a:r>
          <a:r>
            <a:rPr lang="en-US" sz="1600" b="1" dirty="0">
              <a:latin typeface="Times New Roman" panose="02020603050405020304" pitchFamily="18" charset="0"/>
              <a:cs typeface="Times New Roman" panose="02020603050405020304" pitchFamily="18" charset="0"/>
            </a:rPr>
            <a:t>no existing work</a:t>
          </a:r>
          <a:r>
            <a:rPr lang="en-US" sz="1600" dirty="0">
              <a:latin typeface="Times New Roman" panose="02020603050405020304" pitchFamily="18" charset="0"/>
              <a:cs typeface="Times New Roman" panose="02020603050405020304" pitchFamily="18" charset="0"/>
            </a:rPr>
            <a:t> using </a:t>
          </a:r>
          <a:r>
            <a:rPr lang="en-US" sz="1600" b="1" dirty="0">
              <a:latin typeface="Times New Roman" panose="02020603050405020304" pitchFamily="18" charset="0"/>
              <a:cs typeface="Times New Roman" panose="02020603050405020304" pitchFamily="18" charset="0"/>
            </a:rPr>
            <a:t>RAG</a:t>
          </a:r>
          <a:r>
            <a:rPr lang="en-US" sz="1600" dirty="0">
              <a:latin typeface="Times New Roman" panose="02020603050405020304" pitchFamily="18" charset="0"/>
              <a:cs typeface="Times New Roman" panose="02020603050405020304" pitchFamily="18" charset="0"/>
            </a:rPr>
            <a:t> for Sindhi, and </a:t>
          </a:r>
          <a:r>
            <a:rPr lang="en-US" sz="1600" b="1" dirty="0">
              <a:latin typeface="Times New Roman" panose="02020603050405020304" pitchFamily="18" charset="0"/>
              <a:cs typeface="Times New Roman" panose="02020603050405020304" pitchFamily="18" charset="0"/>
            </a:rPr>
            <a:t>no health-specific datasets</a:t>
          </a:r>
          <a:r>
            <a:rPr lang="en-US" sz="1600" dirty="0">
              <a:latin typeface="Times New Roman" panose="02020603050405020304" pitchFamily="18" charset="0"/>
              <a:cs typeface="Times New Roman" panose="02020603050405020304" pitchFamily="18" charset="0"/>
            </a:rPr>
            <a:t> are available. </a:t>
          </a:r>
        </a:p>
      </dgm:t>
    </dgm:pt>
    <dgm:pt modelId="{3ECDF357-6D88-48C9-845F-1D758731AA12}" type="parTrans" cxnId="{44C9659F-1366-4D68-B65B-94D1D83A06B3}">
      <dgm:prSet/>
      <dgm:spPr/>
      <dgm:t>
        <a:bodyPr/>
        <a:lstStyle/>
        <a:p>
          <a:endParaRPr lang="en-US"/>
        </a:p>
      </dgm:t>
    </dgm:pt>
    <dgm:pt modelId="{C9D6A5A2-497F-4F14-B2BC-F3A2119BAAB3}" type="sibTrans" cxnId="{44C9659F-1366-4D68-B65B-94D1D83A06B3}">
      <dgm:prSet/>
      <dgm:spPr/>
      <dgm:t>
        <a:bodyPr/>
        <a:lstStyle/>
        <a:p>
          <a:endParaRPr lang="en-US"/>
        </a:p>
      </dgm:t>
    </dgm:pt>
    <dgm:pt modelId="{98102C56-6A01-486E-81F8-CC7F77EDAAE5}">
      <dgm:prSet custT="1"/>
      <dgm:spPr/>
      <dgm:t>
        <a:bodyPr/>
        <a:lstStyle/>
        <a:p>
          <a:pPr algn="just">
            <a:lnSpc>
              <a:spcPct val="100000"/>
            </a:lnSpc>
          </a:pPr>
          <a:r>
            <a:rPr lang="en-US" sz="1800" dirty="0">
              <a:latin typeface="Times New Roman" panose="02020603050405020304" pitchFamily="18" charset="0"/>
              <a:cs typeface="Times New Roman" panose="02020603050405020304" pitchFamily="18" charset="0"/>
            </a:rPr>
            <a:t>Also, current systems don’t focus on </a:t>
          </a:r>
          <a:r>
            <a:rPr lang="en-US" sz="1800" b="1" dirty="0">
              <a:latin typeface="Times New Roman" panose="02020603050405020304" pitchFamily="18" charset="0"/>
              <a:cs typeface="Times New Roman" panose="02020603050405020304" pitchFamily="18" charset="0"/>
            </a:rPr>
            <a:t>ethical or respectful communication</a:t>
          </a:r>
          <a:r>
            <a:rPr lang="en-US" sz="1800" dirty="0">
              <a:latin typeface="Times New Roman" panose="02020603050405020304" pitchFamily="18" charset="0"/>
              <a:cs typeface="Times New Roman" panose="02020603050405020304" pitchFamily="18" charset="0"/>
            </a:rPr>
            <a:t> with users. Our project aims to fill these gaps by building a content generator that is both </a:t>
          </a:r>
          <a:r>
            <a:rPr lang="en-US" sz="1800" b="1" dirty="0">
              <a:latin typeface="Times New Roman" panose="02020603050405020304" pitchFamily="18" charset="0"/>
              <a:cs typeface="Times New Roman" panose="02020603050405020304" pitchFamily="18" charset="0"/>
            </a:rPr>
            <a:t>knowledgeable and polite</a:t>
          </a:r>
          <a:r>
            <a:rPr lang="en-US" sz="1800" dirty="0">
              <a:latin typeface="Times New Roman" panose="02020603050405020304" pitchFamily="18" charset="0"/>
              <a:cs typeface="Times New Roman" panose="02020603050405020304" pitchFamily="18" charset="0"/>
            </a:rPr>
            <a:t>, tailored for Sindhi speakers.</a:t>
          </a:r>
        </a:p>
      </dgm:t>
    </dgm:pt>
    <dgm:pt modelId="{F121C49A-95CD-48A7-A555-01F1CA27CBBD}" type="parTrans" cxnId="{94D2D71F-6471-4759-84F1-67EB919D6C5F}">
      <dgm:prSet/>
      <dgm:spPr/>
      <dgm:t>
        <a:bodyPr/>
        <a:lstStyle/>
        <a:p>
          <a:endParaRPr lang="en-US"/>
        </a:p>
      </dgm:t>
    </dgm:pt>
    <dgm:pt modelId="{F5AD20D3-E62D-4CBE-9EAD-8341D4C66045}" type="sibTrans" cxnId="{94D2D71F-6471-4759-84F1-67EB919D6C5F}">
      <dgm:prSet/>
      <dgm:spPr/>
      <dgm:t>
        <a:bodyPr/>
        <a:lstStyle/>
        <a:p>
          <a:endParaRPr lang="en-US"/>
        </a:p>
      </dgm:t>
    </dgm:pt>
    <dgm:pt modelId="{FCAE41A0-1604-4342-A888-7557F2C2CB86}" type="pres">
      <dgm:prSet presAssocID="{6AD19B1C-BB23-4BAF-B492-1DD80279498F}" presName="root" presStyleCnt="0">
        <dgm:presLayoutVars>
          <dgm:dir/>
          <dgm:resizeHandles val="exact"/>
        </dgm:presLayoutVars>
      </dgm:prSet>
      <dgm:spPr/>
    </dgm:pt>
    <dgm:pt modelId="{22D2372D-760D-4610-B7DB-335638CB2CCA}" type="pres">
      <dgm:prSet presAssocID="{AA9DA8B0-C616-4C37-95C2-4E775B13002F}" presName="compNode" presStyleCnt="0"/>
      <dgm:spPr/>
    </dgm:pt>
    <dgm:pt modelId="{D4648273-96E2-4621-90E7-D41723341D7D}" type="pres">
      <dgm:prSet presAssocID="{AA9DA8B0-C616-4C37-95C2-4E775B13002F}" presName="bgRect" presStyleLbl="bgShp" presStyleIdx="0" presStyleCnt="2"/>
      <dgm:spPr/>
    </dgm:pt>
    <dgm:pt modelId="{418F03DC-D24B-4BA6-AF03-D3E1D0FF6672}" type="pres">
      <dgm:prSet presAssocID="{AA9DA8B0-C616-4C37-95C2-4E775B13002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a:ext>
      </dgm:extLst>
    </dgm:pt>
    <dgm:pt modelId="{9E9CD78A-6FA0-469F-BFA2-21FF2EF192B4}" type="pres">
      <dgm:prSet presAssocID="{AA9DA8B0-C616-4C37-95C2-4E775B13002F}" presName="spaceRect" presStyleCnt="0"/>
      <dgm:spPr/>
    </dgm:pt>
    <dgm:pt modelId="{5CFCD698-AB20-4925-ABF3-9B72374A7440}" type="pres">
      <dgm:prSet presAssocID="{AA9DA8B0-C616-4C37-95C2-4E775B13002F}" presName="parTx" presStyleLbl="revTx" presStyleIdx="0" presStyleCnt="2">
        <dgm:presLayoutVars>
          <dgm:chMax val="0"/>
          <dgm:chPref val="0"/>
        </dgm:presLayoutVars>
      </dgm:prSet>
      <dgm:spPr/>
    </dgm:pt>
    <dgm:pt modelId="{0A6931F7-C2D4-462F-9D23-09A9CE8E69DB}" type="pres">
      <dgm:prSet presAssocID="{C9D6A5A2-497F-4F14-B2BC-F3A2119BAAB3}" presName="sibTrans" presStyleCnt="0"/>
      <dgm:spPr/>
    </dgm:pt>
    <dgm:pt modelId="{36172E89-CA60-4EF0-BCCB-BAC17493E25A}" type="pres">
      <dgm:prSet presAssocID="{98102C56-6A01-486E-81F8-CC7F77EDAAE5}" presName="compNode" presStyleCnt="0"/>
      <dgm:spPr/>
    </dgm:pt>
    <dgm:pt modelId="{BBBC3488-5B07-4B26-AE3F-8729509C25D6}" type="pres">
      <dgm:prSet presAssocID="{98102C56-6A01-486E-81F8-CC7F77EDAAE5}" presName="bgRect" presStyleLbl="bgShp" presStyleIdx="1" presStyleCnt="2"/>
      <dgm:spPr/>
    </dgm:pt>
    <dgm:pt modelId="{6C7EC614-2CC5-45DF-836A-14692A4F2A4F}" type="pres">
      <dgm:prSet presAssocID="{98102C56-6A01-486E-81F8-CC7F77EDAAE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Network"/>
        </a:ext>
      </dgm:extLst>
    </dgm:pt>
    <dgm:pt modelId="{8B469777-EAC5-456F-BD68-EDB3454F8A60}" type="pres">
      <dgm:prSet presAssocID="{98102C56-6A01-486E-81F8-CC7F77EDAAE5}" presName="spaceRect" presStyleCnt="0"/>
      <dgm:spPr/>
    </dgm:pt>
    <dgm:pt modelId="{77A5D6A3-72A6-4B0E-9CFB-5B7FB8DC0677}" type="pres">
      <dgm:prSet presAssocID="{98102C56-6A01-486E-81F8-CC7F77EDAAE5}" presName="parTx" presStyleLbl="revTx" presStyleIdx="1" presStyleCnt="2">
        <dgm:presLayoutVars>
          <dgm:chMax val="0"/>
          <dgm:chPref val="0"/>
        </dgm:presLayoutVars>
      </dgm:prSet>
      <dgm:spPr/>
    </dgm:pt>
  </dgm:ptLst>
  <dgm:cxnLst>
    <dgm:cxn modelId="{94D2D71F-6471-4759-84F1-67EB919D6C5F}" srcId="{6AD19B1C-BB23-4BAF-B492-1DD80279498F}" destId="{98102C56-6A01-486E-81F8-CC7F77EDAAE5}" srcOrd="1" destOrd="0" parTransId="{F121C49A-95CD-48A7-A555-01F1CA27CBBD}" sibTransId="{F5AD20D3-E62D-4CBE-9EAD-8341D4C66045}"/>
    <dgm:cxn modelId="{264D9825-18AA-4F98-AE00-8552A0EAB0B6}" type="presOf" srcId="{AA9DA8B0-C616-4C37-95C2-4E775B13002F}" destId="{5CFCD698-AB20-4925-ABF3-9B72374A7440}" srcOrd="0" destOrd="0" presId="urn:microsoft.com/office/officeart/2018/2/layout/IconVerticalSolidList"/>
    <dgm:cxn modelId="{7B607043-45D2-4F36-9A8D-75BAC93A3FD5}" type="presOf" srcId="{98102C56-6A01-486E-81F8-CC7F77EDAAE5}" destId="{77A5D6A3-72A6-4B0E-9CFB-5B7FB8DC0677}" srcOrd="0" destOrd="0" presId="urn:microsoft.com/office/officeart/2018/2/layout/IconVerticalSolidList"/>
    <dgm:cxn modelId="{D9B68D6C-13F0-467D-9CBE-9491E4EA8031}" type="presOf" srcId="{6AD19B1C-BB23-4BAF-B492-1DD80279498F}" destId="{FCAE41A0-1604-4342-A888-7557F2C2CB86}" srcOrd="0" destOrd="0" presId="urn:microsoft.com/office/officeart/2018/2/layout/IconVerticalSolidList"/>
    <dgm:cxn modelId="{44C9659F-1366-4D68-B65B-94D1D83A06B3}" srcId="{6AD19B1C-BB23-4BAF-B492-1DD80279498F}" destId="{AA9DA8B0-C616-4C37-95C2-4E775B13002F}" srcOrd="0" destOrd="0" parTransId="{3ECDF357-6D88-48C9-845F-1D758731AA12}" sibTransId="{C9D6A5A2-497F-4F14-B2BC-F3A2119BAAB3}"/>
    <dgm:cxn modelId="{B9B29918-6324-49F3-8642-CA5542309FBC}" type="presParOf" srcId="{FCAE41A0-1604-4342-A888-7557F2C2CB86}" destId="{22D2372D-760D-4610-B7DB-335638CB2CCA}" srcOrd="0" destOrd="0" presId="urn:microsoft.com/office/officeart/2018/2/layout/IconVerticalSolidList"/>
    <dgm:cxn modelId="{986048D9-0705-4081-B2B5-FAE841BFEF63}" type="presParOf" srcId="{22D2372D-760D-4610-B7DB-335638CB2CCA}" destId="{D4648273-96E2-4621-90E7-D41723341D7D}" srcOrd="0" destOrd="0" presId="urn:microsoft.com/office/officeart/2018/2/layout/IconVerticalSolidList"/>
    <dgm:cxn modelId="{6D4FAB90-CAA7-41D9-B512-C2A7FD1E9C12}" type="presParOf" srcId="{22D2372D-760D-4610-B7DB-335638CB2CCA}" destId="{418F03DC-D24B-4BA6-AF03-D3E1D0FF6672}" srcOrd="1" destOrd="0" presId="urn:microsoft.com/office/officeart/2018/2/layout/IconVerticalSolidList"/>
    <dgm:cxn modelId="{53741EDF-A1BC-4317-AB39-933ADAF9BC5C}" type="presParOf" srcId="{22D2372D-760D-4610-B7DB-335638CB2CCA}" destId="{9E9CD78A-6FA0-469F-BFA2-21FF2EF192B4}" srcOrd="2" destOrd="0" presId="urn:microsoft.com/office/officeart/2018/2/layout/IconVerticalSolidList"/>
    <dgm:cxn modelId="{2CCB8D99-88B9-4747-9230-6E84B4C98649}" type="presParOf" srcId="{22D2372D-760D-4610-B7DB-335638CB2CCA}" destId="{5CFCD698-AB20-4925-ABF3-9B72374A7440}" srcOrd="3" destOrd="0" presId="urn:microsoft.com/office/officeart/2018/2/layout/IconVerticalSolidList"/>
    <dgm:cxn modelId="{0592587E-C26D-467C-96DA-0FECFE1C8999}" type="presParOf" srcId="{FCAE41A0-1604-4342-A888-7557F2C2CB86}" destId="{0A6931F7-C2D4-462F-9D23-09A9CE8E69DB}" srcOrd="1" destOrd="0" presId="urn:microsoft.com/office/officeart/2018/2/layout/IconVerticalSolidList"/>
    <dgm:cxn modelId="{B19A823F-1BF9-478A-A0B3-E48B404A20D2}" type="presParOf" srcId="{FCAE41A0-1604-4342-A888-7557F2C2CB86}" destId="{36172E89-CA60-4EF0-BCCB-BAC17493E25A}" srcOrd="2" destOrd="0" presId="urn:microsoft.com/office/officeart/2018/2/layout/IconVerticalSolidList"/>
    <dgm:cxn modelId="{0B2B1026-0D42-4307-8FE9-59BD4A8AB58A}" type="presParOf" srcId="{36172E89-CA60-4EF0-BCCB-BAC17493E25A}" destId="{BBBC3488-5B07-4B26-AE3F-8729509C25D6}" srcOrd="0" destOrd="0" presId="urn:microsoft.com/office/officeart/2018/2/layout/IconVerticalSolidList"/>
    <dgm:cxn modelId="{79445392-8A30-4917-A5BE-43B27042757D}" type="presParOf" srcId="{36172E89-CA60-4EF0-BCCB-BAC17493E25A}" destId="{6C7EC614-2CC5-45DF-836A-14692A4F2A4F}" srcOrd="1" destOrd="0" presId="urn:microsoft.com/office/officeart/2018/2/layout/IconVerticalSolidList"/>
    <dgm:cxn modelId="{75413C58-2252-4C2A-A21C-2B5806AA74B7}" type="presParOf" srcId="{36172E89-CA60-4EF0-BCCB-BAC17493E25A}" destId="{8B469777-EAC5-456F-BD68-EDB3454F8A60}" srcOrd="2" destOrd="0" presId="urn:microsoft.com/office/officeart/2018/2/layout/IconVerticalSolidList"/>
    <dgm:cxn modelId="{CC36C864-DE38-4B4F-B721-573CE2738B4D}" type="presParOf" srcId="{36172E89-CA60-4EF0-BCCB-BAC17493E25A}" destId="{77A5D6A3-72A6-4B0E-9CFB-5B7FB8DC067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F7623B-11DB-48E8-9122-9A7D6C0D87B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4ECE038F-66BB-4C3E-BED6-23846111C601}">
      <dgm:prSet custT="1"/>
      <dgm:spPr/>
      <dgm:t>
        <a:bodyPr/>
        <a:lstStyle/>
        <a:p>
          <a:pPr algn="just">
            <a:lnSpc>
              <a:spcPct val="100000"/>
            </a:lnSpc>
          </a:pPr>
          <a:r>
            <a:rPr lang="en-US" sz="1800" dirty="0"/>
            <a:t>Although there have been advancements in NLP for various languages, </a:t>
          </a:r>
          <a:r>
            <a:rPr lang="en-US" sz="1800" b="1" dirty="0"/>
            <a:t>Sindhi language still lacks</a:t>
          </a:r>
          <a:r>
            <a:rPr lang="en-US" sz="1800" dirty="0"/>
            <a:t> </a:t>
          </a:r>
          <a:r>
            <a:rPr lang="en-US" sz="1800" b="1" dirty="0"/>
            <a:t>comprehensive tools and datasets</a:t>
          </a:r>
          <a:r>
            <a:rPr lang="en-US" sz="1800" dirty="0"/>
            <a:t>, particularly in the health sectors. This results in limited access to essential information for </a:t>
          </a:r>
          <a:r>
            <a:rPr lang="en-US" sz="1800" b="1" dirty="0"/>
            <a:t>Sindhi-speaking community</a:t>
          </a:r>
          <a:r>
            <a:rPr lang="en-US" sz="1800" dirty="0"/>
            <a:t>. </a:t>
          </a:r>
        </a:p>
      </dgm:t>
    </dgm:pt>
    <dgm:pt modelId="{64EDB7CC-97B6-4459-A006-4518463AADCD}" type="parTrans" cxnId="{B24737DE-38DB-4EE6-BD88-2770461D1052}">
      <dgm:prSet/>
      <dgm:spPr/>
      <dgm:t>
        <a:bodyPr/>
        <a:lstStyle/>
        <a:p>
          <a:endParaRPr lang="en-US"/>
        </a:p>
      </dgm:t>
    </dgm:pt>
    <dgm:pt modelId="{42F27FC6-82E9-4AA1-9009-1F8889E07EB1}" type="sibTrans" cxnId="{B24737DE-38DB-4EE6-BD88-2770461D1052}">
      <dgm:prSet/>
      <dgm:spPr/>
      <dgm:t>
        <a:bodyPr/>
        <a:lstStyle/>
        <a:p>
          <a:endParaRPr lang="en-US"/>
        </a:p>
      </dgm:t>
    </dgm:pt>
    <dgm:pt modelId="{CA16531A-7206-4AAB-A71A-3E61E0F09CC3}">
      <dgm:prSet custT="1"/>
      <dgm:spPr/>
      <dgm:t>
        <a:bodyPr/>
        <a:lstStyle/>
        <a:p>
          <a:pPr algn="just">
            <a:lnSpc>
              <a:spcPct val="100000"/>
            </a:lnSpc>
          </a:pPr>
          <a:r>
            <a:rPr lang="en-US" sz="1800" dirty="0"/>
            <a:t>The challenge lies in </a:t>
          </a:r>
          <a:r>
            <a:rPr lang="en-US" sz="1800" b="1" dirty="0"/>
            <a:t>developing a way to build an application</a:t>
          </a:r>
          <a:r>
            <a:rPr lang="en-US" sz="1800" dirty="0"/>
            <a:t> that can generate </a:t>
          </a:r>
          <a:r>
            <a:rPr lang="en-US" sz="1800" b="1" dirty="0"/>
            <a:t>reliable</a:t>
          </a:r>
          <a:r>
            <a:rPr lang="en-US" sz="1800" dirty="0"/>
            <a:t> and </a:t>
          </a:r>
          <a:r>
            <a:rPr lang="en-US" sz="1800" b="1" dirty="0"/>
            <a:t>clear</a:t>
          </a:r>
          <a:r>
            <a:rPr lang="en-US" sz="1800" dirty="0"/>
            <a:t> content in Sindhi</a:t>
          </a:r>
        </a:p>
      </dgm:t>
    </dgm:pt>
    <dgm:pt modelId="{3A12E72D-D8E0-4AFD-8FA0-8621942E4F9B}" type="parTrans" cxnId="{F94A2E39-0E33-4CD0-AC1C-3EA2268FAE26}">
      <dgm:prSet/>
      <dgm:spPr/>
      <dgm:t>
        <a:bodyPr/>
        <a:lstStyle/>
        <a:p>
          <a:endParaRPr lang="en-US"/>
        </a:p>
      </dgm:t>
    </dgm:pt>
    <dgm:pt modelId="{8133519C-0791-4F2C-B00B-E120E549E74C}" type="sibTrans" cxnId="{F94A2E39-0E33-4CD0-AC1C-3EA2268FAE26}">
      <dgm:prSet/>
      <dgm:spPr/>
      <dgm:t>
        <a:bodyPr/>
        <a:lstStyle/>
        <a:p>
          <a:endParaRPr lang="en-US"/>
        </a:p>
      </dgm:t>
    </dgm:pt>
    <dgm:pt modelId="{BE7FBBFA-C408-4D04-97C5-6ADDCCF3113F}" type="pres">
      <dgm:prSet presAssocID="{16F7623B-11DB-48E8-9122-9A7D6C0D87B7}" presName="root" presStyleCnt="0">
        <dgm:presLayoutVars>
          <dgm:dir/>
          <dgm:resizeHandles val="exact"/>
        </dgm:presLayoutVars>
      </dgm:prSet>
      <dgm:spPr/>
    </dgm:pt>
    <dgm:pt modelId="{7E082AAF-75DB-4DB9-B5A2-85AB6E940FE0}" type="pres">
      <dgm:prSet presAssocID="{4ECE038F-66BB-4C3E-BED6-23846111C601}" presName="compNode" presStyleCnt="0"/>
      <dgm:spPr/>
    </dgm:pt>
    <dgm:pt modelId="{0991AE06-D16E-4938-900D-F57F61A0974F}" type="pres">
      <dgm:prSet presAssocID="{4ECE038F-66BB-4C3E-BED6-23846111C601}" presName="bgRect" presStyleLbl="bgShp" presStyleIdx="0" presStyleCnt="2"/>
      <dgm:spPr/>
    </dgm:pt>
    <dgm:pt modelId="{28E5E91F-2B6E-48F6-8309-B26BD6A272F9}" type="pres">
      <dgm:prSet presAssocID="{4ECE038F-66BB-4C3E-BED6-23846111C60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53C3265C-0A82-4B04-A9E8-ABC855D47A54}" type="pres">
      <dgm:prSet presAssocID="{4ECE038F-66BB-4C3E-BED6-23846111C601}" presName="spaceRect" presStyleCnt="0"/>
      <dgm:spPr/>
    </dgm:pt>
    <dgm:pt modelId="{5B5D347E-3F56-4659-BB2C-CFE00EAC2D86}" type="pres">
      <dgm:prSet presAssocID="{4ECE038F-66BB-4C3E-BED6-23846111C601}" presName="parTx" presStyleLbl="revTx" presStyleIdx="0" presStyleCnt="2">
        <dgm:presLayoutVars>
          <dgm:chMax val="0"/>
          <dgm:chPref val="0"/>
        </dgm:presLayoutVars>
      </dgm:prSet>
      <dgm:spPr/>
    </dgm:pt>
    <dgm:pt modelId="{99BB10B2-D58E-478A-B67E-0CFD16F60E87}" type="pres">
      <dgm:prSet presAssocID="{42F27FC6-82E9-4AA1-9009-1F8889E07EB1}" presName="sibTrans" presStyleCnt="0"/>
      <dgm:spPr/>
    </dgm:pt>
    <dgm:pt modelId="{389FC182-615F-4C87-96D6-F187BA1DB8F8}" type="pres">
      <dgm:prSet presAssocID="{CA16531A-7206-4AAB-A71A-3E61E0F09CC3}" presName="compNode" presStyleCnt="0"/>
      <dgm:spPr/>
    </dgm:pt>
    <dgm:pt modelId="{9535EA13-F968-471C-9660-369A5FE18ABF}" type="pres">
      <dgm:prSet presAssocID="{CA16531A-7206-4AAB-A71A-3E61E0F09CC3}" presName="bgRect" presStyleLbl="bgShp" presStyleIdx="1" presStyleCnt="2"/>
      <dgm:spPr/>
    </dgm:pt>
    <dgm:pt modelId="{8B857F37-08B0-4AD4-86F1-2C956651B29A}" type="pres">
      <dgm:prSet presAssocID="{CA16531A-7206-4AAB-A71A-3E61E0F09CC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ght Bulb and Gear"/>
        </a:ext>
      </dgm:extLst>
    </dgm:pt>
    <dgm:pt modelId="{75320221-A719-4193-A2B0-CC44E1A4A6B5}" type="pres">
      <dgm:prSet presAssocID="{CA16531A-7206-4AAB-A71A-3E61E0F09CC3}" presName="spaceRect" presStyleCnt="0"/>
      <dgm:spPr/>
    </dgm:pt>
    <dgm:pt modelId="{1B90C8F8-D148-4429-B1CC-71AE7567F513}" type="pres">
      <dgm:prSet presAssocID="{CA16531A-7206-4AAB-A71A-3E61E0F09CC3}" presName="parTx" presStyleLbl="revTx" presStyleIdx="1" presStyleCnt="2">
        <dgm:presLayoutVars>
          <dgm:chMax val="0"/>
          <dgm:chPref val="0"/>
        </dgm:presLayoutVars>
      </dgm:prSet>
      <dgm:spPr/>
    </dgm:pt>
  </dgm:ptLst>
  <dgm:cxnLst>
    <dgm:cxn modelId="{AD21791C-344F-4C38-A812-ACECEA4CB29D}" type="presOf" srcId="{16F7623B-11DB-48E8-9122-9A7D6C0D87B7}" destId="{BE7FBBFA-C408-4D04-97C5-6ADDCCF3113F}" srcOrd="0" destOrd="0" presId="urn:microsoft.com/office/officeart/2018/2/layout/IconVerticalSolidList"/>
    <dgm:cxn modelId="{F94A2E39-0E33-4CD0-AC1C-3EA2268FAE26}" srcId="{16F7623B-11DB-48E8-9122-9A7D6C0D87B7}" destId="{CA16531A-7206-4AAB-A71A-3E61E0F09CC3}" srcOrd="1" destOrd="0" parTransId="{3A12E72D-D8E0-4AFD-8FA0-8621942E4F9B}" sibTransId="{8133519C-0791-4F2C-B00B-E120E549E74C}"/>
    <dgm:cxn modelId="{C0EDDD69-8526-4C64-8D1C-C81572BF562D}" type="presOf" srcId="{CA16531A-7206-4AAB-A71A-3E61E0F09CC3}" destId="{1B90C8F8-D148-4429-B1CC-71AE7567F513}" srcOrd="0" destOrd="0" presId="urn:microsoft.com/office/officeart/2018/2/layout/IconVerticalSolidList"/>
    <dgm:cxn modelId="{BCA083B6-EBF6-4AD8-A263-1C05E6A85187}" type="presOf" srcId="{4ECE038F-66BB-4C3E-BED6-23846111C601}" destId="{5B5D347E-3F56-4659-BB2C-CFE00EAC2D86}" srcOrd="0" destOrd="0" presId="urn:microsoft.com/office/officeart/2018/2/layout/IconVerticalSolidList"/>
    <dgm:cxn modelId="{B24737DE-38DB-4EE6-BD88-2770461D1052}" srcId="{16F7623B-11DB-48E8-9122-9A7D6C0D87B7}" destId="{4ECE038F-66BB-4C3E-BED6-23846111C601}" srcOrd="0" destOrd="0" parTransId="{64EDB7CC-97B6-4459-A006-4518463AADCD}" sibTransId="{42F27FC6-82E9-4AA1-9009-1F8889E07EB1}"/>
    <dgm:cxn modelId="{563568A7-CCC1-4ED9-A2F5-344CFD4FAA8E}" type="presParOf" srcId="{BE7FBBFA-C408-4D04-97C5-6ADDCCF3113F}" destId="{7E082AAF-75DB-4DB9-B5A2-85AB6E940FE0}" srcOrd="0" destOrd="0" presId="urn:microsoft.com/office/officeart/2018/2/layout/IconVerticalSolidList"/>
    <dgm:cxn modelId="{DE1A6667-FE87-44A8-885C-53D31D684911}" type="presParOf" srcId="{7E082AAF-75DB-4DB9-B5A2-85AB6E940FE0}" destId="{0991AE06-D16E-4938-900D-F57F61A0974F}" srcOrd="0" destOrd="0" presId="urn:microsoft.com/office/officeart/2018/2/layout/IconVerticalSolidList"/>
    <dgm:cxn modelId="{A1C3FB3B-55B7-4E72-8B80-252855209A03}" type="presParOf" srcId="{7E082AAF-75DB-4DB9-B5A2-85AB6E940FE0}" destId="{28E5E91F-2B6E-48F6-8309-B26BD6A272F9}" srcOrd="1" destOrd="0" presId="urn:microsoft.com/office/officeart/2018/2/layout/IconVerticalSolidList"/>
    <dgm:cxn modelId="{B0ABDF3F-00DE-4DB8-82BE-1DFC798EC008}" type="presParOf" srcId="{7E082AAF-75DB-4DB9-B5A2-85AB6E940FE0}" destId="{53C3265C-0A82-4B04-A9E8-ABC855D47A54}" srcOrd="2" destOrd="0" presId="urn:microsoft.com/office/officeart/2018/2/layout/IconVerticalSolidList"/>
    <dgm:cxn modelId="{2E6A1F6D-13FC-428F-9E9F-3940A8D1970D}" type="presParOf" srcId="{7E082AAF-75DB-4DB9-B5A2-85AB6E940FE0}" destId="{5B5D347E-3F56-4659-BB2C-CFE00EAC2D86}" srcOrd="3" destOrd="0" presId="urn:microsoft.com/office/officeart/2018/2/layout/IconVerticalSolidList"/>
    <dgm:cxn modelId="{77F906F3-4C2E-4F7B-A829-8F9569D8AC2F}" type="presParOf" srcId="{BE7FBBFA-C408-4D04-97C5-6ADDCCF3113F}" destId="{99BB10B2-D58E-478A-B67E-0CFD16F60E87}" srcOrd="1" destOrd="0" presId="urn:microsoft.com/office/officeart/2018/2/layout/IconVerticalSolidList"/>
    <dgm:cxn modelId="{B9AA6EE9-82FD-4B44-A21A-E6E353DB2C06}" type="presParOf" srcId="{BE7FBBFA-C408-4D04-97C5-6ADDCCF3113F}" destId="{389FC182-615F-4C87-96D6-F187BA1DB8F8}" srcOrd="2" destOrd="0" presId="urn:microsoft.com/office/officeart/2018/2/layout/IconVerticalSolidList"/>
    <dgm:cxn modelId="{244277A5-023E-45C3-876C-7D4D1CDA7E59}" type="presParOf" srcId="{389FC182-615F-4C87-96D6-F187BA1DB8F8}" destId="{9535EA13-F968-471C-9660-369A5FE18ABF}" srcOrd="0" destOrd="0" presId="urn:microsoft.com/office/officeart/2018/2/layout/IconVerticalSolidList"/>
    <dgm:cxn modelId="{DD5E863C-23A8-4EE5-9D9D-378E26D491CB}" type="presParOf" srcId="{389FC182-615F-4C87-96D6-F187BA1DB8F8}" destId="{8B857F37-08B0-4AD4-86F1-2C956651B29A}" srcOrd="1" destOrd="0" presId="urn:microsoft.com/office/officeart/2018/2/layout/IconVerticalSolidList"/>
    <dgm:cxn modelId="{D67150F6-992F-4C43-9D1D-C7F266C9C842}" type="presParOf" srcId="{389FC182-615F-4C87-96D6-F187BA1DB8F8}" destId="{75320221-A719-4193-A2B0-CC44E1A4A6B5}" srcOrd="2" destOrd="0" presId="urn:microsoft.com/office/officeart/2018/2/layout/IconVerticalSolidList"/>
    <dgm:cxn modelId="{D44B9508-29D5-4895-822B-8D3F9DED514B}" type="presParOf" srcId="{389FC182-615F-4C87-96D6-F187BA1DB8F8}" destId="{1B90C8F8-D148-4429-B1CC-71AE7567F51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0B8809-277E-4BC3-AA70-ABF1B48ADF2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8FB6445-0051-4613-BD3D-350DA7A256EC}">
      <dgm:prSet/>
      <dgm:spPr/>
      <dgm:t>
        <a:bodyPr/>
        <a:lstStyle/>
        <a:p>
          <a:pPr>
            <a:lnSpc>
              <a:spcPct val="100000"/>
            </a:lnSpc>
          </a:pPr>
          <a:r>
            <a:rPr lang="en-US" dirty="0"/>
            <a:t>To develop a health-focused text generation system for the Sindhi language using the Retrieval-Augmented Generation (RAG) technique.</a:t>
          </a:r>
        </a:p>
      </dgm:t>
    </dgm:pt>
    <dgm:pt modelId="{DA0C7981-24AF-4A97-91DF-A2D25C920A09}" type="parTrans" cxnId="{278D6A85-DD2D-420B-A3C4-ED993DC2168F}">
      <dgm:prSet/>
      <dgm:spPr/>
      <dgm:t>
        <a:bodyPr/>
        <a:lstStyle/>
        <a:p>
          <a:endParaRPr lang="en-US"/>
        </a:p>
      </dgm:t>
    </dgm:pt>
    <dgm:pt modelId="{65E45986-0F8D-4515-BEDD-89165DCEC051}" type="sibTrans" cxnId="{278D6A85-DD2D-420B-A3C4-ED993DC2168F}">
      <dgm:prSet/>
      <dgm:spPr/>
      <dgm:t>
        <a:bodyPr/>
        <a:lstStyle/>
        <a:p>
          <a:endParaRPr lang="en-US"/>
        </a:p>
      </dgm:t>
    </dgm:pt>
    <dgm:pt modelId="{CE75CCDC-83C9-46BC-9A36-713817FBB3A7}">
      <dgm:prSet/>
      <dgm:spPr/>
      <dgm:t>
        <a:bodyPr/>
        <a:lstStyle/>
        <a:p>
          <a:pPr>
            <a:lnSpc>
              <a:spcPct val="100000"/>
            </a:lnSpc>
          </a:pPr>
          <a:r>
            <a:rPr lang="en-US" dirty="0"/>
            <a:t>To collect, clean, and preprocess Sindhi language data from health-related sources such as textbooks, newspapers, and online articles for model training.</a:t>
          </a:r>
        </a:p>
      </dgm:t>
    </dgm:pt>
    <dgm:pt modelId="{0A9B48CC-1E02-4A22-8753-2E51204568C5}" type="parTrans" cxnId="{59985068-7A92-4A4A-888C-EB6599A748D3}">
      <dgm:prSet/>
      <dgm:spPr/>
      <dgm:t>
        <a:bodyPr/>
        <a:lstStyle/>
        <a:p>
          <a:endParaRPr lang="en-US"/>
        </a:p>
      </dgm:t>
    </dgm:pt>
    <dgm:pt modelId="{4EFC2007-9E45-4B7B-BC3C-EBE6710C6A2C}" type="sibTrans" cxnId="{59985068-7A92-4A4A-888C-EB6599A748D3}">
      <dgm:prSet/>
      <dgm:spPr/>
      <dgm:t>
        <a:bodyPr/>
        <a:lstStyle/>
        <a:p>
          <a:endParaRPr lang="en-US"/>
        </a:p>
      </dgm:t>
    </dgm:pt>
    <dgm:pt modelId="{672133D1-D211-43CA-B436-80D09AB2AB37}">
      <dgm:prSet/>
      <dgm:spPr/>
      <dgm:t>
        <a:bodyPr/>
        <a:lstStyle/>
        <a:p>
          <a:pPr>
            <a:lnSpc>
              <a:spcPct val="100000"/>
            </a:lnSpc>
          </a:pPr>
          <a:r>
            <a:rPr lang="en-US"/>
            <a:t>To bridge the digital and linguistic gap by promoting Natural Language Processing (NLP) tools in the under-resourced Sindhi language, especially in the healthcare domain.</a:t>
          </a:r>
        </a:p>
      </dgm:t>
    </dgm:pt>
    <dgm:pt modelId="{D406D523-B8E5-479F-A863-1DD4E82E5268}" type="parTrans" cxnId="{FD58666B-179E-4198-B219-37B57DF40616}">
      <dgm:prSet/>
      <dgm:spPr/>
      <dgm:t>
        <a:bodyPr/>
        <a:lstStyle/>
        <a:p>
          <a:endParaRPr lang="en-US"/>
        </a:p>
      </dgm:t>
    </dgm:pt>
    <dgm:pt modelId="{6E203C51-07BE-44FD-A80A-0E46119CECCF}" type="sibTrans" cxnId="{FD58666B-179E-4198-B219-37B57DF40616}">
      <dgm:prSet/>
      <dgm:spPr/>
      <dgm:t>
        <a:bodyPr/>
        <a:lstStyle/>
        <a:p>
          <a:endParaRPr lang="en-US"/>
        </a:p>
      </dgm:t>
    </dgm:pt>
    <dgm:pt modelId="{A13E41CD-7F8F-4C70-88A1-7FA21093CCD2}">
      <dgm:prSet/>
      <dgm:spPr/>
      <dgm:t>
        <a:bodyPr/>
        <a:lstStyle/>
        <a:p>
          <a:pPr>
            <a:lnSpc>
              <a:spcPct val="100000"/>
            </a:lnSpc>
          </a:pPr>
          <a:r>
            <a:rPr lang="en-US"/>
            <a:t>To evaluate the quality, accuracy, and usefulness of the generated Sindhi health texts through expert feedback and NLP metrics.</a:t>
          </a:r>
        </a:p>
      </dgm:t>
    </dgm:pt>
    <dgm:pt modelId="{0FB20343-D5AA-4E7E-B46D-7D4DC606C3EB}" type="parTrans" cxnId="{84074567-FF9C-41B7-A676-D2AF3FDC17A2}">
      <dgm:prSet/>
      <dgm:spPr/>
      <dgm:t>
        <a:bodyPr/>
        <a:lstStyle/>
        <a:p>
          <a:endParaRPr lang="en-US"/>
        </a:p>
      </dgm:t>
    </dgm:pt>
    <dgm:pt modelId="{4EBF6073-8FDB-471D-9B52-2402DF432BE2}" type="sibTrans" cxnId="{84074567-FF9C-41B7-A676-D2AF3FDC17A2}">
      <dgm:prSet/>
      <dgm:spPr/>
      <dgm:t>
        <a:bodyPr/>
        <a:lstStyle/>
        <a:p>
          <a:endParaRPr lang="en-US"/>
        </a:p>
      </dgm:t>
    </dgm:pt>
    <dgm:pt modelId="{BC36B022-B016-4939-81A6-7FC189D4F4D5}" type="pres">
      <dgm:prSet presAssocID="{7C0B8809-277E-4BC3-AA70-ABF1B48ADF28}" presName="root" presStyleCnt="0">
        <dgm:presLayoutVars>
          <dgm:dir/>
          <dgm:resizeHandles val="exact"/>
        </dgm:presLayoutVars>
      </dgm:prSet>
      <dgm:spPr/>
    </dgm:pt>
    <dgm:pt modelId="{827EC2FC-B3FD-4DAF-8AC6-C0A102C25BEC}" type="pres">
      <dgm:prSet presAssocID="{08FB6445-0051-4613-BD3D-350DA7A256EC}" presName="compNode" presStyleCnt="0"/>
      <dgm:spPr/>
    </dgm:pt>
    <dgm:pt modelId="{6A3C781D-9A51-4F1B-BE5C-8F69243DCFC9}" type="pres">
      <dgm:prSet presAssocID="{08FB6445-0051-4613-BD3D-350DA7A256EC}" presName="bgRect" presStyleLbl="bgShp" presStyleIdx="0" presStyleCnt="4"/>
      <dgm:spPr/>
    </dgm:pt>
    <dgm:pt modelId="{01614A60-B493-42A1-9F76-1736571D2AF6}" type="pres">
      <dgm:prSet presAssocID="{08FB6445-0051-4613-BD3D-350DA7A256E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73033B79-CA6C-4FC1-AE7F-363EE8099BC5}" type="pres">
      <dgm:prSet presAssocID="{08FB6445-0051-4613-BD3D-350DA7A256EC}" presName="spaceRect" presStyleCnt="0"/>
      <dgm:spPr/>
    </dgm:pt>
    <dgm:pt modelId="{10798D09-7913-4B91-969F-C3222E4B4C06}" type="pres">
      <dgm:prSet presAssocID="{08FB6445-0051-4613-BD3D-350DA7A256EC}" presName="parTx" presStyleLbl="revTx" presStyleIdx="0" presStyleCnt="4">
        <dgm:presLayoutVars>
          <dgm:chMax val="0"/>
          <dgm:chPref val="0"/>
        </dgm:presLayoutVars>
      </dgm:prSet>
      <dgm:spPr/>
    </dgm:pt>
    <dgm:pt modelId="{9ECADE94-490E-4C6D-A039-1B8650B89005}" type="pres">
      <dgm:prSet presAssocID="{65E45986-0F8D-4515-BEDD-89165DCEC051}" presName="sibTrans" presStyleCnt="0"/>
      <dgm:spPr/>
    </dgm:pt>
    <dgm:pt modelId="{947A7681-36F7-4810-BCB1-3AE8B240F4B3}" type="pres">
      <dgm:prSet presAssocID="{CE75CCDC-83C9-46BC-9A36-713817FBB3A7}" presName="compNode" presStyleCnt="0"/>
      <dgm:spPr/>
    </dgm:pt>
    <dgm:pt modelId="{ED1075BB-2006-4E1C-9B10-FF12992ADE84}" type="pres">
      <dgm:prSet presAssocID="{CE75CCDC-83C9-46BC-9A36-713817FBB3A7}" presName="bgRect" presStyleLbl="bgShp" presStyleIdx="1" presStyleCnt="4"/>
      <dgm:spPr/>
    </dgm:pt>
    <dgm:pt modelId="{D95B8C37-5D81-4722-BCDF-4945BDB2F3AC}" type="pres">
      <dgm:prSet presAssocID="{CE75CCDC-83C9-46BC-9A36-713817FBB3A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wspaper"/>
        </a:ext>
      </dgm:extLst>
    </dgm:pt>
    <dgm:pt modelId="{4CD01FE3-C665-4E7E-BEC2-5D8368EF9EB1}" type="pres">
      <dgm:prSet presAssocID="{CE75CCDC-83C9-46BC-9A36-713817FBB3A7}" presName="spaceRect" presStyleCnt="0"/>
      <dgm:spPr/>
    </dgm:pt>
    <dgm:pt modelId="{F522E39D-B9E8-4A2F-AD8A-5D40E78DD4DF}" type="pres">
      <dgm:prSet presAssocID="{CE75CCDC-83C9-46BC-9A36-713817FBB3A7}" presName="parTx" presStyleLbl="revTx" presStyleIdx="1" presStyleCnt="4">
        <dgm:presLayoutVars>
          <dgm:chMax val="0"/>
          <dgm:chPref val="0"/>
        </dgm:presLayoutVars>
      </dgm:prSet>
      <dgm:spPr/>
    </dgm:pt>
    <dgm:pt modelId="{5F617403-66B8-4FF7-9C2B-1B96B385BAF5}" type="pres">
      <dgm:prSet presAssocID="{4EFC2007-9E45-4B7B-BC3C-EBE6710C6A2C}" presName="sibTrans" presStyleCnt="0"/>
      <dgm:spPr/>
    </dgm:pt>
    <dgm:pt modelId="{D98BB576-7991-415A-9257-2E5AEB5ACE7C}" type="pres">
      <dgm:prSet presAssocID="{672133D1-D211-43CA-B436-80D09AB2AB37}" presName="compNode" presStyleCnt="0"/>
      <dgm:spPr/>
    </dgm:pt>
    <dgm:pt modelId="{BD5C87A3-A6AB-490B-B355-E179DFDD6EF0}" type="pres">
      <dgm:prSet presAssocID="{672133D1-D211-43CA-B436-80D09AB2AB37}" presName="bgRect" presStyleLbl="bgShp" presStyleIdx="2" presStyleCnt="4"/>
      <dgm:spPr/>
    </dgm:pt>
    <dgm:pt modelId="{F62B574A-D2FA-4B01-90D1-83EABB27DB45}" type="pres">
      <dgm:prSet presAssocID="{672133D1-D211-43CA-B436-80D09AB2AB3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ongue"/>
        </a:ext>
      </dgm:extLst>
    </dgm:pt>
    <dgm:pt modelId="{F52B0BCA-5DB3-4367-B8B5-B69DA5ED48B3}" type="pres">
      <dgm:prSet presAssocID="{672133D1-D211-43CA-B436-80D09AB2AB37}" presName="spaceRect" presStyleCnt="0"/>
      <dgm:spPr/>
    </dgm:pt>
    <dgm:pt modelId="{FAEC2756-8714-4D75-8AB0-82E7CFDF0B00}" type="pres">
      <dgm:prSet presAssocID="{672133D1-D211-43CA-B436-80D09AB2AB37}" presName="parTx" presStyleLbl="revTx" presStyleIdx="2" presStyleCnt="4">
        <dgm:presLayoutVars>
          <dgm:chMax val="0"/>
          <dgm:chPref val="0"/>
        </dgm:presLayoutVars>
      </dgm:prSet>
      <dgm:spPr/>
    </dgm:pt>
    <dgm:pt modelId="{2EA3B740-2843-4EFF-A020-A34EFC2E06A5}" type="pres">
      <dgm:prSet presAssocID="{6E203C51-07BE-44FD-A80A-0E46119CECCF}" presName="sibTrans" presStyleCnt="0"/>
      <dgm:spPr/>
    </dgm:pt>
    <dgm:pt modelId="{C9CED402-EA0A-4D78-BE1F-A81A3CA1EFA5}" type="pres">
      <dgm:prSet presAssocID="{A13E41CD-7F8F-4C70-88A1-7FA21093CCD2}" presName="compNode" presStyleCnt="0"/>
      <dgm:spPr/>
    </dgm:pt>
    <dgm:pt modelId="{7C83FB5C-1950-444D-88A4-18357C451D37}" type="pres">
      <dgm:prSet presAssocID="{A13E41CD-7F8F-4C70-88A1-7FA21093CCD2}" presName="bgRect" presStyleLbl="bgShp" presStyleIdx="3" presStyleCnt="4"/>
      <dgm:spPr/>
    </dgm:pt>
    <dgm:pt modelId="{7DC48623-368C-4065-BA8C-7669FD4747E6}" type="pres">
      <dgm:prSet presAssocID="{A13E41CD-7F8F-4C70-88A1-7FA21093CCD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ibbon"/>
        </a:ext>
      </dgm:extLst>
    </dgm:pt>
    <dgm:pt modelId="{72A46028-21F6-449B-8E5C-20627D43361A}" type="pres">
      <dgm:prSet presAssocID="{A13E41CD-7F8F-4C70-88A1-7FA21093CCD2}" presName="spaceRect" presStyleCnt="0"/>
      <dgm:spPr/>
    </dgm:pt>
    <dgm:pt modelId="{96800D8E-0D27-4443-8FE4-3B6E1701DD92}" type="pres">
      <dgm:prSet presAssocID="{A13E41CD-7F8F-4C70-88A1-7FA21093CCD2}" presName="parTx" presStyleLbl="revTx" presStyleIdx="3" presStyleCnt="4">
        <dgm:presLayoutVars>
          <dgm:chMax val="0"/>
          <dgm:chPref val="0"/>
        </dgm:presLayoutVars>
      </dgm:prSet>
      <dgm:spPr/>
    </dgm:pt>
  </dgm:ptLst>
  <dgm:cxnLst>
    <dgm:cxn modelId="{AE830026-163F-4A42-BA15-F0AA31D035B8}" type="presOf" srcId="{08FB6445-0051-4613-BD3D-350DA7A256EC}" destId="{10798D09-7913-4B91-969F-C3222E4B4C06}" srcOrd="0" destOrd="0" presId="urn:microsoft.com/office/officeart/2018/2/layout/IconVerticalSolidList"/>
    <dgm:cxn modelId="{0106B727-7BA0-4F7A-9A89-6955A679AAD5}" type="presOf" srcId="{CE75CCDC-83C9-46BC-9A36-713817FBB3A7}" destId="{F522E39D-B9E8-4A2F-AD8A-5D40E78DD4DF}" srcOrd="0" destOrd="0" presId="urn:microsoft.com/office/officeart/2018/2/layout/IconVerticalSolidList"/>
    <dgm:cxn modelId="{3B827364-E2CE-4A6E-BFA6-C5E12B2D3DAF}" type="presOf" srcId="{A13E41CD-7F8F-4C70-88A1-7FA21093CCD2}" destId="{96800D8E-0D27-4443-8FE4-3B6E1701DD92}" srcOrd="0" destOrd="0" presId="urn:microsoft.com/office/officeart/2018/2/layout/IconVerticalSolidList"/>
    <dgm:cxn modelId="{84074567-FF9C-41B7-A676-D2AF3FDC17A2}" srcId="{7C0B8809-277E-4BC3-AA70-ABF1B48ADF28}" destId="{A13E41CD-7F8F-4C70-88A1-7FA21093CCD2}" srcOrd="3" destOrd="0" parTransId="{0FB20343-D5AA-4E7E-B46D-7D4DC606C3EB}" sibTransId="{4EBF6073-8FDB-471D-9B52-2402DF432BE2}"/>
    <dgm:cxn modelId="{59985068-7A92-4A4A-888C-EB6599A748D3}" srcId="{7C0B8809-277E-4BC3-AA70-ABF1B48ADF28}" destId="{CE75CCDC-83C9-46BC-9A36-713817FBB3A7}" srcOrd="1" destOrd="0" parTransId="{0A9B48CC-1E02-4A22-8753-2E51204568C5}" sibTransId="{4EFC2007-9E45-4B7B-BC3C-EBE6710C6A2C}"/>
    <dgm:cxn modelId="{FD58666B-179E-4198-B219-37B57DF40616}" srcId="{7C0B8809-277E-4BC3-AA70-ABF1B48ADF28}" destId="{672133D1-D211-43CA-B436-80D09AB2AB37}" srcOrd="2" destOrd="0" parTransId="{D406D523-B8E5-479F-A863-1DD4E82E5268}" sibTransId="{6E203C51-07BE-44FD-A80A-0E46119CECCF}"/>
    <dgm:cxn modelId="{278D6A85-DD2D-420B-A3C4-ED993DC2168F}" srcId="{7C0B8809-277E-4BC3-AA70-ABF1B48ADF28}" destId="{08FB6445-0051-4613-BD3D-350DA7A256EC}" srcOrd="0" destOrd="0" parTransId="{DA0C7981-24AF-4A97-91DF-A2D25C920A09}" sibTransId="{65E45986-0F8D-4515-BEDD-89165DCEC051}"/>
    <dgm:cxn modelId="{005F11BB-9FAF-4E40-8ADB-7AFD55861C9A}" type="presOf" srcId="{7C0B8809-277E-4BC3-AA70-ABF1B48ADF28}" destId="{BC36B022-B016-4939-81A6-7FC189D4F4D5}" srcOrd="0" destOrd="0" presId="urn:microsoft.com/office/officeart/2018/2/layout/IconVerticalSolidList"/>
    <dgm:cxn modelId="{7C61BCC7-5800-49C1-AB68-179F68C67CA1}" type="presOf" srcId="{672133D1-D211-43CA-B436-80D09AB2AB37}" destId="{FAEC2756-8714-4D75-8AB0-82E7CFDF0B00}" srcOrd="0" destOrd="0" presId="urn:microsoft.com/office/officeart/2018/2/layout/IconVerticalSolidList"/>
    <dgm:cxn modelId="{D9CF90B8-C610-468A-B940-86BF9B677A96}" type="presParOf" srcId="{BC36B022-B016-4939-81A6-7FC189D4F4D5}" destId="{827EC2FC-B3FD-4DAF-8AC6-C0A102C25BEC}" srcOrd="0" destOrd="0" presId="urn:microsoft.com/office/officeart/2018/2/layout/IconVerticalSolidList"/>
    <dgm:cxn modelId="{C8D3C368-F19F-4E62-B61E-171ADCA27E33}" type="presParOf" srcId="{827EC2FC-B3FD-4DAF-8AC6-C0A102C25BEC}" destId="{6A3C781D-9A51-4F1B-BE5C-8F69243DCFC9}" srcOrd="0" destOrd="0" presId="urn:microsoft.com/office/officeart/2018/2/layout/IconVerticalSolidList"/>
    <dgm:cxn modelId="{C6238C05-C274-427F-AD65-EA9C99F39B18}" type="presParOf" srcId="{827EC2FC-B3FD-4DAF-8AC6-C0A102C25BEC}" destId="{01614A60-B493-42A1-9F76-1736571D2AF6}" srcOrd="1" destOrd="0" presId="urn:microsoft.com/office/officeart/2018/2/layout/IconVerticalSolidList"/>
    <dgm:cxn modelId="{31E1C697-EA49-47D5-9B4E-928E68E46ABA}" type="presParOf" srcId="{827EC2FC-B3FD-4DAF-8AC6-C0A102C25BEC}" destId="{73033B79-CA6C-4FC1-AE7F-363EE8099BC5}" srcOrd="2" destOrd="0" presId="urn:microsoft.com/office/officeart/2018/2/layout/IconVerticalSolidList"/>
    <dgm:cxn modelId="{72A76A69-7B5C-4277-B9A1-911992F93CDB}" type="presParOf" srcId="{827EC2FC-B3FD-4DAF-8AC6-C0A102C25BEC}" destId="{10798D09-7913-4B91-969F-C3222E4B4C06}" srcOrd="3" destOrd="0" presId="urn:microsoft.com/office/officeart/2018/2/layout/IconVerticalSolidList"/>
    <dgm:cxn modelId="{0E0A7C13-E8A2-409F-B1A2-2874972C8E2A}" type="presParOf" srcId="{BC36B022-B016-4939-81A6-7FC189D4F4D5}" destId="{9ECADE94-490E-4C6D-A039-1B8650B89005}" srcOrd="1" destOrd="0" presId="urn:microsoft.com/office/officeart/2018/2/layout/IconVerticalSolidList"/>
    <dgm:cxn modelId="{8431C092-55E8-4CF0-ABB7-71A35ABC81A6}" type="presParOf" srcId="{BC36B022-B016-4939-81A6-7FC189D4F4D5}" destId="{947A7681-36F7-4810-BCB1-3AE8B240F4B3}" srcOrd="2" destOrd="0" presId="urn:microsoft.com/office/officeart/2018/2/layout/IconVerticalSolidList"/>
    <dgm:cxn modelId="{152C9403-02B8-41BC-9EBB-15C36A740D98}" type="presParOf" srcId="{947A7681-36F7-4810-BCB1-3AE8B240F4B3}" destId="{ED1075BB-2006-4E1C-9B10-FF12992ADE84}" srcOrd="0" destOrd="0" presId="urn:microsoft.com/office/officeart/2018/2/layout/IconVerticalSolidList"/>
    <dgm:cxn modelId="{935C1A63-CB6C-405E-82A6-61B34EE7C257}" type="presParOf" srcId="{947A7681-36F7-4810-BCB1-3AE8B240F4B3}" destId="{D95B8C37-5D81-4722-BCDF-4945BDB2F3AC}" srcOrd="1" destOrd="0" presId="urn:microsoft.com/office/officeart/2018/2/layout/IconVerticalSolidList"/>
    <dgm:cxn modelId="{7B56DE4E-6C9B-465A-9739-E901ACFF1DDE}" type="presParOf" srcId="{947A7681-36F7-4810-BCB1-3AE8B240F4B3}" destId="{4CD01FE3-C665-4E7E-BEC2-5D8368EF9EB1}" srcOrd="2" destOrd="0" presId="urn:microsoft.com/office/officeart/2018/2/layout/IconVerticalSolidList"/>
    <dgm:cxn modelId="{776A8664-549C-45A3-9532-40D0BF68A115}" type="presParOf" srcId="{947A7681-36F7-4810-BCB1-3AE8B240F4B3}" destId="{F522E39D-B9E8-4A2F-AD8A-5D40E78DD4DF}" srcOrd="3" destOrd="0" presId="urn:microsoft.com/office/officeart/2018/2/layout/IconVerticalSolidList"/>
    <dgm:cxn modelId="{CFF1CF09-D686-4584-8CE1-41087845E40E}" type="presParOf" srcId="{BC36B022-B016-4939-81A6-7FC189D4F4D5}" destId="{5F617403-66B8-4FF7-9C2B-1B96B385BAF5}" srcOrd="3" destOrd="0" presId="urn:microsoft.com/office/officeart/2018/2/layout/IconVerticalSolidList"/>
    <dgm:cxn modelId="{6EA56938-35E7-4125-AABC-74FFE463A5A4}" type="presParOf" srcId="{BC36B022-B016-4939-81A6-7FC189D4F4D5}" destId="{D98BB576-7991-415A-9257-2E5AEB5ACE7C}" srcOrd="4" destOrd="0" presId="urn:microsoft.com/office/officeart/2018/2/layout/IconVerticalSolidList"/>
    <dgm:cxn modelId="{BBAA7BDA-0AE5-4784-9362-BF3815C18481}" type="presParOf" srcId="{D98BB576-7991-415A-9257-2E5AEB5ACE7C}" destId="{BD5C87A3-A6AB-490B-B355-E179DFDD6EF0}" srcOrd="0" destOrd="0" presId="urn:microsoft.com/office/officeart/2018/2/layout/IconVerticalSolidList"/>
    <dgm:cxn modelId="{94DE3C00-5C7A-47A3-84CC-5BF516F61EA0}" type="presParOf" srcId="{D98BB576-7991-415A-9257-2E5AEB5ACE7C}" destId="{F62B574A-D2FA-4B01-90D1-83EABB27DB45}" srcOrd="1" destOrd="0" presId="urn:microsoft.com/office/officeart/2018/2/layout/IconVerticalSolidList"/>
    <dgm:cxn modelId="{E062E221-FE71-4AD2-9E1C-01A24A3D5B98}" type="presParOf" srcId="{D98BB576-7991-415A-9257-2E5AEB5ACE7C}" destId="{F52B0BCA-5DB3-4367-B8B5-B69DA5ED48B3}" srcOrd="2" destOrd="0" presId="urn:microsoft.com/office/officeart/2018/2/layout/IconVerticalSolidList"/>
    <dgm:cxn modelId="{F54B1525-5389-40E8-86DA-3707D35BDB3A}" type="presParOf" srcId="{D98BB576-7991-415A-9257-2E5AEB5ACE7C}" destId="{FAEC2756-8714-4D75-8AB0-82E7CFDF0B00}" srcOrd="3" destOrd="0" presId="urn:microsoft.com/office/officeart/2018/2/layout/IconVerticalSolidList"/>
    <dgm:cxn modelId="{57D2E849-85C4-4E09-98F0-DA9539C5B301}" type="presParOf" srcId="{BC36B022-B016-4939-81A6-7FC189D4F4D5}" destId="{2EA3B740-2843-4EFF-A020-A34EFC2E06A5}" srcOrd="5" destOrd="0" presId="urn:microsoft.com/office/officeart/2018/2/layout/IconVerticalSolidList"/>
    <dgm:cxn modelId="{2190FE35-E7AF-4535-BA0F-2FCE72085BA5}" type="presParOf" srcId="{BC36B022-B016-4939-81A6-7FC189D4F4D5}" destId="{C9CED402-EA0A-4D78-BE1F-A81A3CA1EFA5}" srcOrd="6" destOrd="0" presId="urn:microsoft.com/office/officeart/2018/2/layout/IconVerticalSolidList"/>
    <dgm:cxn modelId="{F13E4497-750F-4EEA-BA0D-F027DB8AF205}" type="presParOf" srcId="{C9CED402-EA0A-4D78-BE1F-A81A3CA1EFA5}" destId="{7C83FB5C-1950-444D-88A4-18357C451D37}" srcOrd="0" destOrd="0" presId="urn:microsoft.com/office/officeart/2018/2/layout/IconVerticalSolidList"/>
    <dgm:cxn modelId="{E2DF34CE-2DD1-4D85-A61B-289EB808C7E9}" type="presParOf" srcId="{C9CED402-EA0A-4D78-BE1F-A81A3CA1EFA5}" destId="{7DC48623-368C-4065-BA8C-7669FD4747E6}" srcOrd="1" destOrd="0" presId="urn:microsoft.com/office/officeart/2018/2/layout/IconVerticalSolidList"/>
    <dgm:cxn modelId="{46450C84-F84E-4718-AC66-0E2369FD6B94}" type="presParOf" srcId="{C9CED402-EA0A-4D78-BE1F-A81A3CA1EFA5}" destId="{72A46028-21F6-449B-8E5C-20627D43361A}" srcOrd="2" destOrd="0" presId="urn:microsoft.com/office/officeart/2018/2/layout/IconVerticalSolidList"/>
    <dgm:cxn modelId="{1F9F3530-65E2-49C7-912C-4D04BB9F88A3}" type="presParOf" srcId="{C9CED402-EA0A-4D78-BE1F-A81A3CA1EFA5}" destId="{96800D8E-0D27-4443-8FE4-3B6E1701DD9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7126E0-95AC-46B2-9A7D-F9A53B3C9BB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99E5C15-6A2C-4DD6-BF37-34BA504B0706}">
      <dgm:prSet/>
      <dgm:spPr/>
      <dgm:t>
        <a:bodyPr/>
        <a:lstStyle/>
        <a:p>
          <a:pPr algn="just"/>
          <a:r>
            <a:rPr lang="en-US" b="1" dirty="0"/>
            <a:t>Education:</a:t>
          </a:r>
          <a:r>
            <a:rPr lang="en-US" dirty="0"/>
            <a:t> learners can ask questions about health in Sindhi.</a:t>
          </a:r>
        </a:p>
      </dgm:t>
    </dgm:pt>
    <dgm:pt modelId="{EA9D45CF-5003-4614-8234-DC10F77A29A6}" type="parTrans" cxnId="{939DA870-715A-44C8-82C5-D07B95C27C19}">
      <dgm:prSet/>
      <dgm:spPr/>
      <dgm:t>
        <a:bodyPr/>
        <a:lstStyle/>
        <a:p>
          <a:endParaRPr lang="en-US"/>
        </a:p>
      </dgm:t>
    </dgm:pt>
    <dgm:pt modelId="{C4AC5615-AA01-42DD-B4C1-9FD973A94C1C}" type="sibTrans" cxnId="{939DA870-715A-44C8-82C5-D07B95C27C19}">
      <dgm:prSet/>
      <dgm:spPr/>
      <dgm:t>
        <a:bodyPr/>
        <a:lstStyle/>
        <a:p>
          <a:endParaRPr lang="en-US"/>
        </a:p>
      </dgm:t>
    </dgm:pt>
    <dgm:pt modelId="{D3C37F88-5391-475D-A8C2-73DDB2713260}">
      <dgm:prSet/>
      <dgm:spPr/>
      <dgm:t>
        <a:bodyPr/>
        <a:lstStyle/>
        <a:p>
          <a:pPr algn="l"/>
          <a:r>
            <a:rPr lang="en-US" b="1" dirty="0"/>
            <a:t>Health Communication:</a:t>
          </a:r>
          <a:r>
            <a:rPr lang="en-US" dirty="0"/>
            <a:t> Simplified health info in native language</a:t>
          </a:r>
        </a:p>
      </dgm:t>
    </dgm:pt>
    <dgm:pt modelId="{545F91B8-C893-4602-ADF9-C6985637FD5B}" type="parTrans" cxnId="{4C1D294B-F257-483C-A4FC-8B4CCE2C0FD1}">
      <dgm:prSet/>
      <dgm:spPr/>
      <dgm:t>
        <a:bodyPr/>
        <a:lstStyle/>
        <a:p>
          <a:endParaRPr lang="en-US"/>
        </a:p>
      </dgm:t>
    </dgm:pt>
    <dgm:pt modelId="{79B21476-FD0C-45B6-B60C-FB94096190FB}" type="sibTrans" cxnId="{4C1D294B-F257-483C-A4FC-8B4CCE2C0FD1}">
      <dgm:prSet/>
      <dgm:spPr/>
      <dgm:t>
        <a:bodyPr/>
        <a:lstStyle/>
        <a:p>
          <a:endParaRPr lang="en-US"/>
        </a:p>
      </dgm:t>
    </dgm:pt>
    <dgm:pt modelId="{9C355FC0-F25B-47DF-BFDF-43B8892464CE}">
      <dgm:prSet/>
      <dgm:spPr/>
      <dgm:t>
        <a:bodyPr/>
        <a:lstStyle/>
        <a:p>
          <a:pPr algn="l"/>
          <a:r>
            <a:rPr lang="en-US" b="1"/>
            <a:t>Language Tech:</a:t>
          </a:r>
          <a:r>
            <a:rPr lang="en-US"/>
            <a:t> Supports growth of Sindhi NLP</a:t>
          </a:r>
        </a:p>
      </dgm:t>
    </dgm:pt>
    <dgm:pt modelId="{D791185E-D9B7-499F-AE1C-499C0F912E07}" type="parTrans" cxnId="{7EE6EE34-F780-4DE1-A30C-C66595079B1A}">
      <dgm:prSet/>
      <dgm:spPr/>
      <dgm:t>
        <a:bodyPr/>
        <a:lstStyle/>
        <a:p>
          <a:endParaRPr lang="en-US"/>
        </a:p>
      </dgm:t>
    </dgm:pt>
    <dgm:pt modelId="{E0AB6A10-1394-4402-B4B7-DE63A94A2E7E}" type="sibTrans" cxnId="{7EE6EE34-F780-4DE1-A30C-C66595079B1A}">
      <dgm:prSet/>
      <dgm:spPr/>
      <dgm:t>
        <a:bodyPr/>
        <a:lstStyle/>
        <a:p>
          <a:endParaRPr lang="en-US"/>
        </a:p>
      </dgm:t>
    </dgm:pt>
    <dgm:pt modelId="{C225B822-8796-43D3-8696-DAB3B5E2B5D6}">
      <dgm:prSet/>
      <dgm:spPr/>
      <dgm:t>
        <a:bodyPr/>
        <a:lstStyle/>
        <a:p>
          <a:pPr algn="l"/>
          <a:r>
            <a:rPr lang="en-US" b="1"/>
            <a:t>Community:</a:t>
          </a:r>
          <a:r>
            <a:rPr lang="en-US"/>
            <a:t> Promotes digital use of regional language</a:t>
          </a:r>
        </a:p>
      </dgm:t>
    </dgm:pt>
    <dgm:pt modelId="{D1897409-E8F4-4EBC-ABE4-E0A0FF65A8D7}" type="parTrans" cxnId="{419731A3-BA36-4507-AD38-06E3EA01DB37}">
      <dgm:prSet/>
      <dgm:spPr/>
      <dgm:t>
        <a:bodyPr/>
        <a:lstStyle/>
        <a:p>
          <a:endParaRPr lang="en-US"/>
        </a:p>
      </dgm:t>
    </dgm:pt>
    <dgm:pt modelId="{88F73C6A-46E3-4EBF-9461-66041AE764B1}" type="sibTrans" cxnId="{419731A3-BA36-4507-AD38-06E3EA01DB37}">
      <dgm:prSet/>
      <dgm:spPr/>
      <dgm:t>
        <a:bodyPr/>
        <a:lstStyle/>
        <a:p>
          <a:endParaRPr lang="en-US"/>
        </a:p>
      </dgm:t>
    </dgm:pt>
    <dgm:pt modelId="{84776487-CD34-4B51-AEA6-BB262626FA06}" type="pres">
      <dgm:prSet presAssocID="{597126E0-95AC-46B2-9A7D-F9A53B3C9BB7}" presName="root" presStyleCnt="0">
        <dgm:presLayoutVars>
          <dgm:dir/>
          <dgm:resizeHandles val="exact"/>
        </dgm:presLayoutVars>
      </dgm:prSet>
      <dgm:spPr/>
    </dgm:pt>
    <dgm:pt modelId="{E7E08141-E738-47A5-BD7F-B20CD44C6A33}" type="pres">
      <dgm:prSet presAssocID="{799E5C15-6A2C-4DD6-BF37-34BA504B0706}" presName="compNode" presStyleCnt="0"/>
      <dgm:spPr/>
    </dgm:pt>
    <dgm:pt modelId="{32CB5DD6-CC00-4856-A03A-5068BD89206D}" type="pres">
      <dgm:prSet presAssocID="{799E5C15-6A2C-4DD6-BF37-34BA504B0706}" presName="bgRect" presStyleLbl="bgShp" presStyleIdx="0" presStyleCnt="4" custLinFactNeighborX="-55563" custLinFactNeighborY="7901"/>
      <dgm:spPr/>
    </dgm:pt>
    <dgm:pt modelId="{490B2DEF-98EE-473F-B4C0-6BFAA7C22BE7}" type="pres">
      <dgm:prSet presAssocID="{799E5C15-6A2C-4DD6-BF37-34BA504B070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97916EEF-4EE3-4281-88B4-0B8254B352A0}" type="pres">
      <dgm:prSet presAssocID="{799E5C15-6A2C-4DD6-BF37-34BA504B0706}" presName="spaceRect" presStyleCnt="0"/>
      <dgm:spPr/>
    </dgm:pt>
    <dgm:pt modelId="{F65CD634-F810-4F1C-B7E3-C8A922DD3A9D}" type="pres">
      <dgm:prSet presAssocID="{799E5C15-6A2C-4DD6-BF37-34BA504B0706}" presName="parTx" presStyleLbl="revTx" presStyleIdx="0" presStyleCnt="4">
        <dgm:presLayoutVars>
          <dgm:chMax val="0"/>
          <dgm:chPref val="0"/>
        </dgm:presLayoutVars>
      </dgm:prSet>
      <dgm:spPr/>
    </dgm:pt>
    <dgm:pt modelId="{19F77853-3895-444F-995A-679B79C55564}" type="pres">
      <dgm:prSet presAssocID="{C4AC5615-AA01-42DD-B4C1-9FD973A94C1C}" presName="sibTrans" presStyleCnt="0"/>
      <dgm:spPr/>
    </dgm:pt>
    <dgm:pt modelId="{4F6E8CD2-4817-4843-8CA0-E48DCC98E71D}" type="pres">
      <dgm:prSet presAssocID="{D3C37F88-5391-475D-A8C2-73DDB2713260}" presName="compNode" presStyleCnt="0"/>
      <dgm:spPr/>
    </dgm:pt>
    <dgm:pt modelId="{9E3E5863-3361-464A-B410-9DB43B3F9463}" type="pres">
      <dgm:prSet presAssocID="{D3C37F88-5391-475D-A8C2-73DDB2713260}" presName="bgRect" presStyleLbl="bgShp" presStyleIdx="1" presStyleCnt="4" custLinFactNeighborX="-43430" custLinFactNeighborY="-130"/>
      <dgm:spPr/>
    </dgm:pt>
    <dgm:pt modelId="{15E0FC25-A5A3-4522-8507-A06D17C26C36}" type="pres">
      <dgm:prSet presAssocID="{D3C37F88-5391-475D-A8C2-73DDB271326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313B7943-44AB-4D50-83C6-D6A1725FFC1C}" type="pres">
      <dgm:prSet presAssocID="{D3C37F88-5391-475D-A8C2-73DDB2713260}" presName="spaceRect" presStyleCnt="0"/>
      <dgm:spPr/>
    </dgm:pt>
    <dgm:pt modelId="{50D1BC7F-1FCF-4034-9C0C-14E7E73442B3}" type="pres">
      <dgm:prSet presAssocID="{D3C37F88-5391-475D-A8C2-73DDB2713260}" presName="parTx" presStyleLbl="revTx" presStyleIdx="1" presStyleCnt="4">
        <dgm:presLayoutVars>
          <dgm:chMax val="0"/>
          <dgm:chPref val="0"/>
        </dgm:presLayoutVars>
      </dgm:prSet>
      <dgm:spPr/>
    </dgm:pt>
    <dgm:pt modelId="{95351F2E-7D65-4998-B135-662AF1DF1CA6}" type="pres">
      <dgm:prSet presAssocID="{79B21476-FD0C-45B6-B60C-FB94096190FB}" presName="sibTrans" presStyleCnt="0"/>
      <dgm:spPr/>
    </dgm:pt>
    <dgm:pt modelId="{9DA780F0-6F10-4149-AFE6-435B9937D0D0}" type="pres">
      <dgm:prSet presAssocID="{9C355FC0-F25B-47DF-BFDF-43B8892464CE}" presName="compNode" presStyleCnt="0"/>
      <dgm:spPr/>
    </dgm:pt>
    <dgm:pt modelId="{223FD7EA-2421-439A-819D-6AF01B1DB246}" type="pres">
      <dgm:prSet presAssocID="{9C355FC0-F25B-47DF-BFDF-43B8892464CE}" presName="bgRect" presStyleLbl="bgShp" presStyleIdx="2" presStyleCnt="4"/>
      <dgm:spPr/>
    </dgm:pt>
    <dgm:pt modelId="{DC0BE2DB-B89C-4C8B-AAEC-CBE0874E29F5}" type="pres">
      <dgm:prSet presAssocID="{9C355FC0-F25B-47DF-BFDF-43B8892464C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D626EE27-FDA3-4448-8D8A-02D2F259CD06}" type="pres">
      <dgm:prSet presAssocID="{9C355FC0-F25B-47DF-BFDF-43B8892464CE}" presName="spaceRect" presStyleCnt="0"/>
      <dgm:spPr/>
    </dgm:pt>
    <dgm:pt modelId="{3BBE6BE2-9355-4ABF-A30B-51B0AB84F8B5}" type="pres">
      <dgm:prSet presAssocID="{9C355FC0-F25B-47DF-BFDF-43B8892464CE}" presName="parTx" presStyleLbl="revTx" presStyleIdx="2" presStyleCnt="4">
        <dgm:presLayoutVars>
          <dgm:chMax val="0"/>
          <dgm:chPref val="0"/>
        </dgm:presLayoutVars>
      </dgm:prSet>
      <dgm:spPr/>
    </dgm:pt>
    <dgm:pt modelId="{7890F1BF-7A12-4C79-975E-3D456DF5A54E}" type="pres">
      <dgm:prSet presAssocID="{E0AB6A10-1394-4402-B4B7-DE63A94A2E7E}" presName="sibTrans" presStyleCnt="0"/>
      <dgm:spPr/>
    </dgm:pt>
    <dgm:pt modelId="{7FC0EC31-82E4-4836-8BA4-CD0CEA0963F7}" type="pres">
      <dgm:prSet presAssocID="{C225B822-8796-43D3-8696-DAB3B5E2B5D6}" presName="compNode" presStyleCnt="0"/>
      <dgm:spPr/>
    </dgm:pt>
    <dgm:pt modelId="{A61681EF-D612-46A1-B1BF-7DB593ABAC00}" type="pres">
      <dgm:prSet presAssocID="{C225B822-8796-43D3-8696-DAB3B5E2B5D6}" presName="bgRect" presStyleLbl="bgShp" presStyleIdx="3" presStyleCnt="4"/>
      <dgm:spPr/>
    </dgm:pt>
    <dgm:pt modelId="{44DFB827-54E1-4D52-9CEA-2E04D7EA3D1B}" type="pres">
      <dgm:prSet presAssocID="{C225B822-8796-43D3-8696-DAB3B5E2B5D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a:ext>
      </dgm:extLst>
    </dgm:pt>
    <dgm:pt modelId="{14DFB18A-1234-4938-8676-5DDDE1F678D3}" type="pres">
      <dgm:prSet presAssocID="{C225B822-8796-43D3-8696-DAB3B5E2B5D6}" presName="spaceRect" presStyleCnt="0"/>
      <dgm:spPr/>
    </dgm:pt>
    <dgm:pt modelId="{D1AA14F1-CFF4-4632-8944-D8817C8C6CEA}" type="pres">
      <dgm:prSet presAssocID="{C225B822-8796-43D3-8696-DAB3B5E2B5D6}" presName="parTx" presStyleLbl="revTx" presStyleIdx="3" presStyleCnt="4">
        <dgm:presLayoutVars>
          <dgm:chMax val="0"/>
          <dgm:chPref val="0"/>
        </dgm:presLayoutVars>
      </dgm:prSet>
      <dgm:spPr/>
    </dgm:pt>
  </dgm:ptLst>
  <dgm:cxnLst>
    <dgm:cxn modelId="{5DB7D315-A797-4FB1-86E9-B81B917AA99B}" type="presOf" srcId="{799E5C15-6A2C-4DD6-BF37-34BA504B0706}" destId="{F65CD634-F810-4F1C-B7E3-C8A922DD3A9D}" srcOrd="0" destOrd="0" presId="urn:microsoft.com/office/officeart/2018/2/layout/IconVerticalSolidList"/>
    <dgm:cxn modelId="{7EE6EE34-F780-4DE1-A30C-C66595079B1A}" srcId="{597126E0-95AC-46B2-9A7D-F9A53B3C9BB7}" destId="{9C355FC0-F25B-47DF-BFDF-43B8892464CE}" srcOrd="2" destOrd="0" parTransId="{D791185E-D9B7-499F-AE1C-499C0F912E07}" sibTransId="{E0AB6A10-1394-4402-B4B7-DE63A94A2E7E}"/>
    <dgm:cxn modelId="{ED54BB43-177D-4F96-91BF-59ADF184A5C5}" type="presOf" srcId="{9C355FC0-F25B-47DF-BFDF-43B8892464CE}" destId="{3BBE6BE2-9355-4ABF-A30B-51B0AB84F8B5}" srcOrd="0" destOrd="0" presId="urn:microsoft.com/office/officeart/2018/2/layout/IconVerticalSolidList"/>
    <dgm:cxn modelId="{4C1D294B-F257-483C-A4FC-8B4CCE2C0FD1}" srcId="{597126E0-95AC-46B2-9A7D-F9A53B3C9BB7}" destId="{D3C37F88-5391-475D-A8C2-73DDB2713260}" srcOrd="1" destOrd="0" parTransId="{545F91B8-C893-4602-ADF9-C6985637FD5B}" sibTransId="{79B21476-FD0C-45B6-B60C-FB94096190FB}"/>
    <dgm:cxn modelId="{E685406D-9704-440A-8894-F9D0491477F8}" type="presOf" srcId="{597126E0-95AC-46B2-9A7D-F9A53B3C9BB7}" destId="{84776487-CD34-4B51-AEA6-BB262626FA06}" srcOrd="0" destOrd="0" presId="urn:microsoft.com/office/officeart/2018/2/layout/IconVerticalSolidList"/>
    <dgm:cxn modelId="{939DA870-715A-44C8-82C5-D07B95C27C19}" srcId="{597126E0-95AC-46B2-9A7D-F9A53B3C9BB7}" destId="{799E5C15-6A2C-4DD6-BF37-34BA504B0706}" srcOrd="0" destOrd="0" parTransId="{EA9D45CF-5003-4614-8234-DC10F77A29A6}" sibTransId="{C4AC5615-AA01-42DD-B4C1-9FD973A94C1C}"/>
    <dgm:cxn modelId="{CAC45856-37FF-43BB-BA80-52CCC3693F9E}" type="presOf" srcId="{D3C37F88-5391-475D-A8C2-73DDB2713260}" destId="{50D1BC7F-1FCF-4034-9C0C-14E7E73442B3}" srcOrd="0" destOrd="0" presId="urn:microsoft.com/office/officeart/2018/2/layout/IconVerticalSolidList"/>
    <dgm:cxn modelId="{419731A3-BA36-4507-AD38-06E3EA01DB37}" srcId="{597126E0-95AC-46B2-9A7D-F9A53B3C9BB7}" destId="{C225B822-8796-43D3-8696-DAB3B5E2B5D6}" srcOrd="3" destOrd="0" parTransId="{D1897409-E8F4-4EBC-ABE4-E0A0FF65A8D7}" sibTransId="{88F73C6A-46E3-4EBF-9461-66041AE764B1}"/>
    <dgm:cxn modelId="{BAA963F6-F6CE-4FA2-BE32-C268379EB3A9}" type="presOf" srcId="{C225B822-8796-43D3-8696-DAB3B5E2B5D6}" destId="{D1AA14F1-CFF4-4632-8944-D8817C8C6CEA}" srcOrd="0" destOrd="0" presId="urn:microsoft.com/office/officeart/2018/2/layout/IconVerticalSolidList"/>
    <dgm:cxn modelId="{D5C5797C-9A2F-4DC1-ADC3-7851548A7826}" type="presParOf" srcId="{84776487-CD34-4B51-AEA6-BB262626FA06}" destId="{E7E08141-E738-47A5-BD7F-B20CD44C6A33}" srcOrd="0" destOrd="0" presId="urn:microsoft.com/office/officeart/2018/2/layout/IconVerticalSolidList"/>
    <dgm:cxn modelId="{A7A57BF4-B633-4657-9757-D0B564D84853}" type="presParOf" srcId="{E7E08141-E738-47A5-BD7F-B20CD44C6A33}" destId="{32CB5DD6-CC00-4856-A03A-5068BD89206D}" srcOrd="0" destOrd="0" presId="urn:microsoft.com/office/officeart/2018/2/layout/IconVerticalSolidList"/>
    <dgm:cxn modelId="{9F23CD7C-BD9F-4EF5-9F72-A58F4C090A7F}" type="presParOf" srcId="{E7E08141-E738-47A5-BD7F-B20CD44C6A33}" destId="{490B2DEF-98EE-473F-B4C0-6BFAA7C22BE7}" srcOrd="1" destOrd="0" presId="urn:microsoft.com/office/officeart/2018/2/layout/IconVerticalSolidList"/>
    <dgm:cxn modelId="{1A481D96-176D-4425-96BB-1C984A050F87}" type="presParOf" srcId="{E7E08141-E738-47A5-BD7F-B20CD44C6A33}" destId="{97916EEF-4EE3-4281-88B4-0B8254B352A0}" srcOrd="2" destOrd="0" presId="urn:microsoft.com/office/officeart/2018/2/layout/IconVerticalSolidList"/>
    <dgm:cxn modelId="{0B45A12C-9D6F-4220-95B2-C8B2AB62A222}" type="presParOf" srcId="{E7E08141-E738-47A5-BD7F-B20CD44C6A33}" destId="{F65CD634-F810-4F1C-B7E3-C8A922DD3A9D}" srcOrd="3" destOrd="0" presId="urn:microsoft.com/office/officeart/2018/2/layout/IconVerticalSolidList"/>
    <dgm:cxn modelId="{A91B3042-89AE-441E-B46F-8470F9D076D2}" type="presParOf" srcId="{84776487-CD34-4B51-AEA6-BB262626FA06}" destId="{19F77853-3895-444F-995A-679B79C55564}" srcOrd="1" destOrd="0" presId="urn:microsoft.com/office/officeart/2018/2/layout/IconVerticalSolidList"/>
    <dgm:cxn modelId="{2B409859-A3CB-41A5-9529-F75D5585B565}" type="presParOf" srcId="{84776487-CD34-4B51-AEA6-BB262626FA06}" destId="{4F6E8CD2-4817-4843-8CA0-E48DCC98E71D}" srcOrd="2" destOrd="0" presId="urn:microsoft.com/office/officeart/2018/2/layout/IconVerticalSolidList"/>
    <dgm:cxn modelId="{0B679727-A1B1-4179-869C-77DCFCD78DA1}" type="presParOf" srcId="{4F6E8CD2-4817-4843-8CA0-E48DCC98E71D}" destId="{9E3E5863-3361-464A-B410-9DB43B3F9463}" srcOrd="0" destOrd="0" presId="urn:microsoft.com/office/officeart/2018/2/layout/IconVerticalSolidList"/>
    <dgm:cxn modelId="{053B1C65-67E4-4C46-B3CF-2756EC8C9F3E}" type="presParOf" srcId="{4F6E8CD2-4817-4843-8CA0-E48DCC98E71D}" destId="{15E0FC25-A5A3-4522-8507-A06D17C26C36}" srcOrd="1" destOrd="0" presId="urn:microsoft.com/office/officeart/2018/2/layout/IconVerticalSolidList"/>
    <dgm:cxn modelId="{859A8EBE-C725-41EC-A26C-26C1ED0AECE0}" type="presParOf" srcId="{4F6E8CD2-4817-4843-8CA0-E48DCC98E71D}" destId="{313B7943-44AB-4D50-83C6-D6A1725FFC1C}" srcOrd="2" destOrd="0" presId="urn:microsoft.com/office/officeart/2018/2/layout/IconVerticalSolidList"/>
    <dgm:cxn modelId="{DDEB8616-751A-45B1-B997-56388DBE8064}" type="presParOf" srcId="{4F6E8CD2-4817-4843-8CA0-E48DCC98E71D}" destId="{50D1BC7F-1FCF-4034-9C0C-14E7E73442B3}" srcOrd="3" destOrd="0" presId="urn:microsoft.com/office/officeart/2018/2/layout/IconVerticalSolidList"/>
    <dgm:cxn modelId="{F999CF7C-8A72-41DB-9D78-4B428217DA87}" type="presParOf" srcId="{84776487-CD34-4B51-AEA6-BB262626FA06}" destId="{95351F2E-7D65-4998-B135-662AF1DF1CA6}" srcOrd="3" destOrd="0" presId="urn:microsoft.com/office/officeart/2018/2/layout/IconVerticalSolidList"/>
    <dgm:cxn modelId="{803EAF47-9BD9-4EF8-A542-9362E9C4A5E4}" type="presParOf" srcId="{84776487-CD34-4B51-AEA6-BB262626FA06}" destId="{9DA780F0-6F10-4149-AFE6-435B9937D0D0}" srcOrd="4" destOrd="0" presId="urn:microsoft.com/office/officeart/2018/2/layout/IconVerticalSolidList"/>
    <dgm:cxn modelId="{C398EF56-55B7-495C-B8A1-D89DFBD7C61C}" type="presParOf" srcId="{9DA780F0-6F10-4149-AFE6-435B9937D0D0}" destId="{223FD7EA-2421-439A-819D-6AF01B1DB246}" srcOrd="0" destOrd="0" presId="urn:microsoft.com/office/officeart/2018/2/layout/IconVerticalSolidList"/>
    <dgm:cxn modelId="{54BE1319-4738-4B84-ABA4-4AA8D5352809}" type="presParOf" srcId="{9DA780F0-6F10-4149-AFE6-435B9937D0D0}" destId="{DC0BE2DB-B89C-4C8B-AAEC-CBE0874E29F5}" srcOrd="1" destOrd="0" presId="urn:microsoft.com/office/officeart/2018/2/layout/IconVerticalSolidList"/>
    <dgm:cxn modelId="{35A3F68F-D0A8-4748-9D7D-AA59A0AB647B}" type="presParOf" srcId="{9DA780F0-6F10-4149-AFE6-435B9937D0D0}" destId="{D626EE27-FDA3-4448-8D8A-02D2F259CD06}" srcOrd="2" destOrd="0" presId="urn:microsoft.com/office/officeart/2018/2/layout/IconVerticalSolidList"/>
    <dgm:cxn modelId="{9B01AE0E-159E-4718-BB51-45C0327BDB9F}" type="presParOf" srcId="{9DA780F0-6F10-4149-AFE6-435B9937D0D0}" destId="{3BBE6BE2-9355-4ABF-A30B-51B0AB84F8B5}" srcOrd="3" destOrd="0" presId="urn:microsoft.com/office/officeart/2018/2/layout/IconVerticalSolidList"/>
    <dgm:cxn modelId="{9632B6E7-BA9B-4C7B-ABD5-A215DE582F47}" type="presParOf" srcId="{84776487-CD34-4B51-AEA6-BB262626FA06}" destId="{7890F1BF-7A12-4C79-975E-3D456DF5A54E}" srcOrd="5" destOrd="0" presId="urn:microsoft.com/office/officeart/2018/2/layout/IconVerticalSolidList"/>
    <dgm:cxn modelId="{B09B9BAB-45F1-48DF-AEAA-738CA4A3BE4F}" type="presParOf" srcId="{84776487-CD34-4B51-AEA6-BB262626FA06}" destId="{7FC0EC31-82E4-4836-8BA4-CD0CEA0963F7}" srcOrd="6" destOrd="0" presId="urn:microsoft.com/office/officeart/2018/2/layout/IconVerticalSolidList"/>
    <dgm:cxn modelId="{3B5B0AA6-A711-401E-976F-EED5301C3ED7}" type="presParOf" srcId="{7FC0EC31-82E4-4836-8BA4-CD0CEA0963F7}" destId="{A61681EF-D612-46A1-B1BF-7DB593ABAC00}" srcOrd="0" destOrd="0" presId="urn:microsoft.com/office/officeart/2018/2/layout/IconVerticalSolidList"/>
    <dgm:cxn modelId="{B6408728-491F-4BED-A1A6-6C92E22869B8}" type="presParOf" srcId="{7FC0EC31-82E4-4836-8BA4-CD0CEA0963F7}" destId="{44DFB827-54E1-4D52-9CEA-2E04D7EA3D1B}" srcOrd="1" destOrd="0" presId="urn:microsoft.com/office/officeart/2018/2/layout/IconVerticalSolidList"/>
    <dgm:cxn modelId="{4B9FF856-57D1-4DE0-824F-BB6B0117292D}" type="presParOf" srcId="{7FC0EC31-82E4-4836-8BA4-CD0CEA0963F7}" destId="{14DFB18A-1234-4938-8676-5DDDE1F678D3}" srcOrd="2" destOrd="0" presId="urn:microsoft.com/office/officeart/2018/2/layout/IconVerticalSolidList"/>
    <dgm:cxn modelId="{852E5253-4921-4B86-9256-8BE20661C894}" type="presParOf" srcId="{7FC0EC31-82E4-4836-8BA4-CD0CEA0963F7}" destId="{D1AA14F1-CFF4-4632-8944-D8817C8C6CE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648273-96E2-4621-90E7-D41723341D7D}">
      <dsp:nvSpPr>
        <dsp:cNvPr id="0" name=""/>
        <dsp:cNvSpPr/>
      </dsp:nvSpPr>
      <dsp:spPr>
        <a:xfrm>
          <a:off x="0" y="544008"/>
          <a:ext cx="8065294" cy="11969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F03DC-D24B-4BA6-AF03-D3E1D0FF6672}">
      <dsp:nvSpPr>
        <dsp:cNvPr id="0" name=""/>
        <dsp:cNvSpPr/>
      </dsp:nvSpPr>
      <dsp:spPr>
        <a:xfrm>
          <a:off x="362079" y="813323"/>
          <a:ext cx="658970" cy="658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FCD698-AB20-4925-ABF3-9B72374A7440}">
      <dsp:nvSpPr>
        <dsp:cNvPr id="0" name=""/>
        <dsp:cNvSpPr/>
      </dsp:nvSpPr>
      <dsp:spPr>
        <a:xfrm>
          <a:off x="1383129" y="544008"/>
          <a:ext cx="6679458" cy="1198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02" tIns="126802" rIns="126802" bIns="126802" numCol="1" spcCol="1270" anchor="ctr" anchorCtr="0">
          <a:noAutofit/>
        </a:bodyPr>
        <a:lstStyle/>
        <a:p>
          <a:pPr marL="0" lvl="0" indent="0" algn="just"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Sindhi is a low-resource language with very few NLP tools, especially for </a:t>
          </a:r>
          <a:r>
            <a:rPr lang="en-US" sz="1600" b="1" kern="1200" dirty="0">
              <a:latin typeface="Times New Roman" panose="02020603050405020304" pitchFamily="18" charset="0"/>
              <a:cs typeface="Times New Roman" panose="02020603050405020304" pitchFamily="18" charset="0"/>
            </a:rPr>
            <a:t>text generation</a:t>
          </a:r>
          <a:r>
            <a:rPr lang="en-US" sz="1600" kern="1200" dirty="0">
              <a:latin typeface="Times New Roman" panose="02020603050405020304" pitchFamily="18" charset="0"/>
              <a:cs typeface="Times New Roman" panose="02020603050405020304" pitchFamily="18" charset="0"/>
            </a:rPr>
            <a:t> and </a:t>
          </a:r>
          <a:r>
            <a:rPr lang="en-US" sz="1600" b="1" kern="1200" dirty="0">
              <a:latin typeface="Times New Roman" panose="02020603050405020304" pitchFamily="18" charset="0"/>
              <a:cs typeface="Times New Roman" panose="02020603050405020304" pitchFamily="18" charset="0"/>
            </a:rPr>
            <a:t>scientific domains</a:t>
          </a:r>
          <a:r>
            <a:rPr lang="en-US" sz="1600" kern="1200" dirty="0">
              <a:latin typeface="Times New Roman" panose="02020603050405020304" pitchFamily="18" charset="0"/>
              <a:cs typeface="Times New Roman" panose="02020603050405020304" pitchFamily="18" charset="0"/>
            </a:rPr>
            <a:t> like education and health. There is </a:t>
          </a:r>
          <a:r>
            <a:rPr lang="en-US" sz="1600" b="1" kern="1200" dirty="0">
              <a:latin typeface="Times New Roman" panose="02020603050405020304" pitchFamily="18" charset="0"/>
              <a:cs typeface="Times New Roman" panose="02020603050405020304" pitchFamily="18" charset="0"/>
            </a:rPr>
            <a:t>no existing work</a:t>
          </a:r>
          <a:r>
            <a:rPr lang="en-US" sz="1600" kern="1200" dirty="0">
              <a:latin typeface="Times New Roman" panose="02020603050405020304" pitchFamily="18" charset="0"/>
              <a:cs typeface="Times New Roman" panose="02020603050405020304" pitchFamily="18" charset="0"/>
            </a:rPr>
            <a:t> using </a:t>
          </a:r>
          <a:r>
            <a:rPr lang="en-US" sz="1600" b="1" kern="1200" dirty="0">
              <a:latin typeface="Times New Roman" panose="02020603050405020304" pitchFamily="18" charset="0"/>
              <a:cs typeface="Times New Roman" panose="02020603050405020304" pitchFamily="18" charset="0"/>
            </a:rPr>
            <a:t>RAG</a:t>
          </a:r>
          <a:r>
            <a:rPr lang="en-US" sz="1600" kern="1200" dirty="0">
              <a:latin typeface="Times New Roman" panose="02020603050405020304" pitchFamily="18" charset="0"/>
              <a:cs typeface="Times New Roman" panose="02020603050405020304" pitchFamily="18" charset="0"/>
            </a:rPr>
            <a:t> for Sindhi, and </a:t>
          </a:r>
          <a:r>
            <a:rPr lang="en-US" sz="1600" b="1" kern="1200" dirty="0">
              <a:latin typeface="Times New Roman" panose="02020603050405020304" pitchFamily="18" charset="0"/>
              <a:cs typeface="Times New Roman" panose="02020603050405020304" pitchFamily="18" charset="0"/>
            </a:rPr>
            <a:t>no health-specific datasets</a:t>
          </a:r>
          <a:r>
            <a:rPr lang="en-US" sz="1600" kern="1200" dirty="0">
              <a:latin typeface="Times New Roman" panose="02020603050405020304" pitchFamily="18" charset="0"/>
              <a:cs typeface="Times New Roman" panose="02020603050405020304" pitchFamily="18" charset="0"/>
            </a:rPr>
            <a:t> are available. </a:t>
          </a:r>
        </a:p>
      </dsp:txBody>
      <dsp:txXfrm>
        <a:off x="1383129" y="544008"/>
        <a:ext cx="6679458" cy="1198127"/>
      </dsp:txXfrm>
    </dsp:sp>
    <dsp:sp modelId="{BBBC3488-5B07-4B26-AE3F-8729509C25D6}">
      <dsp:nvSpPr>
        <dsp:cNvPr id="0" name=""/>
        <dsp:cNvSpPr/>
      </dsp:nvSpPr>
      <dsp:spPr>
        <a:xfrm>
          <a:off x="0" y="2024048"/>
          <a:ext cx="8065294" cy="119695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7EC614-2CC5-45DF-836A-14692A4F2A4F}">
      <dsp:nvSpPr>
        <dsp:cNvPr id="0" name=""/>
        <dsp:cNvSpPr/>
      </dsp:nvSpPr>
      <dsp:spPr>
        <a:xfrm>
          <a:off x="362079" y="2293364"/>
          <a:ext cx="658970" cy="658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A5D6A3-72A6-4B0E-9CFB-5B7FB8DC0677}">
      <dsp:nvSpPr>
        <dsp:cNvPr id="0" name=""/>
        <dsp:cNvSpPr/>
      </dsp:nvSpPr>
      <dsp:spPr>
        <a:xfrm>
          <a:off x="1383129" y="2024048"/>
          <a:ext cx="6679458" cy="1198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02" tIns="126802" rIns="126802" bIns="126802" numCol="1" spcCol="1270" anchor="ctr" anchorCtr="0">
          <a:noAutofit/>
        </a:bodyPr>
        <a:lstStyle/>
        <a:p>
          <a:pPr marL="0" lvl="0" indent="0" algn="just"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Also, current systems don’t focus on </a:t>
          </a:r>
          <a:r>
            <a:rPr lang="en-US" sz="1800" b="1" kern="1200" dirty="0">
              <a:latin typeface="Times New Roman" panose="02020603050405020304" pitchFamily="18" charset="0"/>
              <a:cs typeface="Times New Roman" panose="02020603050405020304" pitchFamily="18" charset="0"/>
            </a:rPr>
            <a:t>ethical or respectful communication</a:t>
          </a:r>
          <a:r>
            <a:rPr lang="en-US" sz="1800" kern="1200" dirty="0">
              <a:latin typeface="Times New Roman" panose="02020603050405020304" pitchFamily="18" charset="0"/>
              <a:cs typeface="Times New Roman" panose="02020603050405020304" pitchFamily="18" charset="0"/>
            </a:rPr>
            <a:t> with users. Our project aims to fill these gaps by building a content generator that is both </a:t>
          </a:r>
          <a:r>
            <a:rPr lang="en-US" sz="1800" b="1" kern="1200" dirty="0">
              <a:latin typeface="Times New Roman" panose="02020603050405020304" pitchFamily="18" charset="0"/>
              <a:cs typeface="Times New Roman" panose="02020603050405020304" pitchFamily="18" charset="0"/>
            </a:rPr>
            <a:t>knowledgeable and polite</a:t>
          </a:r>
          <a:r>
            <a:rPr lang="en-US" sz="1800" kern="1200" dirty="0">
              <a:latin typeface="Times New Roman" panose="02020603050405020304" pitchFamily="18" charset="0"/>
              <a:cs typeface="Times New Roman" panose="02020603050405020304" pitchFamily="18" charset="0"/>
            </a:rPr>
            <a:t>, tailored for Sindhi speakers.</a:t>
          </a:r>
        </a:p>
      </dsp:txBody>
      <dsp:txXfrm>
        <a:off x="1383129" y="2024048"/>
        <a:ext cx="6679458" cy="1198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1AE06-D16E-4938-900D-F57F61A0974F}">
      <dsp:nvSpPr>
        <dsp:cNvPr id="0" name=""/>
        <dsp:cNvSpPr/>
      </dsp:nvSpPr>
      <dsp:spPr>
        <a:xfrm>
          <a:off x="0" y="247447"/>
          <a:ext cx="8065294" cy="1417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E5E91F-2B6E-48F6-8309-B26BD6A272F9}">
      <dsp:nvSpPr>
        <dsp:cNvPr id="0" name=""/>
        <dsp:cNvSpPr/>
      </dsp:nvSpPr>
      <dsp:spPr>
        <a:xfrm>
          <a:off x="428702" y="566316"/>
          <a:ext cx="779459" cy="7794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5D347E-3F56-4659-BB2C-CFE00EAC2D86}">
      <dsp:nvSpPr>
        <dsp:cNvPr id="0" name=""/>
        <dsp:cNvSpPr/>
      </dsp:nvSpPr>
      <dsp:spPr>
        <a:xfrm>
          <a:off x="1636864" y="247447"/>
          <a:ext cx="6428429" cy="1417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987" tIns="149987" rIns="149987" bIns="149987" numCol="1" spcCol="1270" anchor="ctr" anchorCtr="0">
          <a:noAutofit/>
        </a:bodyPr>
        <a:lstStyle/>
        <a:p>
          <a:pPr marL="0" lvl="0" indent="0" algn="just" defTabSz="800100">
            <a:lnSpc>
              <a:spcPct val="100000"/>
            </a:lnSpc>
            <a:spcBef>
              <a:spcPct val="0"/>
            </a:spcBef>
            <a:spcAft>
              <a:spcPct val="35000"/>
            </a:spcAft>
            <a:buNone/>
          </a:pPr>
          <a:r>
            <a:rPr lang="en-US" sz="1800" kern="1200" dirty="0"/>
            <a:t>Although there have been advancements in NLP for various languages, </a:t>
          </a:r>
          <a:r>
            <a:rPr lang="en-US" sz="1800" b="1" kern="1200" dirty="0"/>
            <a:t>Sindhi language still lacks</a:t>
          </a:r>
          <a:r>
            <a:rPr lang="en-US" sz="1800" kern="1200" dirty="0"/>
            <a:t> </a:t>
          </a:r>
          <a:r>
            <a:rPr lang="en-US" sz="1800" b="1" kern="1200" dirty="0"/>
            <a:t>comprehensive tools and datasets</a:t>
          </a:r>
          <a:r>
            <a:rPr lang="en-US" sz="1800" kern="1200" dirty="0"/>
            <a:t>, particularly in the health sectors. This results in limited access to essential information for </a:t>
          </a:r>
          <a:r>
            <a:rPr lang="en-US" sz="1800" b="1" kern="1200" dirty="0"/>
            <a:t>Sindhi-speaking community</a:t>
          </a:r>
          <a:r>
            <a:rPr lang="en-US" sz="1800" kern="1200" dirty="0"/>
            <a:t>. </a:t>
          </a:r>
        </a:p>
      </dsp:txBody>
      <dsp:txXfrm>
        <a:off x="1636864" y="247447"/>
        <a:ext cx="6428429" cy="1417198"/>
      </dsp:txXfrm>
    </dsp:sp>
    <dsp:sp modelId="{9535EA13-F968-471C-9660-369A5FE18ABF}">
      <dsp:nvSpPr>
        <dsp:cNvPr id="0" name=""/>
        <dsp:cNvSpPr/>
      </dsp:nvSpPr>
      <dsp:spPr>
        <a:xfrm>
          <a:off x="0" y="1934588"/>
          <a:ext cx="8065294" cy="1417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857F37-08B0-4AD4-86F1-2C956651B29A}">
      <dsp:nvSpPr>
        <dsp:cNvPr id="0" name=""/>
        <dsp:cNvSpPr/>
      </dsp:nvSpPr>
      <dsp:spPr>
        <a:xfrm>
          <a:off x="428702" y="2253457"/>
          <a:ext cx="779459" cy="7794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90C8F8-D148-4429-B1CC-71AE7567F513}">
      <dsp:nvSpPr>
        <dsp:cNvPr id="0" name=""/>
        <dsp:cNvSpPr/>
      </dsp:nvSpPr>
      <dsp:spPr>
        <a:xfrm>
          <a:off x="1636864" y="1934588"/>
          <a:ext cx="6428429" cy="1417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987" tIns="149987" rIns="149987" bIns="149987" numCol="1" spcCol="1270" anchor="ctr" anchorCtr="0">
          <a:noAutofit/>
        </a:bodyPr>
        <a:lstStyle/>
        <a:p>
          <a:pPr marL="0" lvl="0" indent="0" algn="just" defTabSz="800100">
            <a:lnSpc>
              <a:spcPct val="100000"/>
            </a:lnSpc>
            <a:spcBef>
              <a:spcPct val="0"/>
            </a:spcBef>
            <a:spcAft>
              <a:spcPct val="35000"/>
            </a:spcAft>
            <a:buNone/>
          </a:pPr>
          <a:r>
            <a:rPr lang="en-US" sz="1800" kern="1200" dirty="0"/>
            <a:t>The challenge lies in </a:t>
          </a:r>
          <a:r>
            <a:rPr lang="en-US" sz="1800" b="1" kern="1200" dirty="0"/>
            <a:t>developing a way to build an application</a:t>
          </a:r>
          <a:r>
            <a:rPr lang="en-US" sz="1800" kern="1200" dirty="0"/>
            <a:t> that can generate </a:t>
          </a:r>
          <a:r>
            <a:rPr lang="en-US" sz="1800" b="1" kern="1200" dirty="0"/>
            <a:t>reliable</a:t>
          </a:r>
          <a:r>
            <a:rPr lang="en-US" sz="1800" kern="1200" dirty="0"/>
            <a:t> and </a:t>
          </a:r>
          <a:r>
            <a:rPr lang="en-US" sz="1800" b="1" kern="1200" dirty="0"/>
            <a:t>clear</a:t>
          </a:r>
          <a:r>
            <a:rPr lang="en-US" sz="1800" kern="1200" dirty="0"/>
            <a:t> content in Sindhi</a:t>
          </a:r>
        </a:p>
      </dsp:txBody>
      <dsp:txXfrm>
        <a:off x="1636864" y="1934588"/>
        <a:ext cx="6428429" cy="14171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C781D-9A51-4F1B-BE5C-8F69243DCFC9}">
      <dsp:nvSpPr>
        <dsp:cNvPr id="0" name=""/>
        <dsp:cNvSpPr/>
      </dsp:nvSpPr>
      <dsp:spPr>
        <a:xfrm>
          <a:off x="0" y="1762"/>
          <a:ext cx="8487410" cy="8934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614A60-B493-42A1-9F76-1736571D2AF6}">
      <dsp:nvSpPr>
        <dsp:cNvPr id="0" name=""/>
        <dsp:cNvSpPr/>
      </dsp:nvSpPr>
      <dsp:spPr>
        <a:xfrm>
          <a:off x="270262" y="202784"/>
          <a:ext cx="491386" cy="4913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798D09-7913-4B91-969F-C3222E4B4C06}">
      <dsp:nvSpPr>
        <dsp:cNvPr id="0" name=""/>
        <dsp:cNvSpPr/>
      </dsp:nvSpPr>
      <dsp:spPr>
        <a:xfrm>
          <a:off x="1031911" y="1762"/>
          <a:ext cx="7455498" cy="893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555" tIns="94555" rIns="94555" bIns="94555" numCol="1" spcCol="1270" anchor="ctr" anchorCtr="0">
          <a:noAutofit/>
        </a:bodyPr>
        <a:lstStyle/>
        <a:p>
          <a:pPr marL="0" lvl="0" indent="0" algn="l" defTabSz="711200">
            <a:lnSpc>
              <a:spcPct val="100000"/>
            </a:lnSpc>
            <a:spcBef>
              <a:spcPct val="0"/>
            </a:spcBef>
            <a:spcAft>
              <a:spcPct val="35000"/>
            </a:spcAft>
            <a:buNone/>
          </a:pPr>
          <a:r>
            <a:rPr lang="en-US" sz="1600" kern="1200" dirty="0"/>
            <a:t>To develop a health-focused text generation system for the Sindhi language using the Retrieval-Augmented Generation (RAG) technique.</a:t>
          </a:r>
        </a:p>
      </dsp:txBody>
      <dsp:txXfrm>
        <a:off x="1031911" y="1762"/>
        <a:ext cx="7455498" cy="893429"/>
      </dsp:txXfrm>
    </dsp:sp>
    <dsp:sp modelId="{ED1075BB-2006-4E1C-9B10-FF12992ADE84}">
      <dsp:nvSpPr>
        <dsp:cNvPr id="0" name=""/>
        <dsp:cNvSpPr/>
      </dsp:nvSpPr>
      <dsp:spPr>
        <a:xfrm>
          <a:off x="0" y="1118550"/>
          <a:ext cx="8487410" cy="8934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5B8C37-5D81-4722-BCDF-4945BDB2F3AC}">
      <dsp:nvSpPr>
        <dsp:cNvPr id="0" name=""/>
        <dsp:cNvSpPr/>
      </dsp:nvSpPr>
      <dsp:spPr>
        <a:xfrm>
          <a:off x="270262" y="1319571"/>
          <a:ext cx="491386" cy="4913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22E39D-B9E8-4A2F-AD8A-5D40E78DD4DF}">
      <dsp:nvSpPr>
        <dsp:cNvPr id="0" name=""/>
        <dsp:cNvSpPr/>
      </dsp:nvSpPr>
      <dsp:spPr>
        <a:xfrm>
          <a:off x="1031911" y="1118550"/>
          <a:ext cx="7455498" cy="893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555" tIns="94555" rIns="94555" bIns="94555" numCol="1" spcCol="1270" anchor="ctr" anchorCtr="0">
          <a:noAutofit/>
        </a:bodyPr>
        <a:lstStyle/>
        <a:p>
          <a:pPr marL="0" lvl="0" indent="0" algn="l" defTabSz="711200">
            <a:lnSpc>
              <a:spcPct val="100000"/>
            </a:lnSpc>
            <a:spcBef>
              <a:spcPct val="0"/>
            </a:spcBef>
            <a:spcAft>
              <a:spcPct val="35000"/>
            </a:spcAft>
            <a:buNone/>
          </a:pPr>
          <a:r>
            <a:rPr lang="en-US" sz="1600" kern="1200" dirty="0"/>
            <a:t>To collect, clean, and preprocess Sindhi language data from health-related sources such as textbooks, newspapers, and online articles for model training.</a:t>
          </a:r>
        </a:p>
      </dsp:txBody>
      <dsp:txXfrm>
        <a:off x="1031911" y="1118550"/>
        <a:ext cx="7455498" cy="893429"/>
      </dsp:txXfrm>
    </dsp:sp>
    <dsp:sp modelId="{BD5C87A3-A6AB-490B-B355-E179DFDD6EF0}">
      <dsp:nvSpPr>
        <dsp:cNvPr id="0" name=""/>
        <dsp:cNvSpPr/>
      </dsp:nvSpPr>
      <dsp:spPr>
        <a:xfrm>
          <a:off x="0" y="2235337"/>
          <a:ext cx="8487410" cy="8934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2B574A-D2FA-4B01-90D1-83EABB27DB45}">
      <dsp:nvSpPr>
        <dsp:cNvPr id="0" name=""/>
        <dsp:cNvSpPr/>
      </dsp:nvSpPr>
      <dsp:spPr>
        <a:xfrm>
          <a:off x="270262" y="2436358"/>
          <a:ext cx="491386" cy="4913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EC2756-8714-4D75-8AB0-82E7CFDF0B00}">
      <dsp:nvSpPr>
        <dsp:cNvPr id="0" name=""/>
        <dsp:cNvSpPr/>
      </dsp:nvSpPr>
      <dsp:spPr>
        <a:xfrm>
          <a:off x="1031911" y="2235337"/>
          <a:ext cx="7455498" cy="893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555" tIns="94555" rIns="94555" bIns="94555" numCol="1" spcCol="1270" anchor="ctr" anchorCtr="0">
          <a:noAutofit/>
        </a:bodyPr>
        <a:lstStyle/>
        <a:p>
          <a:pPr marL="0" lvl="0" indent="0" algn="l" defTabSz="711200">
            <a:lnSpc>
              <a:spcPct val="100000"/>
            </a:lnSpc>
            <a:spcBef>
              <a:spcPct val="0"/>
            </a:spcBef>
            <a:spcAft>
              <a:spcPct val="35000"/>
            </a:spcAft>
            <a:buNone/>
          </a:pPr>
          <a:r>
            <a:rPr lang="en-US" sz="1600" kern="1200"/>
            <a:t>To bridge the digital and linguistic gap by promoting Natural Language Processing (NLP) tools in the under-resourced Sindhi language, especially in the healthcare domain.</a:t>
          </a:r>
        </a:p>
      </dsp:txBody>
      <dsp:txXfrm>
        <a:off x="1031911" y="2235337"/>
        <a:ext cx="7455498" cy="893429"/>
      </dsp:txXfrm>
    </dsp:sp>
    <dsp:sp modelId="{7C83FB5C-1950-444D-88A4-18357C451D37}">
      <dsp:nvSpPr>
        <dsp:cNvPr id="0" name=""/>
        <dsp:cNvSpPr/>
      </dsp:nvSpPr>
      <dsp:spPr>
        <a:xfrm>
          <a:off x="0" y="3352124"/>
          <a:ext cx="8487410" cy="8934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C48623-368C-4065-BA8C-7669FD4747E6}">
      <dsp:nvSpPr>
        <dsp:cNvPr id="0" name=""/>
        <dsp:cNvSpPr/>
      </dsp:nvSpPr>
      <dsp:spPr>
        <a:xfrm>
          <a:off x="270262" y="3553146"/>
          <a:ext cx="491386" cy="4913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800D8E-0D27-4443-8FE4-3B6E1701DD92}">
      <dsp:nvSpPr>
        <dsp:cNvPr id="0" name=""/>
        <dsp:cNvSpPr/>
      </dsp:nvSpPr>
      <dsp:spPr>
        <a:xfrm>
          <a:off x="1031911" y="3352124"/>
          <a:ext cx="7455498" cy="893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555" tIns="94555" rIns="94555" bIns="94555" numCol="1" spcCol="1270" anchor="ctr" anchorCtr="0">
          <a:noAutofit/>
        </a:bodyPr>
        <a:lstStyle/>
        <a:p>
          <a:pPr marL="0" lvl="0" indent="0" algn="l" defTabSz="711200">
            <a:lnSpc>
              <a:spcPct val="100000"/>
            </a:lnSpc>
            <a:spcBef>
              <a:spcPct val="0"/>
            </a:spcBef>
            <a:spcAft>
              <a:spcPct val="35000"/>
            </a:spcAft>
            <a:buNone/>
          </a:pPr>
          <a:r>
            <a:rPr lang="en-US" sz="1600" kern="1200"/>
            <a:t>To evaluate the quality, accuracy, and usefulness of the generated Sindhi health texts through expert feedback and NLP metrics.</a:t>
          </a:r>
        </a:p>
      </dsp:txBody>
      <dsp:txXfrm>
        <a:off x="1031911" y="3352124"/>
        <a:ext cx="7455498" cy="8934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CB5DD6-CC00-4856-A03A-5068BD89206D}">
      <dsp:nvSpPr>
        <dsp:cNvPr id="0" name=""/>
        <dsp:cNvSpPr/>
      </dsp:nvSpPr>
      <dsp:spPr>
        <a:xfrm>
          <a:off x="0" y="93568"/>
          <a:ext cx="4691043" cy="11554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0B2DEF-98EE-473F-B4C0-6BFAA7C22BE7}">
      <dsp:nvSpPr>
        <dsp:cNvPr id="0" name=""/>
        <dsp:cNvSpPr/>
      </dsp:nvSpPr>
      <dsp:spPr>
        <a:xfrm>
          <a:off x="349511" y="262246"/>
          <a:ext cx="635474" cy="6354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5CD634-F810-4F1C-B7E3-C8A922DD3A9D}">
      <dsp:nvSpPr>
        <dsp:cNvPr id="0" name=""/>
        <dsp:cNvSpPr/>
      </dsp:nvSpPr>
      <dsp:spPr>
        <a:xfrm>
          <a:off x="1334496" y="2279"/>
          <a:ext cx="3356546" cy="1155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81" tIns="122281" rIns="122281" bIns="122281" numCol="1" spcCol="1270" anchor="ctr" anchorCtr="0">
          <a:noAutofit/>
        </a:bodyPr>
        <a:lstStyle/>
        <a:p>
          <a:pPr marL="0" lvl="0" indent="0" algn="just" defTabSz="933450">
            <a:lnSpc>
              <a:spcPct val="90000"/>
            </a:lnSpc>
            <a:spcBef>
              <a:spcPct val="0"/>
            </a:spcBef>
            <a:spcAft>
              <a:spcPct val="35000"/>
            </a:spcAft>
            <a:buNone/>
          </a:pPr>
          <a:r>
            <a:rPr lang="en-US" sz="2100" b="1" kern="1200" dirty="0"/>
            <a:t>Education:</a:t>
          </a:r>
          <a:r>
            <a:rPr lang="en-US" sz="2100" kern="1200" dirty="0"/>
            <a:t> learners can ask questions about health in Sindhi.</a:t>
          </a:r>
        </a:p>
      </dsp:txBody>
      <dsp:txXfrm>
        <a:off x="1334496" y="2279"/>
        <a:ext cx="3356546" cy="1155408"/>
      </dsp:txXfrm>
    </dsp:sp>
    <dsp:sp modelId="{9E3E5863-3361-464A-B410-9DB43B3F9463}">
      <dsp:nvSpPr>
        <dsp:cNvPr id="0" name=""/>
        <dsp:cNvSpPr/>
      </dsp:nvSpPr>
      <dsp:spPr>
        <a:xfrm>
          <a:off x="0" y="1445038"/>
          <a:ext cx="4691043" cy="11554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E0FC25-A5A3-4522-8507-A06D17C26C36}">
      <dsp:nvSpPr>
        <dsp:cNvPr id="0" name=""/>
        <dsp:cNvSpPr/>
      </dsp:nvSpPr>
      <dsp:spPr>
        <a:xfrm>
          <a:off x="349511" y="1706507"/>
          <a:ext cx="635474" cy="6354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D1BC7F-1FCF-4034-9C0C-14E7E73442B3}">
      <dsp:nvSpPr>
        <dsp:cNvPr id="0" name=""/>
        <dsp:cNvSpPr/>
      </dsp:nvSpPr>
      <dsp:spPr>
        <a:xfrm>
          <a:off x="1334496" y="1446540"/>
          <a:ext cx="3356546" cy="1155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81" tIns="122281" rIns="122281" bIns="122281" numCol="1" spcCol="1270" anchor="ctr" anchorCtr="0">
          <a:noAutofit/>
        </a:bodyPr>
        <a:lstStyle/>
        <a:p>
          <a:pPr marL="0" lvl="0" indent="0" algn="l" defTabSz="933450">
            <a:lnSpc>
              <a:spcPct val="90000"/>
            </a:lnSpc>
            <a:spcBef>
              <a:spcPct val="0"/>
            </a:spcBef>
            <a:spcAft>
              <a:spcPct val="35000"/>
            </a:spcAft>
            <a:buNone/>
          </a:pPr>
          <a:r>
            <a:rPr lang="en-US" sz="2100" b="1" kern="1200" dirty="0"/>
            <a:t>Health Communication:</a:t>
          </a:r>
          <a:r>
            <a:rPr lang="en-US" sz="2100" kern="1200" dirty="0"/>
            <a:t> Simplified health info in native language</a:t>
          </a:r>
        </a:p>
      </dsp:txBody>
      <dsp:txXfrm>
        <a:off x="1334496" y="1446540"/>
        <a:ext cx="3356546" cy="1155408"/>
      </dsp:txXfrm>
    </dsp:sp>
    <dsp:sp modelId="{223FD7EA-2421-439A-819D-6AF01B1DB246}">
      <dsp:nvSpPr>
        <dsp:cNvPr id="0" name=""/>
        <dsp:cNvSpPr/>
      </dsp:nvSpPr>
      <dsp:spPr>
        <a:xfrm>
          <a:off x="0" y="2890801"/>
          <a:ext cx="4691043" cy="11554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0BE2DB-B89C-4C8B-AAEC-CBE0874E29F5}">
      <dsp:nvSpPr>
        <dsp:cNvPr id="0" name=""/>
        <dsp:cNvSpPr/>
      </dsp:nvSpPr>
      <dsp:spPr>
        <a:xfrm>
          <a:off x="349511" y="3150767"/>
          <a:ext cx="635474" cy="6354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BE6BE2-9355-4ABF-A30B-51B0AB84F8B5}">
      <dsp:nvSpPr>
        <dsp:cNvPr id="0" name=""/>
        <dsp:cNvSpPr/>
      </dsp:nvSpPr>
      <dsp:spPr>
        <a:xfrm>
          <a:off x="1334496" y="2890801"/>
          <a:ext cx="3356546" cy="1155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81" tIns="122281" rIns="122281" bIns="122281" numCol="1" spcCol="1270" anchor="ctr" anchorCtr="0">
          <a:noAutofit/>
        </a:bodyPr>
        <a:lstStyle/>
        <a:p>
          <a:pPr marL="0" lvl="0" indent="0" algn="l" defTabSz="933450">
            <a:lnSpc>
              <a:spcPct val="90000"/>
            </a:lnSpc>
            <a:spcBef>
              <a:spcPct val="0"/>
            </a:spcBef>
            <a:spcAft>
              <a:spcPct val="35000"/>
            </a:spcAft>
            <a:buNone/>
          </a:pPr>
          <a:r>
            <a:rPr lang="en-US" sz="2100" b="1" kern="1200"/>
            <a:t>Language Tech:</a:t>
          </a:r>
          <a:r>
            <a:rPr lang="en-US" sz="2100" kern="1200"/>
            <a:t> Supports growth of Sindhi NLP</a:t>
          </a:r>
        </a:p>
      </dsp:txBody>
      <dsp:txXfrm>
        <a:off x="1334496" y="2890801"/>
        <a:ext cx="3356546" cy="1155408"/>
      </dsp:txXfrm>
    </dsp:sp>
    <dsp:sp modelId="{A61681EF-D612-46A1-B1BF-7DB593ABAC00}">
      <dsp:nvSpPr>
        <dsp:cNvPr id="0" name=""/>
        <dsp:cNvSpPr/>
      </dsp:nvSpPr>
      <dsp:spPr>
        <a:xfrm>
          <a:off x="0" y="4335061"/>
          <a:ext cx="4691043" cy="11554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DFB827-54E1-4D52-9CEA-2E04D7EA3D1B}">
      <dsp:nvSpPr>
        <dsp:cNvPr id="0" name=""/>
        <dsp:cNvSpPr/>
      </dsp:nvSpPr>
      <dsp:spPr>
        <a:xfrm>
          <a:off x="349511" y="4595028"/>
          <a:ext cx="635474" cy="6354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AA14F1-CFF4-4632-8944-D8817C8C6CEA}">
      <dsp:nvSpPr>
        <dsp:cNvPr id="0" name=""/>
        <dsp:cNvSpPr/>
      </dsp:nvSpPr>
      <dsp:spPr>
        <a:xfrm>
          <a:off x="1334496" y="4335061"/>
          <a:ext cx="3356546" cy="1155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81" tIns="122281" rIns="122281" bIns="122281" numCol="1" spcCol="1270" anchor="ctr" anchorCtr="0">
          <a:noAutofit/>
        </a:bodyPr>
        <a:lstStyle/>
        <a:p>
          <a:pPr marL="0" lvl="0" indent="0" algn="l" defTabSz="933450">
            <a:lnSpc>
              <a:spcPct val="90000"/>
            </a:lnSpc>
            <a:spcBef>
              <a:spcPct val="0"/>
            </a:spcBef>
            <a:spcAft>
              <a:spcPct val="35000"/>
            </a:spcAft>
            <a:buNone/>
          </a:pPr>
          <a:r>
            <a:rPr lang="en-US" sz="2100" b="1" kern="1200"/>
            <a:t>Community:</a:t>
          </a:r>
          <a:r>
            <a:rPr lang="en-US" sz="2100" kern="1200"/>
            <a:t> Promotes digital use of regional language</a:t>
          </a:r>
        </a:p>
      </dsp:txBody>
      <dsp:txXfrm>
        <a:off x="1334496" y="4335061"/>
        <a:ext cx="3356546" cy="11554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0.49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1,'1'8,"1"0,-1 0,1 0,1-1,-1 1,6 10,2 7,0-3,0-1,1 0,1-1,0 0,24 27,25 39,-55-73,-1 0,0 0,0 1,-2 0,1 0,-2 0,0 0,0 14,0-7,1 0,8 33,-5-40,0 1,15 25,-12-26,-2 1,9 21,-12-26,1 0,1 0,-1 0,2 0,-1-1,1 0,1-1,-1 1,1-1,1-1,0 0,0 0,13 8,15 8,43 19,-26-14,-40-22,1 0,0 0,0-2,0 0,0 0,1-2,20 2,112-5,-122 0,0-2,0-1,0-2,0 0,-1-2,0 0,0-2,-1-1,0 0,-1-2,-1-1,0-1,0 0,-2-2,0-1,31-34,-46 47,0 0,1 0,0 1,0 0,0 0,1 0,-1 1,1 0,-1 1,1-1,8-1,4 0,0 0,37-2,62-4,-109 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1.48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774 73,'34'-18,"-7"5,32-13,-49 22,1 1,0 0,-1 1,1 0,0 1,19 0,116 11,40 1,94-12,-303 2,-1 2,-26 5,-18 3,-537 26,-7-34,408-4,190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2.20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1,'2'0,"4"0,8 0,10 0,11 0,10 0,6 0,3 3,1 2,-1 1,-4 1,-7-2,-8 0,-4-1,-6 0,-6-1,-4-2,-5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2.6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3.30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0.49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1,'1'8,"1"0,-1 0,1 0,1-1,-1 1,6 10,2 7,0-3,0-1,1 0,1-1,0 0,24 27,25 39,-55-73,-1 0,0 0,0 1,-2 0,1 0,-2 0,0 0,0 14,0-7,1 0,8 33,-5-40,0 1,15 25,-12-26,-2 1,9 21,-12-26,1 0,1 0,-1 0,2 0,-1-1,1 0,1-1,-1 1,1-1,1-1,0 0,0 0,13 8,15 8,43 19,-26-14,-40-22,1 0,0 0,0-2,0 0,0 0,1-2,20 2,112-5,-122 0,0-2,0-1,0-2,0 0,-1-2,0 0,0-2,-1-1,0 0,-1-2,-1-1,0-1,0 0,-2-2,0-1,31-34,-46 47,0 0,1 0,0 1,0 0,0 0,1 0,-1 1,1 0,-1 1,1-1,8-1,4 0,0 0,37-2,62-4,-109 10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1.48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774 73,'34'-18,"-7"5,32-13,-49 22,1 1,0 0,-1 1,1 0,0 1,19 0,116 11,40 1,94-12,-303 2,-1 2,-26 5,-18 3,-537 26,-7-34,408-4,190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2.20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1,'2'0,"4"0,8 0,10 0,11 0,10 0,6 0,3 3,1 2,-1 1,-4 1,-7-2,-8 0,-4-1,-6 0,-6-1,-4-2,-5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2.6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6-04T06:55:13.30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99E68A-D6C2-42B1-BC72-DCAD94355B57}" type="datetimeFigureOut">
              <a:rPr lang="en-US" smtClean="0"/>
              <a:pPr/>
              <a:t>11/19/2025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03C272-06C2-4D39-9173-66DB886E9967}" type="slidenum">
              <a:rPr lang="en-US" smtClean="0"/>
              <a:pPr/>
              <a:t>‹#›</a:t>
            </a:fld>
            <a:endParaRPr lang="en-US"/>
          </a:p>
        </p:txBody>
      </p:sp>
    </p:spTree>
    <p:extLst>
      <p:ext uri="{BB962C8B-B14F-4D97-AF65-F5344CB8AC3E}">
        <p14:creationId xmlns:p14="http://schemas.microsoft.com/office/powerpoint/2010/main" val="763685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03C272-06C2-4D39-9173-66DB886E9967}" type="slidenum">
              <a:rPr lang="en-US" smtClean="0"/>
              <a:pPr/>
              <a:t>1</a:t>
            </a:fld>
            <a:endParaRPr lang="en-US"/>
          </a:p>
        </p:txBody>
      </p:sp>
    </p:spTree>
    <p:extLst>
      <p:ext uri="{BB962C8B-B14F-4D97-AF65-F5344CB8AC3E}">
        <p14:creationId xmlns:p14="http://schemas.microsoft.com/office/powerpoint/2010/main" val="2805753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03C272-06C2-4D39-9173-66DB886E9967}" type="slidenum">
              <a:rPr lang="en-US" smtClean="0"/>
              <a:pPr/>
              <a:t>2</a:t>
            </a:fld>
            <a:endParaRPr lang="en-US"/>
          </a:p>
        </p:txBody>
      </p:sp>
    </p:spTree>
    <p:extLst>
      <p:ext uri="{BB962C8B-B14F-4D97-AF65-F5344CB8AC3E}">
        <p14:creationId xmlns:p14="http://schemas.microsoft.com/office/powerpoint/2010/main" val="825965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9C92C1B4-0171-45A8-A56D-009103CF1997}" type="datetime1">
              <a:rPr lang="en-US" smtClean="0"/>
              <a:pPr/>
              <a:t>11/19/2025</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r>
              <a:rPr lang="en-US"/>
              <a:t>DEPARTMENT OF TELECOMMUNICATION, MUET</a:t>
            </a:r>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D525BB11-F316-475A-8C08-1EE647C41E0C}" type="slidenum">
              <a:rPr lang="en-US" smtClean="0"/>
              <a:pPr/>
              <a:t>‹#›</a:t>
            </a:fld>
            <a:endParaRPr lang="en-US"/>
          </a:p>
        </p:txBody>
      </p:sp>
    </p:spTree>
    <p:extLst>
      <p:ext uri="{BB962C8B-B14F-4D97-AF65-F5344CB8AC3E}">
        <p14:creationId xmlns:p14="http://schemas.microsoft.com/office/powerpoint/2010/main" val="675021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C0C32F-F48D-43D2-BD09-280A3905948F}" type="datetime1">
              <a:rPr lang="en-US" smtClean="0"/>
              <a:pPr/>
              <a:t>11/19/2025</a:t>
            </a:fld>
            <a:endParaRPr lang="en-US"/>
          </a:p>
        </p:txBody>
      </p:sp>
      <p:sp>
        <p:nvSpPr>
          <p:cNvPr id="5" name="Footer Placeholder 4"/>
          <p:cNvSpPr>
            <a:spLocks noGrp="1"/>
          </p:cNvSpPr>
          <p:nvPr>
            <p:ph type="ftr" sz="quarter" idx="11"/>
          </p:nvPr>
        </p:nvSpPr>
        <p:spPr/>
        <p:txBody>
          <a:bodyPr/>
          <a:lstStyle/>
          <a:p>
            <a:r>
              <a:rPr lang="en-US"/>
              <a:t>DEPARTMENT OF TELECOMMUNICATION, MUET</a:t>
            </a:r>
          </a:p>
        </p:txBody>
      </p:sp>
      <p:sp>
        <p:nvSpPr>
          <p:cNvPr id="6" name="Slide Number Placeholder 5"/>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2754808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27062A-B1AB-4DB6-B35C-51D1DE0B05C9}" type="datetime1">
              <a:rPr lang="en-US" smtClean="0"/>
              <a:pPr/>
              <a:t>11/19/2025</a:t>
            </a:fld>
            <a:endParaRPr lang="en-US"/>
          </a:p>
        </p:txBody>
      </p:sp>
      <p:sp>
        <p:nvSpPr>
          <p:cNvPr id="5" name="Footer Placeholder 4"/>
          <p:cNvSpPr>
            <a:spLocks noGrp="1"/>
          </p:cNvSpPr>
          <p:nvPr>
            <p:ph type="ftr" sz="quarter" idx="11"/>
          </p:nvPr>
        </p:nvSpPr>
        <p:spPr/>
        <p:txBody>
          <a:bodyPr/>
          <a:lstStyle/>
          <a:p>
            <a:r>
              <a:rPr lang="en-US"/>
              <a:t>DEPARTMENT OF TELECOMMUNICATION, MUET</a:t>
            </a:r>
          </a:p>
        </p:txBody>
      </p:sp>
      <p:sp>
        <p:nvSpPr>
          <p:cNvPr id="6" name="Slide Number Placeholder 5"/>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2632666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5F85AD-CFF3-451F-8EEB-F38D3DABE701}" type="datetime1">
              <a:rPr lang="en-US" smtClean="0"/>
              <a:pPr/>
              <a:t>11/19/2025</a:t>
            </a:fld>
            <a:endParaRPr lang="en-US"/>
          </a:p>
        </p:txBody>
      </p:sp>
      <p:sp>
        <p:nvSpPr>
          <p:cNvPr id="6" name="Footer Placeholder 5"/>
          <p:cNvSpPr>
            <a:spLocks noGrp="1"/>
          </p:cNvSpPr>
          <p:nvPr>
            <p:ph type="ftr" sz="quarter" idx="11"/>
          </p:nvPr>
        </p:nvSpPr>
        <p:spPr/>
        <p:txBody>
          <a:bodyPr/>
          <a:lstStyle/>
          <a:p>
            <a:r>
              <a:rPr lang="en-US"/>
              <a:t>DEPARTMENT OF TELECOMMUNICATION, MUET</a:t>
            </a:r>
          </a:p>
        </p:txBody>
      </p:sp>
      <p:sp>
        <p:nvSpPr>
          <p:cNvPr id="7" name="Slide Number Placeholder 6"/>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3819881281"/>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2D5D5B-AC50-41C2-962A-0AE1DCE34B46}" type="datetime1">
              <a:rPr lang="en-US" smtClean="0"/>
              <a:pPr/>
              <a:t>11/19/2025</a:t>
            </a:fld>
            <a:endParaRPr lang="en-US"/>
          </a:p>
        </p:txBody>
      </p:sp>
      <p:sp>
        <p:nvSpPr>
          <p:cNvPr id="8" name="Footer Placeholder 7"/>
          <p:cNvSpPr>
            <a:spLocks noGrp="1"/>
          </p:cNvSpPr>
          <p:nvPr>
            <p:ph type="ftr" sz="quarter" idx="11"/>
          </p:nvPr>
        </p:nvSpPr>
        <p:spPr/>
        <p:txBody>
          <a:bodyPr/>
          <a:lstStyle/>
          <a:p>
            <a:r>
              <a:rPr lang="en-US"/>
              <a:t>DEPARTMENT OF TELECOMMUNICATION, MUET</a:t>
            </a:r>
          </a:p>
        </p:txBody>
      </p:sp>
      <p:sp>
        <p:nvSpPr>
          <p:cNvPr id="9" name="Slide Number Placeholder 8"/>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2378674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6D2407-1DA9-40CA-BD14-6422B572FB4D}" type="datetime1">
              <a:rPr lang="en-US" smtClean="0"/>
              <a:pPr/>
              <a:t>11/19/2025</a:t>
            </a:fld>
            <a:endParaRPr lang="en-US"/>
          </a:p>
        </p:txBody>
      </p:sp>
      <p:sp>
        <p:nvSpPr>
          <p:cNvPr id="4" name="Footer Placeholder 3"/>
          <p:cNvSpPr>
            <a:spLocks noGrp="1"/>
          </p:cNvSpPr>
          <p:nvPr>
            <p:ph type="ftr" sz="quarter" idx="11"/>
          </p:nvPr>
        </p:nvSpPr>
        <p:spPr/>
        <p:txBody>
          <a:bodyPr/>
          <a:lstStyle/>
          <a:p>
            <a:r>
              <a:rPr lang="en-US"/>
              <a:t>DEPARTMENT OF TELECOMMUNICATION, MUET</a:t>
            </a:r>
          </a:p>
        </p:txBody>
      </p:sp>
      <p:sp>
        <p:nvSpPr>
          <p:cNvPr id="5" name="Slide Number Placeholder 4"/>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522619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72FDC6-00AC-4592-A18B-4CCF2A2C26EB}" type="datetime1">
              <a:rPr lang="en-US" smtClean="0"/>
              <a:pPr/>
              <a:t>11/19/2025</a:t>
            </a:fld>
            <a:endParaRPr lang="en-US"/>
          </a:p>
        </p:txBody>
      </p:sp>
      <p:sp>
        <p:nvSpPr>
          <p:cNvPr id="3" name="Footer Placeholder 2"/>
          <p:cNvSpPr>
            <a:spLocks noGrp="1"/>
          </p:cNvSpPr>
          <p:nvPr>
            <p:ph type="ftr" sz="quarter" idx="11"/>
          </p:nvPr>
        </p:nvSpPr>
        <p:spPr/>
        <p:txBody>
          <a:bodyPr/>
          <a:lstStyle/>
          <a:p>
            <a:r>
              <a:rPr lang="en-US"/>
              <a:t>DEPARTMENT OF TELECOMMUNICATION, MUET</a:t>
            </a:r>
          </a:p>
        </p:txBody>
      </p:sp>
      <p:sp>
        <p:nvSpPr>
          <p:cNvPr id="4" name="Slide Number Placeholder 3"/>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2297051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6994CB83-FB9D-4AC1-92FF-E4055C66D24C}" type="datetime1">
              <a:rPr lang="en-US" smtClean="0"/>
              <a:pPr/>
              <a:t>11/19/2025</a:t>
            </a:fld>
            <a:endParaRPr lang="en-US"/>
          </a:p>
        </p:txBody>
      </p:sp>
      <p:sp>
        <p:nvSpPr>
          <p:cNvPr id="6" name="Footer Placeholder 5"/>
          <p:cNvSpPr>
            <a:spLocks noGrp="1"/>
          </p:cNvSpPr>
          <p:nvPr>
            <p:ph type="ftr" sz="quarter" idx="11"/>
          </p:nvPr>
        </p:nvSpPr>
        <p:spPr/>
        <p:txBody>
          <a:bodyPr/>
          <a:lstStyle/>
          <a:p>
            <a:r>
              <a:rPr lang="en-US"/>
              <a:t>DEPARTMENT OF TELECOMMUNICATION, MUET</a:t>
            </a:r>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D525BB11-F316-475A-8C08-1EE647C41E0C}" type="slidenum">
              <a:rPr lang="en-US" smtClean="0"/>
              <a:pPr/>
              <a:t>‹#›</a:t>
            </a:fld>
            <a:endParaRPr lang="en-US"/>
          </a:p>
        </p:txBody>
      </p:sp>
    </p:spTree>
    <p:extLst>
      <p:ext uri="{BB962C8B-B14F-4D97-AF65-F5344CB8AC3E}">
        <p14:creationId xmlns:p14="http://schemas.microsoft.com/office/powerpoint/2010/main" val="2608272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40000"/>
              <a:lumOff val="6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0B706949-EF9D-490F-A1BE-22429E66EB7C}" type="datetime1">
              <a:rPr lang="en-US" smtClean="0"/>
              <a:pPr/>
              <a:t>11/19/2025</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r>
              <a:rPr lang="en-US"/>
              <a:t>DEPARTMENT OF TELECOMMUNICATION, MUET</a:t>
            </a:r>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D525BB11-F316-475A-8C08-1EE647C41E0C}" type="slidenum">
              <a:rPr lang="en-US" smtClean="0"/>
              <a:pPr/>
              <a:t>‹#›</a:t>
            </a:fld>
            <a:endParaRPr lang="en-US"/>
          </a:p>
        </p:txBody>
      </p:sp>
    </p:spTree>
    <p:extLst>
      <p:ext uri="{BB962C8B-B14F-4D97-AF65-F5344CB8AC3E}">
        <p14:creationId xmlns:p14="http://schemas.microsoft.com/office/powerpoint/2010/main" val="107707534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E4883E-9797-4524-BD1F-8D4313E3305B}" type="datetime1">
              <a:rPr lang="en-US" smtClean="0"/>
              <a:pPr/>
              <a:t>11/19/2025</a:t>
            </a:fld>
            <a:endParaRPr lang="en-US"/>
          </a:p>
        </p:txBody>
      </p:sp>
      <p:sp>
        <p:nvSpPr>
          <p:cNvPr id="5" name="Footer Placeholder 4"/>
          <p:cNvSpPr>
            <a:spLocks noGrp="1"/>
          </p:cNvSpPr>
          <p:nvPr>
            <p:ph type="ftr" sz="quarter" idx="11"/>
          </p:nvPr>
        </p:nvSpPr>
        <p:spPr/>
        <p:txBody>
          <a:bodyPr/>
          <a:lstStyle/>
          <a:p>
            <a:r>
              <a:rPr lang="en-US"/>
              <a:t>DEPARTMENT OF TELECOMMUNICATION, MUET</a:t>
            </a:r>
          </a:p>
        </p:txBody>
      </p:sp>
      <p:sp>
        <p:nvSpPr>
          <p:cNvPr id="6" name="Slide Number Placeholder 5"/>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3468511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74FAE-3C04-43E3-9A14-2B3BB981DCC0}" type="datetime1">
              <a:rPr lang="en-US" smtClean="0"/>
              <a:pPr/>
              <a:t>11/19/2025</a:t>
            </a:fld>
            <a:endParaRPr lang="en-US"/>
          </a:p>
        </p:txBody>
      </p:sp>
      <p:sp>
        <p:nvSpPr>
          <p:cNvPr id="5" name="Footer Placeholder 4"/>
          <p:cNvSpPr>
            <a:spLocks noGrp="1"/>
          </p:cNvSpPr>
          <p:nvPr>
            <p:ph type="ftr" sz="quarter" idx="11"/>
          </p:nvPr>
        </p:nvSpPr>
        <p:spPr/>
        <p:txBody>
          <a:bodyPr/>
          <a:lstStyle/>
          <a:p>
            <a:r>
              <a:rPr lang="en-US"/>
              <a:t>DEPARTMENT OF TELECOMMUNICATION, MUET</a:t>
            </a:r>
          </a:p>
        </p:txBody>
      </p:sp>
      <p:sp>
        <p:nvSpPr>
          <p:cNvPr id="6" name="Slide Number Placeholder 5"/>
          <p:cNvSpPr>
            <a:spLocks noGrp="1"/>
          </p:cNvSpPr>
          <p:nvPr>
            <p:ph type="sldNum" sz="quarter" idx="12"/>
          </p:nvPr>
        </p:nvSpPr>
        <p:spPr/>
        <p:txBody>
          <a:bodyPr/>
          <a:lstStyle/>
          <a:p>
            <a:fld id="{D525BB11-F316-475A-8C08-1EE647C41E0C}" type="slidenum">
              <a:rPr lang="en-US" smtClean="0"/>
              <a:pPr/>
              <a:t>‹#›</a:t>
            </a:fld>
            <a:endParaRPr lang="en-US"/>
          </a:p>
        </p:txBody>
      </p:sp>
    </p:spTree>
    <p:extLst>
      <p:ext uri="{BB962C8B-B14F-4D97-AF65-F5344CB8AC3E}">
        <p14:creationId xmlns:p14="http://schemas.microsoft.com/office/powerpoint/2010/main" val="106881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000"/>
            <a:lum/>
          </a:blip>
          <a:srcRect/>
          <a:stretch>
            <a:fillRect l="12000" t="3000" r="1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825F85AD-CFF3-451F-8EEB-F38D3DABE701}" type="datetime1">
              <a:rPr lang="en-US" smtClean="0"/>
              <a:pPr/>
              <a:t>11/19/2025</a:t>
            </a:fld>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r>
              <a:rPr lang="en-US"/>
              <a:t>DEPARTMENT OF TELECOMMUNICATION, MUET</a:t>
            </a:r>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D525BB11-F316-475A-8C08-1EE647C41E0C}" type="slidenum">
              <a:rPr lang="en-US" smtClean="0"/>
              <a:pPr/>
              <a:t>‹#›</a:t>
            </a:fld>
            <a:endParaRPr lang="en-US"/>
          </a:p>
        </p:txBody>
      </p:sp>
    </p:spTree>
    <p:extLst>
      <p:ext uri="{BB962C8B-B14F-4D97-AF65-F5344CB8AC3E}">
        <p14:creationId xmlns:p14="http://schemas.microsoft.com/office/powerpoint/2010/main" val="1809431760"/>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hdr="0" dt="0"/>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7" Type="http://schemas.openxmlformats.org/officeDocument/2006/relationships/customXml" Target="../ink/ink3.xml"/><Relationship Id="rId12" Type="http://schemas.openxmlformats.org/officeDocument/2006/relationships/image" Target="../media/image19.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customXml" Target="../ink/ink4.xml"/></Relationships>
</file>

<file path=ppt/slides/_rels/slide10.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28.png"/><Relationship Id="rId5" Type="http://schemas.openxmlformats.org/officeDocument/2006/relationships/image" Target="../media/image25.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11746"/>
            <a:ext cx="7772400" cy="1780108"/>
          </a:xfrm>
        </p:spPr>
        <p:txBody>
          <a:bodyPr/>
          <a:lstStyle/>
          <a:p>
            <a:pPr algn="ctr"/>
            <a:r>
              <a:rPr lang="en-US" sz="3600" b="1" kern="100" dirty="0">
                <a:effectLst/>
                <a:latin typeface="Calibri" panose="020F0502020204030204" pitchFamily="34" charset="0"/>
                <a:ea typeface="Calibri" panose="020F0502020204030204" pitchFamily="34" charset="0"/>
                <a:cs typeface="Calibri" panose="020F0502020204030204" pitchFamily="34" charset="0"/>
              </a:rPr>
              <a:t>LLM Base Sindhi Health Text Generator Using RAG Technique</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914814" y="117453"/>
            <a:ext cx="7923972" cy="1123950"/>
          </a:xfrm>
        </p:spPr>
        <p:txBody>
          <a:bodyPr>
            <a:normAutofit fontScale="92500"/>
          </a:bodyPr>
          <a:lstStyle/>
          <a:p>
            <a:pPr algn="ctr">
              <a:lnSpc>
                <a:spcPct val="100000"/>
              </a:lnSpc>
            </a:pPr>
            <a:r>
              <a:rPr lang="en-US" sz="2400" b="1" dirty="0">
                <a:latin typeface="Calibri" panose="020F0502020204030204" pitchFamily="34" charset="0"/>
                <a:ea typeface="Calibri" panose="020F0502020204030204" pitchFamily="34" charset="0"/>
                <a:cs typeface="Calibri" panose="020F0502020204030204" pitchFamily="34" charset="0"/>
              </a:rPr>
              <a:t>SHAHEED BENAZIR BHUTTO UNIVERSITY, SHAHEED BENAZIRABAD</a:t>
            </a:r>
          </a:p>
          <a:p>
            <a:pPr algn="ctr">
              <a:lnSpc>
                <a:spcPct val="100000"/>
              </a:lnSpc>
            </a:pPr>
            <a:r>
              <a:rPr lang="en-US" sz="2000" b="1" dirty="0">
                <a:latin typeface="Calibri" panose="020F0502020204030204" pitchFamily="34" charset="0"/>
                <a:ea typeface="Calibri" panose="020F0502020204030204" pitchFamily="34" charset="0"/>
                <a:cs typeface="Calibri" panose="020F0502020204030204" pitchFamily="34" charset="0"/>
              </a:rPr>
              <a:t>Knowledge Commitment Leadership</a:t>
            </a:r>
          </a:p>
        </p:txBody>
      </p:sp>
      <p:sp>
        <p:nvSpPr>
          <p:cNvPr id="10" name="Footer Placeholder 9"/>
          <p:cNvSpPr>
            <a:spLocks noGrp="1"/>
          </p:cNvSpPr>
          <p:nvPr>
            <p:ph type="ftr" sz="quarter" idx="1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DEPARTMENT OF Information Technology, SBBU,SBA</a:t>
            </a:r>
          </a:p>
        </p:txBody>
      </p:sp>
      <p:sp>
        <p:nvSpPr>
          <p:cNvPr id="9" name="Slide Number Placeholder 8"/>
          <p:cNvSpPr>
            <a:spLocks noGrp="1"/>
          </p:cNvSpPr>
          <p:nvPr>
            <p:ph type="sldNum" sz="quarter" idx="12"/>
          </p:nvPr>
        </p:nvSpPr>
        <p:spPr>
          <a:xfrm>
            <a:off x="6949440" y="5534196"/>
            <a:ext cx="2194560" cy="1397039"/>
          </a:xfrm>
        </p:spPr>
        <p:txBody>
          <a:bodyPr/>
          <a:lstStyle/>
          <a:p>
            <a:fld id="{D525BB11-F316-475A-8C08-1EE647C41E0C}" type="slidenum">
              <a:rPr lang="en-US" smtClean="0">
                <a:latin typeface="Calibri" panose="020F0502020204030204" pitchFamily="34" charset="0"/>
                <a:ea typeface="Calibri" panose="020F0502020204030204" pitchFamily="34" charset="0"/>
                <a:cs typeface="Calibri" panose="020F0502020204030204" pitchFamily="34" charset="0"/>
              </a:rPr>
              <a:pPr/>
              <a:t>1</a:t>
            </a:fld>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Subtitle 2"/>
          <p:cNvSpPr txBox="1">
            <a:spLocks/>
          </p:cNvSpPr>
          <p:nvPr/>
        </p:nvSpPr>
        <p:spPr>
          <a:xfrm>
            <a:off x="1695450" y="3624742"/>
            <a:ext cx="5181600" cy="1473200"/>
          </a:xfrm>
          <a:prstGeom prst="rect">
            <a:avLst/>
          </a:prstGeom>
        </p:spPr>
        <p:txBody>
          <a:bodyPr vert="horz" lIns="91440" tIns="45720" rIns="91440" bIns="45720" rtlCol="0">
            <a:normAutofit/>
          </a:bodyPr>
          <a:lstStyle>
            <a:lvl1pPr marL="0" indent="0" algn="ctr" defTabSz="914400" rtl="0" eaLnBrk="1" latinLnBrk="0" hangingPunct="1">
              <a:spcBef>
                <a:spcPct val="20000"/>
              </a:spcBef>
              <a:buClr>
                <a:schemeClr val="accent1"/>
              </a:buClr>
              <a:buSzPct val="100000"/>
              <a:buFont typeface="Symbol" pitchFamily="18" charset="2"/>
              <a:buNone/>
              <a:defRPr sz="2000" kern="1200">
                <a:solidFill>
                  <a:srgbClr val="FFFFFF"/>
                </a:solidFill>
                <a:latin typeface="+mn-lt"/>
                <a:ea typeface="+mn-ea"/>
                <a:cs typeface="+mn-cs"/>
              </a:defRPr>
            </a:lvl1pPr>
            <a:lvl2pPr marL="457200" indent="0" algn="ctr" defTabSz="914400" rtl="0" eaLnBrk="1" latinLnBrk="0" hangingPunct="1">
              <a:spcBef>
                <a:spcPct val="20000"/>
              </a:spcBef>
              <a:buClr>
                <a:schemeClr val="accent1"/>
              </a:buClr>
              <a:buSzPct val="100000"/>
              <a:buFont typeface="Symbol" pitchFamily="18"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100000"/>
              <a:buFont typeface="Symbol" pitchFamily="18"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SzPct val="100000"/>
              <a:buFont typeface="Symbol" pitchFamily="18"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100000"/>
              <a:buFont typeface="Symbol" pitchFamily="18"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9pPr>
          </a:lstStyle>
          <a:p>
            <a:pPr marL="457200" indent="-457200" algn="just">
              <a:buAutoNum type="arabicPeriod"/>
            </a:pPr>
            <a:r>
              <a:rPr lang="en-US" dirty="0">
                <a:latin typeface="Calibri" panose="020F0502020204030204" pitchFamily="34" charset="0"/>
                <a:ea typeface="Calibri" panose="020F0502020204030204" pitchFamily="34" charset="0"/>
                <a:cs typeface="Calibri" panose="020F0502020204030204" pitchFamily="34" charset="0"/>
              </a:rPr>
              <a:t>Muhammad Yousif	          22 (BSIT)-15</a:t>
            </a:r>
          </a:p>
          <a:p>
            <a:pPr marL="457200" indent="-457200" algn="just">
              <a:buFont typeface="Symbol" pitchFamily="18" charset="2"/>
              <a:buAutoNum type="arabicPeriod"/>
            </a:pPr>
            <a:r>
              <a:rPr lang="en-US" dirty="0">
                <a:latin typeface="Calibri" panose="020F0502020204030204" pitchFamily="34" charset="0"/>
                <a:ea typeface="Calibri" panose="020F0502020204030204" pitchFamily="34" charset="0"/>
                <a:cs typeface="Calibri" panose="020F0502020204030204" pitchFamily="34" charset="0"/>
              </a:rPr>
              <a:t>Hajan                                        22 (BSIT)-28</a:t>
            </a:r>
          </a:p>
          <a:p>
            <a:pPr marL="457200" indent="-457200" algn="just">
              <a:buFont typeface="Symbol" pitchFamily="18" charset="2"/>
              <a:buAutoNum type="arabicPeriod"/>
            </a:pPr>
            <a:r>
              <a:rPr lang="en-US" dirty="0">
                <a:latin typeface="Calibri" panose="020F0502020204030204" pitchFamily="34" charset="0"/>
                <a:ea typeface="Calibri" panose="020F0502020204030204" pitchFamily="34" charset="0"/>
                <a:cs typeface="Calibri" panose="020F0502020204030204" pitchFamily="34" charset="0"/>
              </a:rPr>
              <a:t>Muhammad Danyal Javed    22 (BSIT)-36</a:t>
            </a: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pPr algn="just"/>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p:cNvSpPr/>
          <p:nvPr/>
        </p:nvSpPr>
        <p:spPr>
          <a:xfrm>
            <a:off x="3687783" y="3155950"/>
            <a:ext cx="1748364" cy="369332"/>
          </a:xfrm>
          <a:prstGeom prst="rect">
            <a:avLst/>
          </a:prstGeom>
        </p:spPr>
        <p:txBody>
          <a:bodyPr wrap="none">
            <a:spAutoFit/>
          </a:bodyPr>
          <a:lstStyle/>
          <a:p>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Group Members</a:t>
            </a:r>
          </a:p>
        </p:txBody>
      </p:sp>
      <p:sp>
        <p:nvSpPr>
          <p:cNvPr id="8" name="Rectangle 7"/>
          <p:cNvSpPr/>
          <p:nvPr/>
        </p:nvSpPr>
        <p:spPr>
          <a:xfrm>
            <a:off x="2378642" y="5456987"/>
            <a:ext cx="4386714" cy="369332"/>
          </a:xfrm>
          <a:prstGeom prst="rect">
            <a:avLst/>
          </a:prstGeom>
        </p:spPr>
        <p:txBody>
          <a:bodyPr wrap="none">
            <a:spAutoFit/>
          </a:bodyPr>
          <a:lstStyle/>
          <a:p>
            <a:pPr algn="just"/>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Name of Supervisor:  Dr. Azeem Ayaz </a:t>
            </a:r>
            <a:r>
              <a:rPr lang="en-US" b="1"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Mirani</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descr="logo color">
            <a:extLst>
              <a:ext uri="{FF2B5EF4-FFF2-40B4-BE49-F238E27FC236}">
                <a16:creationId xmlns:a16="http://schemas.microsoft.com/office/drawing/2014/main" id="{04EEC061-7137-41F5-9494-3616F3A70D5C}"/>
              </a:ext>
            </a:extLst>
          </p:cNvPr>
          <p:cNvPicPr/>
          <p:nvPr/>
        </p:nvPicPr>
        <p:blipFill>
          <a:blip r:embed="rId3" cstate="print">
            <a:clrChange>
              <a:clrFrom>
                <a:srgbClr val="FFFFFE"/>
              </a:clrFrom>
              <a:clrTo>
                <a:srgbClr val="FFFFFE">
                  <a:alpha val="0"/>
                </a:srgbClr>
              </a:clrTo>
            </a:clrChange>
          </a:blip>
          <a:srcRect/>
          <a:stretch>
            <a:fillRect/>
          </a:stretch>
        </p:blipFill>
        <p:spPr bwMode="auto">
          <a:xfrm>
            <a:off x="170524" y="117453"/>
            <a:ext cx="744290" cy="796947"/>
          </a:xfrm>
          <a:prstGeom prst="rect">
            <a:avLst/>
          </a:prstGeom>
          <a:noFill/>
          <a:ln w="9525">
            <a:noFill/>
            <a:miter lim="800000"/>
            <a:headEnd/>
            <a:tailEnd/>
          </a:ln>
        </p:spPr>
      </p:pic>
    </p:spTree>
    <p:extLst>
      <p:ext uri="{BB962C8B-B14F-4D97-AF65-F5344CB8AC3E}">
        <p14:creationId xmlns:p14="http://schemas.microsoft.com/office/powerpoint/2010/main" val="173417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1CCD5EF-766D-43B9-A25D-19122E5FB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1989682"/>
          </a:xfrm>
          <a:prstGeom prst="rect">
            <a:avLst/>
          </a:prstGeom>
          <a:solidFill>
            <a:schemeClr val="accent1"/>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D9699C9-77F1-4E33-A750-CB78C7EA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646" y="806204"/>
            <a:ext cx="7934706" cy="1664208"/>
          </a:xfrm>
          <a:prstGeom prst="rect">
            <a:avLst/>
          </a:prstGeom>
          <a:noFill/>
          <a:ln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806911" y="1057870"/>
            <a:ext cx="7530175" cy="1228130"/>
          </a:xfrm>
        </p:spPr>
        <p:txBody>
          <a:bodyPr>
            <a:normAutofit/>
          </a:bodyPr>
          <a:lstStyle/>
          <a:p>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Presentation Outline</a:t>
            </a:r>
          </a:p>
        </p:txBody>
      </p:sp>
      <p:sp>
        <p:nvSpPr>
          <p:cNvPr id="5" name="Footer Placeholder 4"/>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dirty="0">
                <a:latin typeface="Calibri" panose="020F0502020204030204" pitchFamily="34" charset="0"/>
                <a:ea typeface="Calibri" panose="020F0502020204030204" pitchFamily="34" charset="0"/>
                <a:cs typeface="Calibri" panose="020F0502020204030204" pitchFamily="34" charset="0"/>
              </a:rPr>
              <a:t>DEPARTMENT OF Information Technology, SBBU,SBA</a:t>
            </a: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a:xfrm>
            <a:off x="6781800" y="5517035"/>
            <a:ext cx="2194560" cy="1397039"/>
          </a:xfrm>
        </p:spPr>
        <p:txBody>
          <a:bodyPr>
            <a:normAutofit/>
          </a:bodyPr>
          <a:lstStyle/>
          <a:p>
            <a:pPr>
              <a:lnSpc>
                <a:spcPct val="90000"/>
              </a:lnSpc>
              <a:spcAft>
                <a:spcPts val="600"/>
              </a:spcAft>
            </a:pPr>
            <a:fld id="{D525BB11-F316-475A-8C08-1EE647C41E0C}" type="slidenum">
              <a:rPr lang="en-US" smtClean="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2</a:t>
            </a:fld>
            <a:endParaRPr lang="en-US" dirty="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endParaRPr>
          </a:p>
        </p:txBody>
      </p:sp>
      <p:sp>
        <p:nvSpPr>
          <p:cNvPr id="2" name="Content Placeholder 1"/>
          <p:cNvSpPr>
            <a:spLocks noGrp="1"/>
          </p:cNvSpPr>
          <p:nvPr>
            <p:ph idx="1"/>
          </p:nvPr>
        </p:nvSpPr>
        <p:spPr>
          <a:xfrm>
            <a:off x="806910" y="2735701"/>
            <a:ext cx="7530175" cy="2903099"/>
          </a:xfrm>
        </p:spPr>
        <p:txBody>
          <a:bodyPr numCol="2">
            <a:noAutofit/>
          </a:bodyPr>
          <a:lstStyle/>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Introduction </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Background and Motivation / Problem Statement</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Literature Review</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Aim and Objectives</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Methodology</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Project Timeline</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Results and Discussion</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Conclusion (Final Note)</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Limitations</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Future Work</a:t>
            </a:r>
          </a:p>
          <a:p>
            <a:pPr marL="457200" indent="-457200">
              <a:lnSpc>
                <a:spcPct val="100000"/>
              </a:lnSpc>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References</a:t>
            </a:r>
          </a:p>
        </p:txBody>
      </p:sp>
    </p:spTree>
    <p:extLst>
      <p:ext uri="{BB962C8B-B14F-4D97-AF65-F5344CB8AC3E}">
        <p14:creationId xmlns:p14="http://schemas.microsoft.com/office/powerpoint/2010/main" val="715075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E7CFAA6-1DBB-43B0-BD82-2FB83CF4E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529724" y="639763"/>
            <a:ext cx="2960998" cy="5492750"/>
          </a:xfrm>
        </p:spPr>
        <p:txBody>
          <a:bodyPr>
            <a:normAutofit/>
          </a:bodyPr>
          <a:lstStyle/>
          <a:p>
            <a:r>
              <a:rPr lang="en-US" sz="4400" dirty="0">
                <a:solidFill>
                  <a:srgbClr val="FFFFFF"/>
                </a:solidFill>
                <a:latin typeface="Times New Roman" panose="02020603050405020304" pitchFamily="18" charset="0"/>
                <a:cs typeface="Times New Roman" panose="02020603050405020304" pitchFamily="18" charset="0"/>
              </a:rPr>
              <a:t>Introduction	</a:t>
            </a:r>
          </a:p>
        </p:txBody>
      </p:sp>
      <p:cxnSp>
        <p:nvCxnSpPr>
          <p:cNvPr id="12" name="Straight Connector 11">
            <a:extLst>
              <a:ext uri="{FF2B5EF4-FFF2-40B4-BE49-F238E27FC236}">
                <a16:creationId xmlns:a16="http://schemas.microsoft.com/office/drawing/2014/main" id="{9E13708B-D2E3-41E3-BD49-F910056473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28492" y="2211346"/>
            <a:ext cx="0" cy="2349584"/>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dirty="0">
                <a:latin typeface="Times New Roman" panose="02020603050405020304" pitchFamily="18" charset="0"/>
                <a:cs typeface="Times New Roman" panose="02020603050405020304" pitchFamily="18" charset="0"/>
              </a:rPr>
              <a:t>DEPARTMENT OF Information Technology, SBBU,SBA</a:t>
            </a:r>
            <a:endParaRPr 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6853764" y="5645086"/>
            <a:ext cx="2194560" cy="1397039"/>
          </a:xfrm>
        </p:spPr>
        <p:txBody>
          <a:bodyPr>
            <a:normAutofit/>
          </a:bodyPr>
          <a:lstStyle/>
          <a:p>
            <a:pPr>
              <a:lnSpc>
                <a:spcPct val="90000"/>
              </a:lnSpc>
              <a:spcAft>
                <a:spcPts val="600"/>
              </a:spcAft>
            </a:pPr>
            <a:fld id="{D525BB11-F316-475A-8C08-1EE647C41E0C}" type="slidenum">
              <a:rPr lang="en-US">
                <a:solidFill>
                  <a:srgbClr val="FFFFFF">
                    <a:alpha val="25000"/>
                  </a:srgbClr>
                </a:solidFill>
                <a:latin typeface="Times New Roman" panose="02020603050405020304" pitchFamily="18" charset="0"/>
                <a:cs typeface="Times New Roman" panose="02020603050405020304" pitchFamily="18" charset="0"/>
              </a:rPr>
              <a:pPr>
                <a:lnSpc>
                  <a:spcPct val="90000"/>
                </a:lnSpc>
                <a:spcAft>
                  <a:spcPts val="600"/>
                </a:spcAft>
              </a:pPr>
              <a:t>3</a:t>
            </a:fld>
            <a:endParaRPr lang="en-US" dirty="0">
              <a:solidFill>
                <a:srgbClr val="FFFFFF">
                  <a:alpha val="25000"/>
                </a:srgbClr>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3966261" y="639764"/>
            <a:ext cx="4606524" cy="5492749"/>
          </a:xfrm>
        </p:spPr>
        <p:txBody>
          <a:bodyPr anchor="ctr">
            <a:normAutofit/>
          </a:bodyPr>
          <a:lstStyle/>
          <a:p>
            <a:pPr marL="0" marR="0" lvl="0" indent="0" algn="just">
              <a:spcAft>
                <a:spcPts val="800"/>
              </a:spcAft>
              <a:buSzPts val="1000"/>
              <a:buNone/>
              <a:tabLst>
                <a:tab pos="457200" algn="l"/>
              </a:tabLst>
            </a:pPr>
            <a:r>
              <a:rPr lang="en-US" dirty="0">
                <a:latin typeface="Times New Roman" panose="02020603050405020304" pitchFamily="18" charset="0"/>
                <a:cs typeface="Times New Roman" panose="02020603050405020304" pitchFamily="18" charset="0"/>
              </a:rPr>
              <a:t>This project is about initial model </a:t>
            </a:r>
            <a:r>
              <a:rPr lang="en-US" b="1" dirty="0">
                <a:latin typeface="Times New Roman" panose="02020603050405020304" pitchFamily="18" charset="0"/>
                <a:cs typeface="Times New Roman" panose="02020603050405020304" pitchFamily="18" charset="0"/>
              </a:rPr>
              <a:t>Prototype</a:t>
            </a:r>
            <a:r>
              <a:rPr lang="en-US" dirty="0">
                <a:latin typeface="Times New Roman" panose="02020603050405020304" pitchFamily="18" charset="0"/>
                <a:cs typeface="Times New Roman" panose="02020603050405020304" pitchFamily="18" charset="0"/>
              </a:rPr>
              <a:t> for generating Sindhi text in the health domain. It fills the gap in digital tools for Sindhi, especially in scientific fields. Using the RAG (Retrieval-Augmented Generation) [6] technique, the system produces accurate and useful content. Data was collected from Sindhi textbooks, newspapers, novels, and web sources. </a:t>
            </a:r>
          </a:p>
          <a:p>
            <a:pPr marL="0" marR="0" lvl="0" indent="0" algn="just">
              <a:spcAft>
                <a:spcPts val="800"/>
              </a:spcAft>
              <a:buSzPts val="1000"/>
              <a:buNone/>
              <a:tabLst>
                <a:tab pos="457200" algn="l"/>
              </a:tabLst>
            </a:pPr>
            <a:r>
              <a:rPr lang="en-US" dirty="0">
                <a:latin typeface="Times New Roman" panose="02020603050405020304" pitchFamily="18" charset="0"/>
                <a:cs typeface="Times New Roman" panose="02020603050405020304" pitchFamily="18" charset="0"/>
              </a:rPr>
              <a:t>This work supports access to health information [7] in the Sindhi language and promotes its digital development.</a:t>
            </a:r>
          </a:p>
        </p:txBody>
      </p:sp>
    </p:spTree>
    <p:extLst>
      <p:ext uri="{BB962C8B-B14F-4D97-AF65-F5344CB8AC3E}">
        <p14:creationId xmlns:p14="http://schemas.microsoft.com/office/powerpoint/2010/main" val="423098683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990600"/>
            <a:ext cx="8079581" cy="165819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Background	</a:t>
            </a:r>
          </a:p>
        </p:txBody>
      </p:sp>
      <p:sp>
        <p:nvSpPr>
          <p:cNvPr id="5" name="Footer Placeholder 4"/>
          <p:cNvSpPr>
            <a:spLocks noGrp="1"/>
          </p:cNvSpPr>
          <p:nvPr>
            <p:ph type="ftr" sz="quarter" idx="1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DEPARTMENT OF Information Technology, SBBU,SBA</a:t>
            </a:r>
          </a:p>
        </p:txBody>
      </p:sp>
      <p:sp>
        <p:nvSpPr>
          <p:cNvPr id="4" name="Slide Number Placeholder 3"/>
          <p:cNvSpPr>
            <a:spLocks noGrp="1"/>
          </p:cNvSpPr>
          <p:nvPr>
            <p:ph type="sldNum" sz="quarter" idx="12"/>
          </p:nvPr>
        </p:nvSpPr>
        <p:spPr>
          <a:xfrm>
            <a:off x="6858000" y="5460961"/>
            <a:ext cx="2194560" cy="1397039"/>
          </a:xfrm>
        </p:spPr>
        <p:txBody>
          <a:bodyPr/>
          <a:lstStyle/>
          <a:p>
            <a:fld id="{D525BB11-F316-475A-8C08-1EE647C41E0C}" type="slidenum">
              <a:rPr lang="en-US" smtClean="0">
                <a:latin typeface="Calibri" panose="020F0502020204030204" pitchFamily="34" charset="0"/>
                <a:ea typeface="Calibri" panose="020F0502020204030204" pitchFamily="34" charset="0"/>
                <a:cs typeface="Calibri" panose="020F0502020204030204" pitchFamily="34" charset="0"/>
              </a:rPr>
              <a:pPr/>
              <a:t>4</a:t>
            </a:fld>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5" name="Content Placeholder 1">
            <a:extLst>
              <a:ext uri="{FF2B5EF4-FFF2-40B4-BE49-F238E27FC236}">
                <a16:creationId xmlns:a16="http://schemas.microsoft.com/office/drawing/2014/main" id="{717C3B9A-AE04-9E89-2A45-322DD556FA40}"/>
              </a:ext>
            </a:extLst>
          </p:cNvPr>
          <p:cNvGraphicFramePr>
            <a:graphicFrameLocks noGrp="1"/>
          </p:cNvGraphicFramePr>
          <p:nvPr>
            <p:ph idx="1"/>
            <p:extLst>
              <p:ext uri="{D42A27DB-BD31-4B8C-83A1-F6EECF244321}">
                <p14:modId xmlns:p14="http://schemas.microsoft.com/office/powerpoint/2010/main" val="2981084300"/>
              </p:ext>
            </p:extLst>
          </p:nvPr>
        </p:nvGraphicFramePr>
        <p:xfrm>
          <a:off x="507206" y="1993393"/>
          <a:ext cx="8065294" cy="3766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58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588C37-1812-12E4-9C98-627B7357112D}"/>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B1CCD5EF-766D-43B9-A25D-19122E5FB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1989682"/>
          </a:xfrm>
          <a:prstGeom prst="rect">
            <a:avLst/>
          </a:prstGeom>
          <a:solidFill>
            <a:schemeClr val="accent1"/>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D9699C9-77F1-4E33-A750-CB78C7EA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646" y="806204"/>
            <a:ext cx="7934706" cy="1664208"/>
          </a:xfrm>
          <a:prstGeom prst="rect">
            <a:avLst/>
          </a:prstGeom>
          <a:noFill/>
          <a:ln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AD82B09-8F1F-2F98-CC3E-81998C533852}"/>
              </a:ext>
            </a:extLst>
          </p:cNvPr>
          <p:cNvSpPr>
            <a:spLocks noGrp="1"/>
          </p:cNvSpPr>
          <p:nvPr>
            <p:ph type="title"/>
          </p:nvPr>
        </p:nvSpPr>
        <p:spPr>
          <a:xfrm>
            <a:off x="803884" y="1059736"/>
            <a:ext cx="7530175" cy="1228130"/>
          </a:xfrm>
        </p:spPr>
        <p:txBody>
          <a:bodyPr vert="horz" lIns="91440" tIns="45720" rIns="91440" bIns="45720" rtlCol="0" anchor="ctr">
            <a:normAutofit/>
          </a:bodyPr>
          <a:lstStyle/>
          <a:p>
            <a:pPr>
              <a:lnSpc>
                <a:spcPct val="85000"/>
              </a:lnSpc>
            </a:pPr>
            <a:r>
              <a:rPr lang="en-US" sz="5400" dirty="0">
                <a:solidFill>
                  <a:srgbClr val="FFFFFF"/>
                </a:solidFill>
                <a:latin typeface="Calibri" panose="020F0502020204030204" pitchFamily="34" charset="0"/>
                <a:ea typeface="Calibri" panose="020F0502020204030204" pitchFamily="34" charset="0"/>
                <a:cs typeface="Calibri" panose="020F0502020204030204" pitchFamily="34" charset="0"/>
              </a:rPr>
              <a:t>Motivation</a:t>
            </a:r>
          </a:p>
        </p:txBody>
      </p:sp>
      <p:sp>
        <p:nvSpPr>
          <p:cNvPr id="5" name="Footer Placeholder 4">
            <a:extLst>
              <a:ext uri="{FF2B5EF4-FFF2-40B4-BE49-F238E27FC236}">
                <a16:creationId xmlns:a16="http://schemas.microsoft.com/office/drawing/2014/main" id="{FE7E560E-2ADC-95B8-5437-34CABD76DFCD}"/>
              </a:ext>
            </a:extLst>
          </p:cNvPr>
          <p:cNvSpPr>
            <a:spLocks noGrp="1"/>
          </p:cNvSpPr>
          <p:nvPr>
            <p:ph type="ftr" sz="quarter" idx="11"/>
          </p:nvPr>
        </p:nvSpPr>
        <p:spPr>
          <a:xfrm>
            <a:off x="514350" y="6554697"/>
            <a:ext cx="3771900" cy="228600"/>
          </a:xfrm>
        </p:spPr>
        <p:txBody>
          <a:bodyPr vert="horz" lIns="91440" tIns="45720" rIns="91440" bIns="45720" rtlCol="0" anchor="ctr">
            <a:normAutofit/>
          </a:bodyPr>
          <a:lstStyle/>
          <a:p>
            <a:pPr>
              <a:lnSpc>
                <a:spcPct val="90000"/>
              </a:lnSpc>
              <a:spcAft>
                <a:spcPts val="600"/>
              </a:spcAft>
            </a:pPr>
            <a:r>
              <a:rPr lang="en-US">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DEPARTMENT OF Information Technology, SBBU,SBA</a:t>
            </a:r>
          </a:p>
        </p:txBody>
      </p:sp>
      <p:sp>
        <p:nvSpPr>
          <p:cNvPr id="4" name="Slide Number Placeholder 3">
            <a:extLst>
              <a:ext uri="{FF2B5EF4-FFF2-40B4-BE49-F238E27FC236}">
                <a16:creationId xmlns:a16="http://schemas.microsoft.com/office/drawing/2014/main" id="{492F71F2-2969-EBCD-1278-12AFA7CA6F66}"/>
              </a:ext>
            </a:extLst>
          </p:cNvPr>
          <p:cNvSpPr>
            <a:spLocks noGrp="1"/>
          </p:cNvSpPr>
          <p:nvPr>
            <p:ph type="sldNum" sz="quarter" idx="12"/>
          </p:nvPr>
        </p:nvSpPr>
        <p:spPr>
          <a:xfrm>
            <a:off x="6781800" y="5566805"/>
            <a:ext cx="2194560" cy="1397039"/>
          </a:xfrm>
        </p:spPr>
        <p:txBody>
          <a:bodyPr vert="horz" lIns="91440" tIns="45720" rIns="91440" bIns="45720" rtlCol="0" anchor="b">
            <a:normAutofit/>
          </a:bodyPr>
          <a:lstStyle/>
          <a:p>
            <a:pPr>
              <a:lnSpc>
                <a:spcPct val="90000"/>
              </a:lnSpc>
              <a:spcAft>
                <a:spcPts val="600"/>
              </a:spcAft>
            </a:pPr>
            <a:fld id="{D525BB11-F316-475A-8C08-1EE647C41E0C}" type="slidenum">
              <a:rPr lang="en-US" sz="9500" b="0" kern="1200" dirty="0">
                <a:ln>
                  <a:noFill/>
                </a:ln>
                <a:solidFill>
                  <a:srgbClr val="00B0F0">
                    <a:alpha val="25000"/>
                  </a:srgb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5</a:t>
            </a:fld>
            <a:endParaRPr lang="en-US" sz="9500" b="0" kern="1200" dirty="0">
              <a:ln>
                <a:noFill/>
              </a:ln>
              <a:solidFill>
                <a:srgbClr val="00B0F0">
                  <a:alpha val="25000"/>
                </a:srgbClr>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1D6DC680-618A-22C6-3B26-8C3CCD42DDE8}"/>
              </a:ext>
            </a:extLst>
          </p:cNvPr>
          <p:cNvSpPr txBox="1"/>
          <p:nvPr/>
        </p:nvSpPr>
        <p:spPr>
          <a:xfrm>
            <a:off x="803884" y="2973313"/>
            <a:ext cx="7530175" cy="2903099"/>
          </a:xfrm>
          <a:prstGeom prst="rect">
            <a:avLst/>
          </a:prstGeom>
        </p:spPr>
        <p:txBody>
          <a:bodyPr vert="horz" lIns="91440" tIns="45720" rIns="91440" bIns="45720" rtlCol="0">
            <a:normAutofit/>
          </a:bodyPr>
          <a:lstStyle/>
          <a:p>
            <a:pPr algn="just" defTabSz="914400">
              <a:lnSpc>
                <a:spcPct val="85000"/>
              </a:lnSpc>
              <a:spcAft>
                <a:spcPts val="600"/>
              </a:spcAft>
            </a:pP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main goal is to advance the use of </a:t>
            </a:r>
            <a:r>
              <a:rPr lang="en-US" b="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Sindhi language in NLP</a:t>
            </a: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 and bridge the gap in education and technology. By creating tools for health, we aim to make Sindhi more accessible in the digital world, allowing speakers to interact with advanced systems. </a:t>
            </a:r>
          </a:p>
          <a:p>
            <a:pPr algn="just" defTabSz="914400">
              <a:lnSpc>
                <a:spcPct val="85000"/>
              </a:lnSpc>
              <a:spcAft>
                <a:spcPts val="600"/>
              </a:spcAft>
            </a:pPr>
            <a:endPar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a:p>
            <a:pPr algn="just" defTabSz="914400">
              <a:lnSpc>
                <a:spcPct val="85000"/>
              </a:lnSpc>
              <a:spcAft>
                <a:spcPts val="600"/>
              </a:spcAft>
            </a:pPr>
            <a:r>
              <a:rPr lang="en-US"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“Our vision is to continuously improve and expand Sindhi’s role in NLP, making it smarter and more relevant for future use”.</a:t>
            </a:r>
          </a:p>
        </p:txBody>
      </p:sp>
    </p:spTree>
    <p:extLst>
      <p:ext uri="{BB962C8B-B14F-4D97-AF65-F5344CB8AC3E}">
        <p14:creationId xmlns:p14="http://schemas.microsoft.com/office/powerpoint/2010/main" val="4119123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F708C1-B149-A08A-2F24-E096DCB31F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DE3C36-B820-0752-9A96-E81D15C38C43}"/>
              </a:ext>
            </a:extLst>
          </p:cNvPr>
          <p:cNvSpPr>
            <a:spLocks noGrp="1"/>
          </p:cNvSpPr>
          <p:nvPr>
            <p:ph type="title"/>
          </p:nvPr>
        </p:nvSpPr>
        <p:spPr>
          <a:xfrm>
            <a:off x="492918" y="499533"/>
            <a:ext cx="8079581" cy="1658198"/>
          </a:xfrm>
        </p:spPr>
        <p:txBody>
          <a:bodyPr vert="horz" lIns="91440" tIns="45720" rIns="91440" bIns="45720" rtlCol="0" anchor="ctr">
            <a:normAutofit/>
          </a:bodyPr>
          <a:lstStyle/>
          <a:p>
            <a:pPr>
              <a:lnSpc>
                <a:spcPct val="85000"/>
              </a:lnSpc>
            </a:pPr>
            <a:r>
              <a:rPr lang="en-US" sz="5400" dirty="0">
                <a:latin typeface="Calibri "/>
                <a:cs typeface="Times New Roman" panose="02020603050405020304" pitchFamily="18" charset="0"/>
              </a:rPr>
              <a:t>Problem Statement</a:t>
            </a:r>
          </a:p>
        </p:txBody>
      </p:sp>
      <p:sp>
        <p:nvSpPr>
          <p:cNvPr id="5" name="Footer Placeholder 4">
            <a:extLst>
              <a:ext uri="{FF2B5EF4-FFF2-40B4-BE49-F238E27FC236}">
                <a16:creationId xmlns:a16="http://schemas.microsoft.com/office/drawing/2014/main" id="{13EEE8B7-AF7C-8240-6976-061695F5D51B}"/>
              </a:ext>
            </a:extLst>
          </p:cNvPr>
          <p:cNvSpPr>
            <a:spLocks noGrp="1"/>
          </p:cNvSpPr>
          <p:nvPr>
            <p:ph type="ftr" sz="quarter" idx="11"/>
          </p:nvPr>
        </p:nvSpPr>
        <p:spPr>
          <a:xfrm>
            <a:off x="514350" y="6554697"/>
            <a:ext cx="3771900" cy="228600"/>
          </a:xfrm>
        </p:spPr>
        <p:txBody>
          <a:bodyPr vert="horz" lIns="91440" tIns="45720" rIns="91440" bIns="45720" rtlCol="0" anchor="ctr">
            <a:normAutofit/>
          </a:bodyPr>
          <a:lstStyle/>
          <a:p>
            <a:pPr>
              <a:lnSpc>
                <a:spcPct val="90000"/>
              </a:lnSpc>
              <a:spcAft>
                <a:spcPts val="600"/>
              </a:spcAft>
            </a:pPr>
            <a:r>
              <a:rPr lang="en-US" kern="1200" cap="all" baseline="0">
                <a:solidFill>
                  <a:schemeClr val="tx1">
                    <a:alpha val="80000"/>
                  </a:schemeClr>
                </a:solidFill>
                <a:latin typeface="Calibri "/>
                <a:cs typeface="Times New Roman" panose="02020603050405020304" pitchFamily="18" charset="0"/>
              </a:rPr>
              <a:t>DEPARTMENT OF Information Technology, SBBU,SBA</a:t>
            </a:r>
          </a:p>
        </p:txBody>
      </p:sp>
      <p:sp>
        <p:nvSpPr>
          <p:cNvPr id="4" name="Slide Number Placeholder 3">
            <a:extLst>
              <a:ext uri="{FF2B5EF4-FFF2-40B4-BE49-F238E27FC236}">
                <a16:creationId xmlns:a16="http://schemas.microsoft.com/office/drawing/2014/main" id="{E0FE8770-0221-471A-0CA0-25C88148289E}"/>
              </a:ext>
            </a:extLst>
          </p:cNvPr>
          <p:cNvSpPr>
            <a:spLocks noGrp="1"/>
          </p:cNvSpPr>
          <p:nvPr>
            <p:ph type="sldNum" sz="quarter" idx="12"/>
          </p:nvPr>
        </p:nvSpPr>
        <p:spPr>
          <a:xfrm>
            <a:off x="6858000" y="5659947"/>
            <a:ext cx="2194560" cy="1397039"/>
          </a:xfrm>
        </p:spPr>
        <p:txBody>
          <a:bodyPr vert="horz" lIns="91440" tIns="45720" rIns="91440" bIns="45720" rtlCol="0" anchor="b">
            <a:normAutofit/>
          </a:bodyPr>
          <a:lstStyle/>
          <a:p>
            <a:pPr>
              <a:lnSpc>
                <a:spcPct val="90000"/>
              </a:lnSpc>
              <a:spcAft>
                <a:spcPts val="600"/>
              </a:spcAft>
            </a:pPr>
            <a:fld id="{D525BB11-F316-475A-8C08-1EE647C41E0C}" type="slidenum">
              <a:rPr lang="en-US" sz="9500" smtClean="0">
                <a:solidFill>
                  <a:srgbClr val="00B0F0">
                    <a:alpha val="25000"/>
                  </a:srgbClr>
                </a:solidFill>
                <a:latin typeface="Calibri "/>
                <a:cs typeface="Times New Roman" panose="02020603050405020304" pitchFamily="18" charset="0"/>
              </a:rPr>
              <a:pPr>
                <a:lnSpc>
                  <a:spcPct val="90000"/>
                </a:lnSpc>
                <a:spcAft>
                  <a:spcPts val="600"/>
                </a:spcAft>
              </a:pPr>
              <a:t>6</a:t>
            </a:fld>
            <a:endParaRPr lang="en-US" sz="9500" dirty="0">
              <a:solidFill>
                <a:srgbClr val="00B0F0">
                  <a:alpha val="25000"/>
                </a:srgbClr>
              </a:solidFill>
              <a:latin typeface="Calibri "/>
              <a:cs typeface="Times New Roman" panose="02020603050405020304" pitchFamily="18" charset="0"/>
            </a:endParaRPr>
          </a:p>
        </p:txBody>
      </p:sp>
      <p:graphicFrame>
        <p:nvGraphicFramePr>
          <p:cNvPr id="17" name="TextBox 8">
            <a:extLst>
              <a:ext uri="{FF2B5EF4-FFF2-40B4-BE49-F238E27FC236}">
                <a16:creationId xmlns:a16="http://schemas.microsoft.com/office/drawing/2014/main" id="{F37029D6-9DE7-D583-C15D-C7B545F58344}"/>
              </a:ext>
            </a:extLst>
          </p:cNvPr>
          <p:cNvGraphicFramePr/>
          <p:nvPr>
            <p:extLst>
              <p:ext uri="{D42A27DB-BD31-4B8C-83A1-F6EECF244321}">
                <p14:modId xmlns:p14="http://schemas.microsoft.com/office/powerpoint/2010/main" val="3102223492"/>
              </p:ext>
            </p:extLst>
          </p:nvPr>
        </p:nvGraphicFramePr>
        <p:xfrm>
          <a:off x="516065" y="1905000"/>
          <a:ext cx="8065294"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8557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2919" y="-152400"/>
            <a:ext cx="8079581" cy="1658198"/>
          </a:xfrm>
        </p:spPr>
        <p:txBody>
          <a:bodyPr>
            <a:normAutofit/>
          </a:bodyPr>
          <a:lstStyle/>
          <a:p>
            <a:r>
              <a:rPr lang="en-US" dirty="0">
                <a:latin typeface="Calibri "/>
                <a:cs typeface="Times New Roman" panose="02020603050405020304" pitchFamily="18" charset="0"/>
              </a:rPr>
              <a:t>Relevant Work / Literature Review</a:t>
            </a:r>
          </a:p>
        </p:txBody>
      </p:sp>
      <p:sp>
        <p:nvSpPr>
          <p:cNvPr id="6" name="Footer Placeholder 5"/>
          <p:cNvSpPr>
            <a:spLocks noGrp="1"/>
          </p:cNvSpPr>
          <p:nvPr>
            <p:ph type="ftr" sz="quarter" idx="11"/>
          </p:nvPr>
        </p:nvSpPr>
        <p:spPr/>
        <p:txBody>
          <a:bodyPr/>
          <a:lstStyle/>
          <a:p>
            <a:r>
              <a:rPr lang="en-US" dirty="0">
                <a:latin typeface="Calibri "/>
                <a:cs typeface="Times New Roman" panose="02020603050405020304" pitchFamily="18" charset="0"/>
              </a:rPr>
              <a:t>DEPARTMENT OF Information Technology, SBBU,SBA</a:t>
            </a:r>
          </a:p>
        </p:txBody>
      </p:sp>
      <p:sp>
        <p:nvSpPr>
          <p:cNvPr id="4" name="Slide Number Placeholder 3"/>
          <p:cNvSpPr>
            <a:spLocks noGrp="1"/>
          </p:cNvSpPr>
          <p:nvPr>
            <p:ph type="sldNum" sz="quarter" idx="12"/>
          </p:nvPr>
        </p:nvSpPr>
        <p:spPr>
          <a:xfrm>
            <a:off x="6733950" y="5580802"/>
            <a:ext cx="2194560" cy="1397039"/>
          </a:xfrm>
        </p:spPr>
        <p:txBody>
          <a:bodyPr/>
          <a:lstStyle/>
          <a:p>
            <a:fld id="{D525BB11-F316-475A-8C08-1EE647C41E0C}" type="slidenum">
              <a:rPr lang="en-US" smtClean="0">
                <a:solidFill>
                  <a:srgbClr val="00B0F0">
                    <a:alpha val="20000"/>
                  </a:srgbClr>
                </a:solidFill>
                <a:latin typeface="Calibri "/>
                <a:cs typeface="Times New Roman" panose="02020603050405020304" pitchFamily="18" charset="0"/>
              </a:rPr>
              <a:pPr/>
              <a:t>7</a:t>
            </a:fld>
            <a:endParaRPr lang="en-US" dirty="0">
              <a:solidFill>
                <a:srgbClr val="00B0F0">
                  <a:alpha val="20000"/>
                </a:srgbClr>
              </a:solidFill>
              <a:latin typeface="Calibri "/>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1FD3009-2645-7073-FBD1-4F301DC1C7BE}"/>
              </a:ext>
            </a:extLst>
          </p:cNvPr>
          <p:cNvGraphicFramePr>
            <a:graphicFrameLocks noGrp="1"/>
          </p:cNvGraphicFramePr>
          <p:nvPr>
            <p:extLst>
              <p:ext uri="{D42A27DB-BD31-4B8C-83A1-F6EECF244321}">
                <p14:modId xmlns:p14="http://schemas.microsoft.com/office/powerpoint/2010/main" val="3633334409"/>
              </p:ext>
            </p:extLst>
          </p:nvPr>
        </p:nvGraphicFramePr>
        <p:xfrm>
          <a:off x="260678" y="1676400"/>
          <a:ext cx="8622644" cy="3949876"/>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1576563164"/>
                    </a:ext>
                  </a:extLst>
                </a:gridCol>
                <a:gridCol w="2819400">
                  <a:extLst>
                    <a:ext uri="{9D8B030D-6E8A-4147-A177-3AD203B41FA5}">
                      <a16:colId xmlns:a16="http://schemas.microsoft.com/office/drawing/2014/main" val="791361203"/>
                    </a:ext>
                  </a:extLst>
                </a:gridCol>
                <a:gridCol w="2961783">
                  <a:extLst>
                    <a:ext uri="{9D8B030D-6E8A-4147-A177-3AD203B41FA5}">
                      <a16:colId xmlns:a16="http://schemas.microsoft.com/office/drawing/2014/main" val="1958867581"/>
                    </a:ext>
                  </a:extLst>
                </a:gridCol>
                <a:gridCol w="2155661">
                  <a:extLst>
                    <a:ext uri="{9D8B030D-6E8A-4147-A177-3AD203B41FA5}">
                      <a16:colId xmlns:a16="http://schemas.microsoft.com/office/drawing/2014/main" val="4203694399"/>
                    </a:ext>
                  </a:extLst>
                </a:gridCol>
              </a:tblGrid>
              <a:tr h="276118">
                <a:tc>
                  <a:txBody>
                    <a:bodyPr/>
                    <a:lstStyle/>
                    <a:p>
                      <a:pPr marL="0" indent="0" algn="ctr">
                        <a:buFontTx/>
                        <a:buNone/>
                      </a:pPr>
                      <a:r>
                        <a:rPr lang="en-US" sz="1600" dirty="0">
                          <a:solidFill>
                            <a:schemeClr val="tx1"/>
                          </a:solidFill>
                        </a:rPr>
                        <a:t>Ref</a:t>
                      </a:r>
                    </a:p>
                  </a:txBody>
                  <a:tcPr/>
                </a:tc>
                <a:tc>
                  <a:txBody>
                    <a:bodyPr/>
                    <a:lstStyle/>
                    <a:p>
                      <a:pPr marL="0" indent="0" algn="ctr">
                        <a:buFontTx/>
                        <a:buNone/>
                      </a:pPr>
                      <a:r>
                        <a:rPr lang="en-US" sz="1600" dirty="0">
                          <a:solidFill>
                            <a:schemeClr val="tx1"/>
                          </a:solidFill>
                        </a:rPr>
                        <a:t>Title</a:t>
                      </a:r>
                    </a:p>
                  </a:txBody>
                  <a:tcPr/>
                </a:tc>
                <a:tc>
                  <a:txBody>
                    <a:bodyPr/>
                    <a:lstStyle/>
                    <a:p>
                      <a:pPr marL="0" indent="0" algn="ctr">
                        <a:buFontTx/>
                        <a:buNone/>
                      </a:pPr>
                      <a:r>
                        <a:rPr lang="en-US" sz="1600" dirty="0">
                          <a:solidFill>
                            <a:schemeClr val="tx1"/>
                          </a:solidFill>
                        </a:rPr>
                        <a:t>Summary</a:t>
                      </a:r>
                    </a:p>
                  </a:txBody>
                  <a:tcPr/>
                </a:tc>
                <a:tc>
                  <a:txBody>
                    <a:bodyPr/>
                    <a:lstStyle/>
                    <a:p>
                      <a:pPr marL="0" indent="0" algn="ctr">
                        <a:buFontTx/>
                        <a:buNone/>
                      </a:pPr>
                      <a:r>
                        <a:rPr lang="en-US" sz="1600" dirty="0">
                          <a:solidFill>
                            <a:schemeClr val="tx1"/>
                          </a:solidFill>
                        </a:rPr>
                        <a:t>Remarks</a:t>
                      </a:r>
                    </a:p>
                  </a:txBody>
                  <a:tcPr/>
                </a:tc>
                <a:extLst>
                  <a:ext uri="{0D108BD9-81ED-4DB2-BD59-A6C34878D82A}">
                    <a16:rowId xmlns:a16="http://schemas.microsoft.com/office/drawing/2014/main" val="1161022943"/>
                  </a:ext>
                </a:extLst>
              </a:tr>
              <a:tr h="921005">
                <a:tc>
                  <a:txBody>
                    <a:bodyPr/>
                    <a:lstStyle/>
                    <a:p>
                      <a:pPr marL="0" indent="0" algn="ctr">
                        <a:buFontTx/>
                        <a:buNone/>
                      </a:pPr>
                      <a:r>
                        <a:rPr lang="en-US" sz="1600" dirty="0">
                          <a:solidFill>
                            <a:schemeClr val="tx1"/>
                          </a:solidFill>
                        </a:rPr>
                        <a:t>[1]</a:t>
                      </a:r>
                    </a:p>
                  </a:txBody>
                  <a:tcPr/>
                </a:tc>
                <a:tc>
                  <a:txBody>
                    <a:bodyPr/>
                    <a:lstStyle/>
                    <a:p>
                      <a:pPr marL="0" indent="0" algn="ctr">
                        <a:buFontTx/>
                        <a:buNone/>
                      </a:pPr>
                      <a:r>
                        <a:rPr lang="en-US" sz="1600" dirty="0"/>
                        <a:t>Sindhi Language Processing on Online </a:t>
                      </a:r>
                      <a:r>
                        <a:rPr lang="en-US" sz="1600" dirty="0" err="1"/>
                        <a:t>SindhiNLP</a:t>
                      </a:r>
                      <a:r>
                        <a:rPr lang="en-US" sz="1600" dirty="0"/>
                        <a:t> Tool</a:t>
                      </a:r>
                      <a:endParaRPr lang="en-US" sz="1600" dirty="0">
                        <a:solidFill>
                          <a:schemeClr val="tx1"/>
                        </a:solidFill>
                      </a:endParaRPr>
                    </a:p>
                  </a:txBody>
                  <a:tcPr/>
                </a:tc>
                <a:tc>
                  <a:txBody>
                    <a:bodyPr/>
                    <a:lstStyle/>
                    <a:p>
                      <a:pPr marL="0" indent="0" algn="ctr">
                        <a:buFontTx/>
                        <a:buNone/>
                      </a:pPr>
                      <a:r>
                        <a:rPr lang="en-US" sz="1600" dirty="0">
                          <a:solidFill>
                            <a:schemeClr val="tx1"/>
                          </a:solidFill>
                        </a:rPr>
                        <a:t>D</a:t>
                      </a:r>
                      <a:r>
                        <a:rPr lang="en-US" sz="1600" dirty="0"/>
                        <a:t>escribes the </a:t>
                      </a:r>
                      <a:r>
                        <a:rPr lang="en-US" sz="1600" dirty="0" err="1"/>
                        <a:t>SindhiNLP</a:t>
                      </a:r>
                      <a:r>
                        <a:rPr lang="en-US" sz="1600" dirty="0"/>
                        <a:t> tool and its functionalities for various NLP tasks in Sindhi, such as lemma, stemming, POS tagging.</a:t>
                      </a:r>
                      <a:endParaRPr lang="en-US" sz="1600" dirty="0">
                        <a:solidFill>
                          <a:schemeClr val="tx1"/>
                        </a:solidFill>
                      </a:endParaRPr>
                    </a:p>
                  </a:txBody>
                  <a:tcPr/>
                </a:tc>
                <a:tc>
                  <a:txBody>
                    <a:bodyPr/>
                    <a:lstStyle/>
                    <a:p>
                      <a:pPr marL="0" indent="0" algn="ctr">
                        <a:buFontTx/>
                        <a:buNone/>
                      </a:pPr>
                      <a:r>
                        <a:rPr lang="en-US" sz="1600" dirty="0"/>
                        <a:t>Sindhi NLP tool.</a:t>
                      </a:r>
                      <a:endParaRPr lang="en-US" sz="1600" dirty="0">
                        <a:solidFill>
                          <a:schemeClr val="tx1"/>
                        </a:solidFill>
                      </a:endParaRPr>
                    </a:p>
                  </a:txBody>
                  <a:tcPr/>
                </a:tc>
                <a:extLst>
                  <a:ext uri="{0D108BD9-81ED-4DB2-BD59-A6C34878D82A}">
                    <a16:rowId xmlns:a16="http://schemas.microsoft.com/office/drawing/2014/main" val="1856516911"/>
                  </a:ext>
                </a:extLst>
              </a:tr>
              <a:tr h="10556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[2]</a:t>
                      </a:r>
                    </a:p>
                  </a:txBody>
                  <a:tcPr/>
                </a:tc>
                <a:tc>
                  <a:txBody>
                    <a:bodyPr/>
                    <a:lstStyle/>
                    <a:p>
                      <a:pPr marL="0" indent="0" algn="ctr">
                        <a:buFontTx/>
                        <a:buNone/>
                      </a:pPr>
                      <a:r>
                        <a:rPr lang="en-US" sz="1600" dirty="0"/>
                        <a:t>Word Embedding based New Corpus for Low-resourced Language: Sindhi</a:t>
                      </a:r>
                      <a:endParaRPr lang="en-US" sz="1600" dirty="0">
                        <a:solidFill>
                          <a:schemeClr val="tx1"/>
                        </a:solidFill>
                      </a:endParaRPr>
                    </a:p>
                  </a:txBody>
                  <a:tcPr/>
                </a:tc>
                <a:tc>
                  <a:txBody>
                    <a:bodyPr/>
                    <a:lstStyle/>
                    <a:p>
                      <a:pPr marL="0" indent="0" algn="ctr">
                        <a:buFontTx/>
                        <a:buNone/>
                      </a:pPr>
                      <a:r>
                        <a:rPr lang="en-US" sz="1600" dirty="0"/>
                        <a:t>Develops a large corpus for Sindhi language and trains word embeddings, evaluating them and comparing with Sindhi </a:t>
                      </a:r>
                      <a:r>
                        <a:rPr lang="en-US" sz="1600" dirty="0" err="1"/>
                        <a:t>fastText</a:t>
                      </a:r>
                      <a:r>
                        <a:rPr lang="en-US" sz="1600" dirty="0"/>
                        <a:t>.</a:t>
                      </a:r>
                      <a:endParaRPr lang="en-US" sz="1600" dirty="0">
                        <a:solidFill>
                          <a:schemeClr val="tx1"/>
                        </a:solidFill>
                      </a:endParaRPr>
                    </a:p>
                  </a:txBody>
                  <a:tcPr/>
                </a:tc>
                <a:tc>
                  <a:txBody>
                    <a:bodyPr/>
                    <a:lstStyle/>
                    <a:p>
                      <a:pPr marL="0" indent="0" algn="ctr">
                        <a:buFontTx/>
                        <a:buNone/>
                      </a:pPr>
                      <a:r>
                        <a:rPr lang="en-US" sz="1600" dirty="0"/>
                        <a:t>Sindhi language corpus and word embeddings.</a:t>
                      </a:r>
                      <a:endParaRPr lang="en-US" sz="1600" dirty="0">
                        <a:solidFill>
                          <a:schemeClr val="tx1"/>
                        </a:solidFill>
                      </a:endParaRPr>
                    </a:p>
                  </a:txBody>
                  <a:tcPr/>
                </a:tc>
                <a:extLst>
                  <a:ext uri="{0D108BD9-81ED-4DB2-BD59-A6C34878D82A}">
                    <a16:rowId xmlns:a16="http://schemas.microsoft.com/office/drawing/2014/main" val="384154021"/>
                  </a:ext>
                </a:extLst>
              </a:tr>
              <a:tr h="14809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[3]</a:t>
                      </a:r>
                    </a:p>
                  </a:txBody>
                  <a:tcPr/>
                </a:tc>
                <a:tc>
                  <a:txBody>
                    <a:bodyPr/>
                    <a:lstStyle/>
                    <a:p>
                      <a:pPr marL="0" indent="0" algn="ctr">
                        <a:buFontTx/>
                        <a:buNone/>
                      </a:pPr>
                      <a:r>
                        <a:rPr lang="en-US" sz="1600" dirty="0" err="1"/>
                        <a:t>SiNER</a:t>
                      </a:r>
                      <a:r>
                        <a:rPr lang="en-US" sz="1600" dirty="0"/>
                        <a:t>: A Large Dataset for Sindhi Named Entity Recognition</a:t>
                      </a:r>
                      <a:endParaRPr lang="en-US" sz="1600" dirty="0">
                        <a:solidFill>
                          <a:schemeClr val="tx1"/>
                        </a:solidFill>
                      </a:endParaRPr>
                    </a:p>
                  </a:txBody>
                  <a:tcPr/>
                </a:tc>
                <a:tc>
                  <a:txBody>
                    <a:bodyPr/>
                    <a:lstStyle/>
                    <a:p>
                      <a:pPr marL="0" indent="0" algn="ctr">
                        <a:buFontTx/>
                        <a:buNone/>
                      </a:pPr>
                      <a:r>
                        <a:rPr lang="en-US" sz="1600" dirty="0"/>
                        <a:t>Introduces a new dataset for Sindhi Named Entity Recognition with quality baselines using CRF and Bi-LSTM models.</a:t>
                      </a:r>
                      <a:endParaRPr lang="en-US" sz="1600" dirty="0">
                        <a:solidFill>
                          <a:schemeClr val="tx1"/>
                        </a:solidFill>
                      </a:endParaRPr>
                    </a:p>
                  </a:txBody>
                  <a:tcPr/>
                </a:tc>
                <a:tc>
                  <a:txBody>
                    <a:bodyPr/>
                    <a:lstStyle/>
                    <a:p>
                      <a:pPr marL="0" indent="0" algn="ctr">
                        <a:buFontTx/>
                        <a:buNone/>
                      </a:pPr>
                      <a:r>
                        <a:rPr lang="en-US" sz="1600" dirty="0"/>
                        <a:t>Sindhi NER dataset.</a:t>
                      </a:r>
                      <a:endParaRPr lang="en-US" sz="1600" dirty="0">
                        <a:solidFill>
                          <a:schemeClr val="tx1"/>
                        </a:solidFill>
                      </a:endParaRPr>
                    </a:p>
                  </a:txBody>
                  <a:tcPr/>
                </a:tc>
                <a:extLst>
                  <a:ext uri="{0D108BD9-81ED-4DB2-BD59-A6C34878D82A}">
                    <a16:rowId xmlns:a16="http://schemas.microsoft.com/office/drawing/2014/main" val="3933387847"/>
                  </a:ext>
                </a:extLst>
              </a:tr>
            </a:tbl>
          </a:graphicData>
        </a:graphic>
      </p:graphicFrame>
    </p:spTree>
    <p:extLst>
      <p:ext uri="{BB962C8B-B14F-4D97-AF65-F5344CB8AC3E}">
        <p14:creationId xmlns:p14="http://schemas.microsoft.com/office/powerpoint/2010/main" val="940487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8950" y="-125467"/>
            <a:ext cx="8079581" cy="1658198"/>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Aim and Objectives</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Footer Placeholder 4"/>
          <p:cNvSpPr>
            <a:spLocks noGrp="1"/>
          </p:cNvSpPr>
          <p:nvPr>
            <p:ph type="ftr" sz="quarter" idx="11"/>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DEPARTMENT OF Information Technology, SBBU,SBA</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a:xfrm>
            <a:off x="6781800" y="5634229"/>
            <a:ext cx="2194560" cy="1397039"/>
          </a:xfrm>
        </p:spPr>
        <p:txBody>
          <a:bodyPr/>
          <a:lstStyle/>
          <a:p>
            <a:fld id="{D525BB11-F316-475A-8C08-1EE647C41E0C}" type="slidenum">
              <a:rPr lang="en-US" smtClean="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rPr>
              <a:pPr/>
              <a:t>8</a:t>
            </a:fld>
            <a:endParaRPr lang="en-US" dirty="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5" name="TextBox 12">
            <a:extLst>
              <a:ext uri="{FF2B5EF4-FFF2-40B4-BE49-F238E27FC236}">
                <a16:creationId xmlns:a16="http://schemas.microsoft.com/office/drawing/2014/main" id="{CF1443D2-4DCA-303A-D446-BB1BBB9CB426}"/>
              </a:ext>
            </a:extLst>
          </p:cNvPr>
          <p:cNvGraphicFramePr/>
          <p:nvPr>
            <p:extLst>
              <p:ext uri="{D42A27DB-BD31-4B8C-83A1-F6EECF244321}">
                <p14:modId xmlns:p14="http://schemas.microsoft.com/office/powerpoint/2010/main" val="774692379"/>
              </p:ext>
            </p:extLst>
          </p:nvPr>
        </p:nvGraphicFramePr>
        <p:xfrm>
          <a:off x="488950" y="1295400"/>
          <a:ext cx="8487410"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9120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latin typeface="Calibri "/>
                <a:cs typeface="Times New Roman" panose="02020603050405020304" pitchFamily="18" charset="0"/>
              </a:rPr>
              <a:t>DEPARTMENT OF Information Technology, SBBU,SBA</a:t>
            </a:r>
          </a:p>
        </p:txBody>
      </p:sp>
      <p:sp>
        <p:nvSpPr>
          <p:cNvPr id="4" name="Slide Number Placeholder 3"/>
          <p:cNvSpPr>
            <a:spLocks noGrp="1"/>
          </p:cNvSpPr>
          <p:nvPr>
            <p:ph type="sldNum" sz="quarter" idx="12"/>
          </p:nvPr>
        </p:nvSpPr>
        <p:spPr>
          <a:xfrm>
            <a:off x="7101840" y="5715000"/>
            <a:ext cx="2194560" cy="1397039"/>
          </a:xfrm>
        </p:spPr>
        <p:txBody>
          <a:bodyPr/>
          <a:lstStyle/>
          <a:p>
            <a:fld id="{D525BB11-F316-475A-8C08-1EE647C41E0C}" type="slidenum">
              <a:rPr lang="en-US" smtClean="0">
                <a:solidFill>
                  <a:srgbClr val="00B0F0">
                    <a:alpha val="20000"/>
                  </a:srgbClr>
                </a:solidFill>
                <a:latin typeface="Calibri "/>
                <a:cs typeface="Times New Roman" panose="02020603050405020304" pitchFamily="18" charset="0"/>
              </a:rPr>
              <a:pPr/>
              <a:t>9</a:t>
            </a:fld>
            <a:endParaRPr lang="en-US" dirty="0">
              <a:solidFill>
                <a:srgbClr val="00B0F0">
                  <a:alpha val="20000"/>
                </a:srgbClr>
              </a:solidFill>
              <a:latin typeface="Calibri "/>
              <a:cs typeface="Times New Roman" panose="02020603050405020304" pitchFamily="18" charset="0"/>
            </a:endParaRPr>
          </a:p>
        </p:txBody>
      </p:sp>
      <p:sp>
        <p:nvSpPr>
          <p:cNvPr id="6" name="Rectangle 5">
            <a:extLst>
              <a:ext uri="{FF2B5EF4-FFF2-40B4-BE49-F238E27FC236}">
                <a16:creationId xmlns:a16="http://schemas.microsoft.com/office/drawing/2014/main" id="{94F4441D-A31E-EDFF-E5A9-1C84B6CCD3A9}"/>
              </a:ext>
            </a:extLst>
          </p:cNvPr>
          <p:cNvSpPr/>
          <p:nvPr/>
        </p:nvSpPr>
        <p:spPr>
          <a:xfrm>
            <a:off x="7589874" y="5893324"/>
            <a:ext cx="1115753" cy="266252"/>
          </a:xfrm>
          <a:prstGeom prst="rect">
            <a:avLst/>
          </a:prstGeom>
          <a:solidFill>
            <a:srgbClr val="FFFFF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sp>
        <p:nvSpPr>
          <p:cNvPr id="7" name="Rectangle 6">
            <a:extLst>
              <a:ext uri="{FF2B5EF4-FFF2-40B4-BE49-F238E27FC236}">
                <a16:creationId xmlns:a16="http://schemas.microsoft.com/office/drawing/2014/main" id="{0092958D-6AF8-2B74-9BA6-61D4C55D30C8}"/>
              </a:ext>
            </a:extLst>
          </p:cNvPr>
          <p:cNvSpPr/>
          <p:nvPr/>
        </p:nvSpPr>
        <p:spPr>
          <a:xfrm>
            <a:off x="7391400" y="2819400"/>
            <a:ext cx="457200" cy="152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sp>
        <p:nvSpPr>
          <p:cNvPr id="8" name="Rectangle 7">
            <a:extLst>
              <a:ext uri="{FF2B5EF4-FFF2-40B4-BE49-F238E27FC236}">
                <a16:creationId xmlns:a16="http://schemas.microsoft.com/office/drawing/2014/main" id="{93BEED98-6E51-525E-131C-FC854149ED2C}"/>
              </a:ext>
            </a:extLst>
          </p:cNvPr>
          <p:cNvSpPr/>
          <p:nvPr/>
        </p:nvSpPr>
        <p:spPr>
          <a:xfrm>
            <a:off x="7664451" y="2730865"/>
            <a:ext cx="876300" cy="2155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
            </a:endParaRPr>
          </a:p>
        </p:txBody>
      </p:sp>
      <p:sp>
        <p:nvSpPr>
          <p:cNvPr id="2" name="Rectangle 1">
            <a:extLst>
              <a:ext uri="{FF2B5EF4-FFF2-40B4-BE49-F238E27FC236}">
                <a16:creationId xmlns:a16="http://schemas.microsoft.com/office/drawing/2014/main" id="{E5C1E49B-BB8F-5667-B44F-2B27A1F826AA}"/>
              </a:ext>
            </a:extLst>
          </p:cNvPr>
          <p:cNvSpPr/>
          <p:nvPr/>
        </p:nvSpPr>
        <p:spPr>
          <a:xfrm>
            <a:off x="7315200" y="3505200"/>
            <a:ext cx="1447800" cy="2155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498AD2DE-E3C8-70AF-E380-39030F060B66}"/>
                  </a:ext>
                </a:extLst>
              </p14:cNvPr>
              <p14:cNvContentPartPr/>
              <p14:nvPr/>
            </p14:nvContentPartPr>
            <p14:xfrm>
              <a:off x="1304785" y="3816090"/>
              <a:ext cx="577800" cy="343080"/>
            </p14:xfrm>
          </p:contentPart>
        </mc:Choice>
        <mc:Fallback xmlns="">
          <p:pic>
            <p:nvPicPr>
              <p:cNvPr id="9" name="Ink 8">
                <a:extLst>
                  <a:ext uri="{FF2B5EF4-FFF2-40B4-BE49-F238E27FC236}">
                    <a16:creationId xmlns:a16="http://schemas.microsoft.com/office/drawing/2014/main" id="{498AD2DE-E3C8-70AF-E380-39030F060B66}"/>
                  </a:ext>
                </a:extLst>
              </p:cNvPr>
              <p:cNvPicPr/>
              <p:nvPr/>
            </p:nvPicPr>
            <p:blipFill>
              <a:blip r:embed="rId4"/>
              <a:stretch>
                <a:fillRect/>
              </a:stretch>
            </p:blipFill>
            <p:spPr>
              <a:xfrm>
                <a:off x="1250785" y="3708450"/>
                <a:ext cx="68544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6395BD07-BE64-514D-88C4-2BF73C3E21D0}"/>
                  </a:ext>
                </a:extLst>
              </p14:cNvPr>
              <p14:cNvContentPartPr/>
              <p14:nvPr/>
            </p14:nvContentPartPr>
            <p14:xfrm>
              <a:off x="1607185" y="4031370"/>
              <a:ext cx="576360" cy="30240"/>
            </p14:xfrm>
          </p:contentPart>
        </mc:Choice>
        <mc:Fallback xmlns="">
          <p:pic>
            <p:nvPicPr>
              <p:cNvPr id="10" name="Ink 9">
                <a:extLst>
                  <a:ext uri="{FF2B5EF4-FFF2-40B4-BE49-F238E27FC236}">
                    <a16:creationId xmlns:a16="http://schemas.microsoft.com/office/drawing/2014/main" id="{6395BD07-BE64-514D-88C4-2BF73C3E21D0}"/>
                  </a:ext>
                </a:extLst>
              </p:cNvPr>
              <p:cNvPicPr/>
              <p:nvPr/>
            </p:nvPicPr>
            <p:blipFill>
              <a:blip r:embed="rId6"/>
              <a:stretch>
                <a:fillRect/>
              </a:stretch>
            </p:blipFill>
            <p:spPr>
              <a:xfrm>
                <a:off x="1553185" y="3923370"/>
                <a:ext cx="68400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811F6D0B-A538-73D3-11F2-826443E7CD64}"/>
                  </a:ext>
                </a:extLst>
              </p14:cNvPr>
              <p14:cNvContentPartPr/>
              <p14:nvPr/>
            </p14:nvContentPartPr>
            <p14:xfrm>
              <a:off x="1606465" y="4060530"/>
              <a:ext cx="204840" cy="16200"/>
            </p14:xfrm>
          </p:contentPart>
        </mc:Choice>
        <mc:Fallback xmlns="">
          <p:pic>
            <p:nvPicPr>
              <p:cNvPr id="11" name="Ink 10">
                <a:extLst>
                  <a:ext uri="{FF2B5EF4-FFF2-40B4-BE49-F238E27FC236}">
                    <a16:creationId xmlns:a16="http://schemas.microsoft.com/office/drawing/2014/main" id="{811F6D0B-A538-73D3-11F2-826443E7CD64}"/>
                  </a:ext>
                </a:extLst>
              </p:cNvPr>
              <p:cNvPicPr/>
              <p:nvPr/>
            </p:nvPicPr>
            <p:blipFill>
              <a:blip r:embed="rId8"/>
              <a:stretch>
                <a:fillRect/>
              </a:stretch>
            </p:blipFill>
            <p:spPr>
              <a:xfrm>
                <a:off x="1552465" y="3952890"/>
                <a:ext cx="3124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19CDE87C-EBF2-6932-821C-EF51EC9D8AAF}"/>
                  </a:ext>
                </a:extLst>
              </p14:cNvPr>
              <p14:cNvContentPartPr/>
              <p14:nvPr/>
            </p14:nvContentPartPr>
            <p14:xfrm>
              <a:off x="1812745" y="4076370"/>
              <a:ext cx="360" cy="360"/>
            </p14:xfrm>
          </p:contentPart>
        </mc:Choice>
        <mc:Fallback xmlns="">
          <p:pic>
            <p:nvPicPr>
              <p:cNvPr id="12" name="Ink 11">
                <a:extLst>
                  <a:ext uri="{FF2B5EF4-FFF2-40B4-BE49-F238E27FC236}">
                    <a16:creationId xmlns:a16="http://schemas.microsoft.com/office/drawing/2014/main" id="{19CDE87C-EBF2-6932-821C-EF51EC9D8AAF}"/>
                  </a:ext>
                </a:extLst>
              </p:cNvPr>
              <p:cNvPicPr/>
              <p:nvPr/>
            </p:nvPicPr>
            <p:blipFill>
              <a:blip r:embed="rId10"/>
              <a:stretch>
                <a:fillRect/>
              </a:stretch>
            </p:blipFill>
            <p:spPr>
              <a:xfrm>
                <a:off x="1759105" y="396873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E2906AB8-AC65-7A3E-B350-0F03625C4D41}"/>
                  </a:ext>
                </a:extLst>
              </p14:cNvPr>
              <p14:cNvContentPartPr/>
              <p14:nvPr/>
            </p14:nvContentPartPr>
            <p14:xfrm>
              <a:off x="2060425" y="4117770"/>
              <a:ext cx="360" cy="360"/>
            </p14:xfrm>
          </p:contentPart>
        </mc:Choice>
        <mc:Fallback xmlns="">
          <p:pic>
            <p:nvPicPr>
              <p:cNvPr id="13" name="Ink 12">
                <a:extLst>
                  <a:ext uri="{FF2B5EF4-FFF2-40B4-BE49-F238E27FC236}">
                    <a16:creationId xmlns:a16="http://schemas.microsoft.com/office/drawing/2014/main" id="{E2906AB8-AC65-7A3E-B350-0F03625C4D41}"/>
                  </a:ext>
                </a:extLst>
              </p:cNvPr>
              <p:cNvPicPr/>
              <p:nvPr/>
            </p:nvPicPr>
            <p:blipFill>
              <a:blip r:embed="rId10"/>
              <a:stretch>
                <a:fillRect/>
              </a:stretch>
            </p:blipFill>
            <p:spPr>
              <a:xfrm>
                <a:off x="2006425" y="4009770"/>
                <a:ext cx="108000" cy="216000"/>
              </a:xfrm>
              <a:prstGeom prst="rect">
                <a:avLst/>
              </a:prstGeom>
            </p:spPr>
          </p:pic>
        </mc:Fallback>
      </mc:AlternateContent>
      <p:sp>
        <p:nvSpPr>
          <p:cNvPr id="14" name="Rectangle 13">
            <a:extLst>
              <a:ext uri="{FF2B5EF4-FFF2-40B4-BE49-F238E27FC236}">
                <a16:creationId xmlns:a16="http://schemas.microsoft.com/office/drawing/2014/main" id="{39586EF8-0A71-4215-66A5-0A09988E3413}"/>
              </a:ext>
            </a:extLst>
          </p:cNvPr>
          <p:cNvSpPr/>
          <p:nvPr/>
        </p:nvSpPr>
        <p:spPr>
          <a:xfrm>
            <a:off x="1066800" y="4459226"/>
            <a:ext cx="744505" cy="1127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sp>
        <p:nvSpPr>
          <p:cNvPr id="16" name="TextBox 15">
            <a:extLst>
              <a:ext uri="{FF2B5EF4-FFF2-40B4-BE49-F238E27FC236}">
                <a16:creationId xmlns:a16="http://schemas.microsoft.com/office/drawing/2014/main" id="{5C55B6D7-D5CD-AE4F-B07C-C8CAAB3EC2BD}"/>
              </a:ext>
            </a:extLst>
          </p:cNvPr>
          <p:cNvSpPr txBox="1"/>
          <p:nvPr/>
        </p:nvSpPr>
        <p:spPr>
          <a:xfrm>
            <a:off x="1746249" y="76200"/>
            <a:ext cx="5264151" cy="830997"/>
          </a:xfrm>
          <a:prstGeom prst="rect">
            <a:avLst/>
          </a:prstGeom>
          <a:noFill/>
        </p:spPr>
        <p:txBody>
          <a:bodyPr wrap="square" rtlCol="0">
            <a:spAutoFit/>
          </a:bodyPr>
          <a:lstStyle/>
          <a:p>
            <a:pPr algn="ctr"/>
            <a:r>
              <a:rPr lang="en-US" sz="2400" b="1" dirty="0">
                <a:latin typeface="Calibri "/>
                <a:cs typeface="Times New Roman" panose="02020603050405020304" pitchFamily="18" charset="0"/>
              </a:rPr>
              <a:t>End-to-End Methodology for the Sindhi Health Text Generator</a:t>
            </a:r>
          </a:p>
        </p:txBody>
      </p:sp>
      <p:pic>
        <p:nvPicPr>
          <p:cNvPr id="5" name="Picture 4">
            <a:extLst>
              <a:ext uri="{FF2B5EF4-FFF2-40B4-BE49-F238E27FC236}">
                <a16:creationId xmlns:a16="http://schemas.microsoft.com/office/drawing/2014/main" id="{E63C7756-802D-3E53-966D-4713CD2C40E2}"/>
              </a:ext>
            </a:extLst>
          </p:cNvPr>
          <p:cNvPicPr>
            <a:picLocks noChangeAspect="1"/>
          </p:cNvPicPr>
          <p:nvPr/>
        </p:nvPicPr>
        <p:blipFill rotWithShape="1">
          <a:blip r:embed="rId12">
            <a:extLst>
              <a:ext uri="{28A0092B-C50C-407E-A947-70E740481C1C}">
                <a14:useLocalDpi xmlns:a14="http://schemas.microsoft.com/office/drawing/2010/main" val="0"/>
              </a:ext>
            </a:extLst>
          </a:blip>
          <a:srcRect t="23932" b="16560"/>
          <a:stretch>
            <a:fillRect/>
          </a:stretch>
        </p:blipFill>
        <p:spPr bwMode="auto">
          <a:xfrm>
            <a:off x="457200" y="1118491"/>
            <a:ext cx="8235950" cy="490130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96885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C440-21F2-8CA2-8948-1676AF8BBA7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B9C3EE0-07C7-B203-688A-736805029C83}"/>
              </a:ext>
            </a:extLst>
          </p:cNvPr>
          <p:cNvSpPr>
            <a:spLocks noGrp="1"/>
          </p:cNvSpPr>
          <p:nvPr>
            <p:ph type="ftr" sz="quarter" idx="11"/>
          </p:nvPr>
        </p:nvSpPr>
        <p:spPr/>
        <p:txBody>
          <a:bodyPr/>
          <a:lstStyle/>
          <a:p>
            <a:r>
              <a:rPr lang="en-US" dirty="0">
                <a:latin typeface="Calibri "/>
                <a:cs typeface="Times New Roman" panose="02020603050405020304" pitchFamily="18" charset="0"/>
              </a:rPr>
              <a:t>DEPARTMENT OF Information Technology, SBBU,SBA</a:t>
            </a:r>
          </a:p>
        </p:txBody>
      </p:sp>
      <p:sp>
        <p:nvSpPr>
          <p:cNvPr id="4" name="Slide Number Placeholder 3">
            <a:extLst>
              <a:ext uri="{FF2B5EF4-FFF2-40B4-BE49-F238E27FC236}">
                <a16:creationId xmlns:a16="http://schemas.microsoft.com/office/drawing/2014/main" id="{ABAEE438-F683-1F97-19D7-F2E2AE8435AB}"/>
              </a:ext>
            </a:extLst>
          </p:cNvPr>
          <p:cNvSpPr>
            <a:spLocks noGrp="1"/>
          </p:cNvSpPr>
          <p:nvPr>
            <p:ph type="sldNum" sz="quarter" idx="12"/>
          </p:nvPr>
        </p:nvSpPr>
        <p:spPr>
          <a:xfrm>
            <a:off x="7101840" y="5715000"/>
            <a:ext cx="2194560" cy="1397039"/>
          </a:xfrm>
        </p:spPr>
        <p:txBody>
          <a:bodyPr/>
          <a:lstStyle/>
          <a:p>
            <a:fld id="{D525BB11-F316-475A-8C08-1EE647C41E0C}" type="slidenum">
              <a:rPr lang="en-US" smtClean="0">
                <a:solidFill>
                  <a:srgbClr val="00B0F0">
                    <a:alpha val="20000"/>
                  </a:srgbClr>
                </a:solidFill>
                <a:latin typeface="Calibri "/>
                <a:cs typeface="Times New Roman" panose="02020603050405020304" pitchFamily="18" charset="0"/>
              </a:rPr>
              <a:pPr/>
              <a:t>10</a:t>
            </a:fld>
            <a:endParaRPr lang="en-US" dirty="0">
              <a:solidFill>
                <a:srgbClr val="00B0F0">
                  <a:alpha val="20000"/>
                </a:srgbClr>
              </a:solidFill>
              <a:latin typeface="Calibri "/>
              <a:cs typeface="Times New Roman" panose="02020603050405020304" pitchFamily="18" charset="0"/>
            </a:endParaRPr>
          </a:p>
        </p:txBody>
      </p:sp>
      <p:sp>
        <p:nvSpPr>
          <p:cNvPr id="6" name="Rectangle 5">
            <a:extLst>
              <a:ext uri="{FF2B5EF4-FFF2-40B4-BE49-F238E27FC236}">
                <a16:creationId xmlns:a16="http://schemas.microsoft.com/office/drawing/2014/main" id="{68F6ECF8-B6E7-E340-8FE2-9F4D0EF7019E}"/>
              </a:ext>
            </a:extLst>
          </p:cNvPr>
          <p:cNvSpPr/>
          <p:nvPr/>
        </p:nvSpPr>
        <p:spPr>
          <a:xfrm>
            <a:off x="7589874" y="5893324"/>
            <a:ext cx="1115753" cy="266252"/>
          </a:xfrm>
          <a:prstGeom prst="rect">
            <a:avLst/>
          </a:prstGeom>
          <a:solidFill>
            <a:srgbClr val="FFFFF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sp>
        <p:nvSpPr>
          <p:cNvPr id="7" name="Rectangle 6">
            <a:extLst>
              <a:ext uri="{FF2B5EF4-FFF2-40B4-BE49-F238E27FC236}">
                <a16:creationId xmlns:a16="http://schemas.microsoft.com/office/drawing/2014/main" id="{D6040EBF-DC22-0721-799A-FE6E9160715A}"/>
              </a:ext>
            </a:extLst>
          </p:cNvPr>
          <p:cNvSpPr/>
          <p:nvPr/>
        </p:nvSpPr>
        <p:spPr>
          <a:xfrm>
            <a:off x="7391400" y="2819400"/>
            <a:ext cx="457200" cy="152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sp>
        <p:nvSpPr>
          <p:cNvPr id="8" name="Rectangle 7">
            <a:extLst>
              <a:ext uri="{FF2B5EF4-FFF2-40B4-BE49-F238E27FC236}">
                <a16:creationId xmlns:a16="http://schemas.microsoft.com/office/drawing/2014/main" id="{AF1964C4-01C4-880F-C8F2-40F8DF666008}"/>
              </a:ext>
            </a:extLst>
          </p:cNvPr>
          <p:cNvSpPr/>
          <p:nvPr/>
        </p:nvSpPr>
        <p:spPr>
          <a:xfrm>
            <a:off x="7664451" y="2730865"/>
            <a:ext cx="876300" cy="2155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
            </a:endParaRPr>
          </a:p>
        </p:txBody>
      </p:sp>
      <p:sp>
        <p:nvSpPr>
          <p:cNvPr id="2" name="Rectangle 1">
            <a:extLst>
              <a:ext uri="{FF2B5EF4-FFF2-40B4-BE49-F238E27FC236}">
                <a16:creationId xmlns:a16="http://schemas.microsoft.com/office/drawing/2014/main" id="{794CB55B-93FD-A0B9-B8FC-FB4B3D3448DA}"/>
              </a:ext>
            </a:extLst>
          </p:cNvPr>
          <p:cNvSpPr/>
          <p:nvPr/>
        </p:nvSpPr>
        <p:spPr>
          <a:xfrm>
            <a:off x="7315200" y="3505200"/>
            <a:ext cx="1447800" cy="2155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4E94476D-98C6-FC8E-867A-C58484A8C3AE}"/>
                  </a:ext>
                </a:extLst>
              </p14:cNvPr>
              <p14:cNvContentPartPr/>
              <p14:nvPr/>
            </p14:nvContentPartPr>
            <p14:xfrm>
              <a:off x="1304785" y="3816090"/>
              <a:ext cx="577800" cy="343080"/>
            </p14:xfrm>
          </p:contentPart>
        </mc:Choice>
        <mc:Fallback>
          <p:pic>
            <p:nvPicPr>
              <p:cNvPr id="9" name="Ink 8">
                <a:extLst>
                  <a:ext uri="{FF2B5EF4-FFF2-40B4-BE49-F238E27FC236}">
                    <a16:creationId xmlns:a16="http://schemas.microsoft.com/office/drawing/2014/main" id="{4E94476D-98C6-FC8E-867A-C58484A8C3AE}"/>
                  </a:ext>
                </a:extLst>
              </p:cNvPr>
              <p:cNvPicPr/>
              <p:nvPr/>
            </p:nvPicPr>
            <p:blipFill>
              <a:blip r:embed="rId3"/>
              <a:stretch>
                <a:fillRect/>
              </a:stretch>
            </p:blipFill>
            <p:spPr>
              <a:xfrm>
                <a:off x="1250785" y="3708090"/>
                <a:ext cx="685440" cy="558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B6A065F1-B8FA-834F-B54D-59F7472C24FC}"/>
                  </a:ext>
                </a:extLst>
              </p14:cNvPr>
              <p14:cNvContentPartPr/>
              <p14:nvPr/>
            </p14:nvContentPartPr>
            <p14:xfrm>
              <a:off x="1607185" y="4031370"/>
              <a:ext cx="576360" cy="30240"/>
            </p14:xfrm>
          </p:contentPart>
        </mc:Choice>
        <mc:Fallback>
          <p:pic>
            <p:nvPicPr>
              <p:cNvPr id="10" name="Ink 9">
                <a:extLst>
                  <a:ext uri="{FF2B5EF4-FFF2-40B4-BE49-F238E27FC236}">
                    <a16:creationId xmlns:a16="http://schemas.microsoft.com/office/drawing/2014/main" id="{B6A065F1-B8FA-834F-B54D-59F7472C24FC}"/>
                  </a:ext>
                </a:extLst>
              </p:cNvPr>
              <p:cNvPicPr/>
              <p:nvPr/>
            </p:nvPicPr>
            <p:blipFill>
              <a:blip r:embed="rId5"/>
              <a:stretch>
                <a:fillRect/>
              </a:stretch>
            </p:blipFill>
            <p:spPr>
              <a:xfrm>
                <a:off x="1553185" y="3923370"/>
                <a:ext cx="68400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47228C5B-C914-3E23-8900-E4B27BE8B2F4}"/>
                  </a:ext>
                </a:extLst>
              </p14:cNvPr>
              <p14:cNvContentPartPr/>
              <p14:nvPr/>
            </p14:nvContentPartPr>
            <p14:xfrm>
              <a:off x="1606465" y="4060530"/>
              <a:ext cx="204840" cy="16200"/>
            </p14:xfrm>
          </p:contentPart>
        </mc:Choice>
        <mc:Fallback>
          <p:pic>
            <p:nvPicPr>
              <p:cNvPr id="11" name="Ink 10">
                <a:extLst>
                  <a:ext uri="{FF2B5EF4-FFF2-40B4-BE49-F238E27FC236}">
                    <a16:creationId xmlns:a16="http://schemas.microsoft.com/office/drawing/2014/main" id="{47228C5B-C914-3E23-8900-E4B27BE8B2F4}"/>
                  </a:ext>
                </a:extLst>
              </p:cNvPr>
              <p:cNvPicPr/>
              <p:nvPr/>
            </p:nvPicPr>
            <p:blipFill>
              <a:blip r:embed="rId7"/>
              <a:stretch>
                <a:fillRect/>
              </a:stretch>
            </p:blipFill>
            <p:spPr>
              <a:xfrm>
                <a:off x="1552465" y="3952530"/>
                <a:ext cx="3124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CFB1D459-D484-B169-9C97-C9B5B07A5DBB}"/>
                  </a:ext>
                </a:extLst>
              </p14:cNvPr>
              <p14:cNvContentPartPr/>
              <p14:nvPr/>
            </p14:nvContentPartPr>
            <p14:xfrm>
              <a:off x="1812745" y="4076370"/>
              <a:ext cx="360" cy="360"/>
            </p14:xfrm>
          </p:contentPart>
        </mc:Choice>
        <mc:Fallback>
          <p:pic>
            <p:nvPicPr>
              <p:cNvPr id="12" name="Ink 11">
                <a:extLst>
                  <a:ext uri="{FF2B5EF4-FFF2-40B4-BE49-F238E27FC236}">
                    <a16:creationId xmlns:a16="http://schemas.microsoft.com/office/drawing/2014/main" id="{CFB1D459-D484-B169-9C97-C9B5B07A5DBB}"/>
                  </a:ext>
                </a:extLst>
              </p:cNvPr>
              <p:cNvPicPr/>
              <p:nvPr/>
            </p:nvPicPr>
            <p:blipFill>
              <a:blip r:embed="rId9"/>
              <a:stretch>
                <a:fillRect/>
              </a:stretch>
            </p:blipFill>
            <p:spPr>
              <a:xfrm>
                <a:off x="1758745" y="396837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D6788934-A99B-CD1B-01EA-9C08ECE26EC3}"/>
                  </a:ext>
                </a:extLst>
              </p14:cNvPr>
              <p14:cNvContentPartPr/>
              <p14:nvPr/>
            </p14:nvContentPartPr>
            <p14:xfrm>
              <a:off x="2060425" y="4117770"/>
              <a:ext cx="360" cy="360"/>
            </p14:xfrm>
          </p:contentPart>
        </mc:Choice>
        <mc:Fallback>
          <p:pic>
            <p:nvPicPr>
              <p:cNvPr id="13" name="Ink 12">
                <a:extLst>
                  <a:ext uri="{FF2B5EF4-FFF2-40B4-BE49-F238E27FC236}">
                    <a16:creationId xmlns:a16="http://schemas.microsoft.com/office/drawing/2014/main" id="{D6788934-A99B-CD1B-01EA-9C08ECE26EC3}"/>
                  </a:ext>
                </a:extLst>
              </p:cNvPr>
              <p:cNvPicPr/>
              <p:nvPr/>
            </p:nvPicPr>
            <p:blipFill>
              <a:blip r:embed="rId9"/>
              <a:stretch>
                <a:fillRect/>
              </a:stretch>
            </p:blipFill>
            <p:spPr>
              <a:xfrm>
                <a:off x="2006425" y="4009770"/>
                <a:ext cx="108000" cy="216000"/>
              </a:xfrm>
              <a:prstGeom prst="rect">
                <a:avLst/>
              </a:prstGeom>
            </p:spPr>
          </p:pic>
        </mc:Fallback>
      </mc:AlternateContent>
      <p:sp>
        <p:nvSpPr>
          <p:cNvPr id="14" name="Rectangle 13">
            <a:extLst>
              <a:ext uri="{FF2B5EF4-FFF2-40B4-BE49-F238E27FC236}">
                <a16:creationId xmlns:a16="http://schemas.microsoft.com/office/drawing/2014/main" id="{1A8DD6BC-7F4D-1012-E21A-3E8ECC580AA1}"/>
              </a:ext>
            </a:extLst>
          </p:cNvPr>
          <p:cNvSpPr/>
          <p:nvPr/>
        </p:nvSpPr>
        <p:spPr>
          <a:xfrm>
            <a:off x="1066800" y="4459226"/>
            <a:ext cx="744505" cy="1127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sp>
        <p:nvSpPr>
          <p:cNvPr id="16" name="TextBox 15">
            <a:extLst>
              <a:ext uri="{FF2B5EF4-FFF2-40B4-BE49-F238E27FC236}">
                <a16:creationId xmlns:a16="http://schemas.microsoft.com/office/drawing/2014/main" id="{796FCF44-7F07-D077-5C9A-BC3D3AE12888}"/>
              </a:ext>
            </a:extLst>
          </p:cNvPr>
          <p:cNvSpPr txBox="1"/>
          <p:nvPr/>
        </p:nvSpPr>
        <p:spPr>
          <a:xfrm>
            <a:off x="1746249" y="76200"/>
            <a:ext cx="5264151" cy="830997"/>
          </a:xfrm>
          <a:prstGeom prst="rect">
            <a:avLst/>
          </a:prstGeom>
          <a:noFill/>
        </p:spPr>
        <p:txBody>
          <a:bodyPr wrap="square" rtlCol="0">
            <a:spAutoFit/>
          </a:bodyPr>
          <a:lstStyle/>
          <a:p>
            <a:pPr algn="ctr"/>
            <a:r>
              <a:rPr lang="en-US" sz="2400" b="1" dirty="0">
                <a:latin typeface="Calibri "/>
                <a:cs typeface="Times New Roman" panose="02020603050405020304" pitchFamily="18" charset="0"/>
              </a:rPr>
              <a:t>End-to-End Methodology for the Sindhi Health Text Generator</a:t>
            </a:r>
          </a:p>
        </p:txBody>
      </p:sp>
      <p:pic>
        <p:nvPicPr>
          <p:cNvPr id="17" name="Picture 16">
            <a:extLst>
              <a:ext uri="{FF2B5EF4-FFF2-40B4-BE49-F238E27FC236}">
                <a16:creationId xmlns:a16="http://schemas.microsoft.com/office/drawing/2014/main" id="{A781CA03-484F-6A3F-DF8C-4395829090C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1531226"/>
            <a:ext cx="9144000" cy="4031374"/>
          </a:xfrm>
          <a:prstGeom prst="rect">
            <a:avLst/>
          </a:prstGeom>
        </p:spPr>
      </p:pic>
    </p:spTree>
    <p:extLst>
      <p:ext uri="{BB962C8B-B14F-4D97-AF65-F5344CB8AC3E}">
        <p14:creationId xmlns:p14="http://schemas.microsoft.com/office/powerpoint/2010/main" val="4100348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DD7A74C-3AF6-DDA9-7C17-94C56A08CCA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9AD9B52-ABCE-503B-E9A5-A3AA93F5A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90C5027-F3E8-481D-AF5F-82EB9CCC964B}"/>
              </a:ext>
            </a:extLst>
          </p:cNvPr>
          <p:cNvSpPr>
            <a:spLocks noGrp="1"/>
          </p:cNvSpPr>
          <p:nvPr>
            <p:ph type="title"/>
          </p:nvPr>
        </p:nvSpPr>
        <p:spPr>
          <a:xfrm>
            <a:off x="529723" y="639763"/>
            <a:ext cx="2998270" cy="5492750"/>
          </a:xfrm>
        </p:spPr>
        <p:txBody>
          <a:bodyPr>
            <a:normAutofit/>
          </a:bodyPr>
          <a:lstStyle/>
          <a:p>
            <a:r>
              <a:rPr lang="en-US">
                <a:solidFill>
                  <a:srgbClr val="FFFFFF"/>
                </a:solidFill>
                <a:effectLst/>
                <a:latin typeface="Calibri" panose="020F0502020204030204" pitchFamily="34" charset="0"/>
                <a:ea typeface="Calibri" panose="020F0502020204030204" pitchFamily="34" charset="0"/>
                <a:cs typeface="Calibri" panose="020F0502020204030204" pitchFamily="34" charset="0"/>
              </a:rPr>
              <a:t>Scope / Application</a:t>
            </a: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EB3CABC0-1154-2D35-E280-AE6EC1261833}"/>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dirty="0">
                <a:latin typeface="Calibri" panose="020F0502020204030204" pitchFamily="34" charset="0"/>
                <a:ea typeface="Calibri" panose="020F0502020204030204" pitchFamily="34" charset="0"/>
                <a:cs typeface="Calibri" panose="020F0502020204030204" pitchFamily="34" charset="0"/>
              </a:rPr>
              <a:t>DEPARTMENT OF Information Technology, SBBU,SBA</a:t>
            </a: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9C0208F-D336-EE37-B65D-211F9A0E3311}"/>
              </a:ext>
            </a:extLst>
          </p:cNvPr>
          <p:cNvSpPr>
            <a:spLocks noGrp="1"/>
          </p:cNvSpPr>
          <p:nvPr>
            <p:ph type="sldNum" sz="quarter" idx="12"/>
          </p:nvPr>
        </p:nvSpPr>
        <p:spPr>
          <a:xfrm>
            <a:off x="6924630" y="5653624"/>
            <a:ext cx="2194560" cy="1397039"/>
          </a:xfrm>
        </p:spPr>
        <p:txBody>
          <a:bodyPr>
            <a:normAutofit/>
          </a:bodyPr>
          <a:lstStyle/>
          <a:p>
            <a:pPr>
              <a:lnSpc>
                <a:spcPct val="90000"/>
              </a:lnSpc>
              <a:spcAft>
                <a:spcPts val="600"/>
              </a:spcAft>
            </a:pPr>
            <a:fld id="{D525BB11-F316-475A-8C08-1EE647C41E0C}" type="slidenum">
              <a:rPr lang="en-US">
                <a:solidFill>
                  <a:schemeClr val="bg1">
                    <a:alpha val="25000"/>
                  </a:scheme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11</a:t>
            </a:fld>
            <a:endParaRPr lang="en-US" dirty="0">
              <a:solidFill>
                <a:schemeClr val="bg1">
                  <a:alpha val="25000"/>
                </a:schemeClr>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Content Placeholder 1">
            <a:extLst>
              <a:ext uri="{FF2B5EF4-FFF2-40B4-BE49-F238E27FC236}">
                <a16:creationId xmlns:a16="http://schemas.microsoft.com/office/drawing/2014/main" id="{B5AD4D6B-2602-E582-08E8-75105211CFB2}"/>
              </a:ext>
            </a:extLst>
          </p:cNvPr>
          <p:cNvGraphicFramePr>
            <a:graphicFrameLocks noGrp="1"/>
          </p:cNvGraphicFramePr>
          <p:nvPr>
            <p:ph idx="1"/>
            <p:extLst>
              <p:ext uri="{D42A27DB-BD31-4B8C-83A1-F6EECF244321}">
                <p14:modId xmlns:p14="http://schemas.microsoft.com/office/powerpoint/2010/main" val="3394204316"/>
              </p:ext>
            </p:extLst>
          </p:nvPr>
        </p:nvGraphicFramePr>
        <p:xfrm>
          <a:off x="3978070" y="353536"/>
          <a:ext cx="4691043"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872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09E0A5-C128-82CC-5C93-8D448F69730C}"/>
              </a:ext>
            </a:extLst>
          </p:cNvPr>
          <p:cNvSpPr/>
          <p:nvPr/>
        </p:nvSpPr>
        <p:spPr>
          <a:xfrm>
            <a:off x="7391400" y="6400800"/>
            <a:ext cx="1447800" cy="228600"/>
          </a:xfrm>
          <a:prstGeom prst="rect">
            <a:avLst/>
          </a:prstGeom>
          <a:solidFill>
            <a:srgbClr val="FFFFF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
            </a:endParaRPr>
          </a:p>
        </p:txBody>
      </p:sp>
      <p:graphicFrame>
        <p:nvGraphicFramePr>
          <p:cNvPr id="6" name="Table 5">
            <a:extLst>
              <a:ext uri="{FF2B5EF4-FFF2-40B4-BE49-F238E27FC236}">
                <a16:creationId xmlns:a16="http://schemas.microsoft.com/office/drawing/2014/main" id="{C71F791A-7F50-DA82-23BB-077AC6E97EB7}"/>
              </a:ext>
            </a:extLst>
          </p:cNvPr>
          <p:cNvGraphicFramePr>
            <a:graphicFrameLocks noGrp="1"/>
          </p:cNvGraphicFramePr>
          <p:nvPr>
            <p:extLst>
              <p:ext uri="{D42A27DB-BD31-4B8C-83A1-F6EECF244321}">
                <p14:modId xmlns:p14="http://schemas.microsoft.com/office/powerpoint/2010/main" val="4249827229"/>
              </p:ext>
            </p:extLst>
          </p:nvPr>
        </p:nvGraphicFramePr>
        <p:xfrm>
          <a:off x="0" y="914400"/>
          <a:ext cx="9144000" cy="5105402"/>
        </p:xfrm>
        <a:graphic>
          <a:graphicData uri="http://schemas.openxmlformats.org/drawingml/2006/table">
            <a:tbl>
              <a:tblPr>
                <a:tableStyleId>{69CF1AB2-1976-4502-BF36-3FF5EA218861}</a:tableStyleId>
              </a:tblPr>
              <a:tblGrid>
                <a:gridCol w="4572000">
                  <a:extLst>
                    <a:ext uri="{9D8B030D-6E8A-4147-A177-3AD203B41FA5}">
                      <a16:colId xmlns:a16="http://schemas.microsoft.com/office/drawing/2014/main" val="870201756"/>
                    </a:ext>
                  </a:extLst>
                </a:gridCol>
                <a:gridCol w="4572000">
                  <a:extLst>
                    <a:ext uri="{9D8B030D-6E8A-4147-A177-3AD203B41FA5}">
                      <a16:colId xmlns:a16="http://schemas.microsoft.com/office/drawing/2014/main" val="364216924"/>
                    </a:ext>
                  </a:extLst>
                </a:gridCol>
              </a:tblGrid>
              <a:tr h="323472">
                <a:tc>
                  <a:txBody>
                    <a:bodyPr/>
                    <a:lstStyle/>
                    <a:p>
                      <a:pPr algn="ctr">
                        <a:buNone/>
                      </a:pPr>
                      <a:r>
                        <a:rPr lang="en-US" sz="1600" b="1" dirty="0">
                          <a:latin typeface="Times New Roman" panose="02020603050405020304" pitchFamily="18" charset="0"/>
                          <a:cs typeface="Times New Roman" panose="02020603050405020304" pitchFamily="18" charset="0"/>
                        </a:rPr>
                        <a:t>Month</a:t>
                      </a:r>
                      <a:endParaRPr lang="en-US" sz="1600" dirty="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b="1">
                          <a:latin typeface="Times New Roman" panose="02020603050405020304" pitchFamily="18" charset="0"/>
                          <a:cs typeface="Times New Roman" panose="02020603050405020304" pitchFamily="18" charset="0"/>
                        </a:rPr>
                        <a:t>Activities</a:t>
                      </a:r>
                      <a:endParaRPr lang="en-US" sz="1600">
                        <a:latin typeface="Times New Roman" panose="02020603050405020304" pitchFamily="18" charset="0"/>
                        <a:cs typeface="Times New Roman" panose="02020603050405020304" pitchFamily="18" charset="0"/>
                      </a:endParaRPr>
                    </a:p>
                  </a:txBody>
                  <a:tcPr marL="59771" marR="59771" marT="29885" marB="29885" anchor="ctr"/>
                </a:tc>
                <a:extLst>
                  <a:ext uri="{0D108BD9-81ED-4DB2-BD59-A6C34878D82A}">
                    <a16:rowId xmlns:a16="http://schemas.microsoft.com/office/drawing/2014/main" val="1586546962"/>
                  </a:ext>
                </a:extLst>
              </a:tr>
              <a:tr h="567267">
                <a:tc>
                  <a:txBody>
                    <a:bodyPr/>
                    <a:lstStyle/>
                    <a:p>
                      <a:pPr algn="ctr">
                        <a:buNone/>
                      </a:pPr>
                      <a:r>
                        <a:rPr lang="en-US" sz="1600" b="1" dirty="0">
                          <a:latin typeface="Times New Roman" panose="02020603050405020304" pitchFamily="18" charset="0"/>
                          <a:cs typeface="Times New Roman" panose="02020603050405020304" pitchFamily="18" charset="0"/>
                        </a:rPr>
                        <a:t>February 2025</a:t>
                      </a:r>
                      <a:endParaRPr lang="en-US" sz="1600" dirty="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Finalize objectives, workflow, roles | Review LLMs and tools</a:t>
                      </a:r>
                    </a:p>
                  </a:txBody>
                  <a:tcPr marL="59771" marR="59771" marT="29885" marB="29885" anchor="ctr"/>
                </a:tc>
                <a:extLst>
                  <a:ext uri="{0D108BD9-81ED-4DB2-BD59-A6C34878D82A}">
                    <a16:rowId xmlns:a16="http://schemas.microsoft.com/office/drawing/2014/main" val="1757738199"/>
                  </a:ext>
                </a:extLst>
              </a:tr>
              <a:tr h="567267">
                <a:tc>
                  <a:txBody>
                    <a:bodyPr/>
                    <a:lstStyle/>
                    <a:p>
                      <a:pPr algn="ctr">
                        <a:buNone/>
                      </a:pPr>
                      <a:r>
                        <a:rPr lang="en-US" sz="1600" b="1">
                          <a:latin typeface="Times New Roman" panose="02020603050405020304" pitchFamily="18" charset="0"/>
                          <a:cs typeface="Times New Roman" panose="02020603050405020304" pitchFamily="18" charset="0"/>
                        </a:rPr>
                        <a:t>March 2025</a:t>
                      </a:r>
                      <a:endParaRPr lang="en-US" sz="160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Expand data collection | reprocess data</a:t>
                      </a:r>
                    </a:p>
                  </a:txBody>
                  <a:tcPr marL="59771" marR="59771" marT="29885" marB="29885" anchor="ctr"/>
                </a:tc>
                <a:extLst>
                  <a:ext uri="{0D108BD9-81ED-4DB2-BD59-A6C34878D82A}">
                    <a16:rowId xmlns:a16="http://schemas.microsoft.com/office/drawing/2014/main" val="196355266"/>
                  </a:ext>
                </a:extLst>
              </a:tr>
              <a:tr h="811061">
                <a:tc>
                  <a:txBody>
                    <a:bodyPr/>
                    <a:lstStyle/>
                    <a:p>
                      <a:pPr algn="ctr">
                        <a:buNone/>
                      </a:pPr>
                      <a:r>
                        <a:rPr lang="en-US" sz="1600" b="1" dirty="0">
                          <a:latin typeface="Times New Roman" panose="02020603050405020304" pitchFamily="18" charset="0"/>
                          <a:cs typeface="Times New Roman" panose="02020603050405020304" pitchFamily="18" charset="0"/>
                        </a:rPr>
                        <a:t>April 2025</a:t>
                      </a:r>
                      <a:endParaRPr lang="en-US" sz="1600" dirty="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Develop model with </a:t>
                      </a:r>
                      <a:r>
                        <a:rPr lang="en-US" sz="1600" dirty="0" err="1">
                          <a:latin typeface="Times New Roman" panose="02020603050405020304" pitchFamily="18" charset="0"/>
                          <a:cs typeface="Times New Roman" panose="02020603050405020304" pitchFamily="18" charset="0"/>
                        </a:rPr>
                        <a:t>Sciket</a:t>
                      </a:r>
                      <a:r>
                        <a:rPr lang="en-US" sz="1600" dirty="0">
                          <a:latin typeface="Times New Roman" panose="02020603050405020304" pitchFamily="18" charset="0"/>
                          <a:cs typeface="Times New Roman" panose="02020603050405020304" pitchFamily="18" charset="0"/>
                        </a:rPr>
                        <a:t> | Implement RAG | Integrate health/Sindhi nuances</a:t>
                      </a:r>
                    </a:p>
                  </a:txBody>
                  <a:tcPr marL="59771" marR="59771" marT="29885" marB="29885" anchor="ctr"/>
                </a:tc>
                <a:extLst>
                  <a:ext uri="{0D108BD9-81ED-4DB2-BD59-A6C34878D82A}">
                    <a16:rowId xmlns:a16="http://schemas.microsoft.com/office/drawing/2014/main" val="914745314"/>
                  </a:ext>
                </a:extLst>
              </a:tr>
              <a:tr h="567267">
                <a:tc>
                  <a:txBody>
                    <a:bodyPr/>
                    <a:lstStyle/>
                    <a:p>
                      <a:pPr algn="ctr">
                        <a:buNone/>
                      </a:pPr>
                      <a:r>
                        <a:rPr lang="en-US" sz="1600" b="1">
                          <a:latin typeface="Times New Roman" panose="02020603050405020304" pitchFamily="18" charset="0"/>
                          <a:cs typeface="Times New Roman" panose="02020603050405020304" pitchFamily="18" charset="0"/>
                        </a:rPr>
                        <a:t>May 2025</a:t>
                      </a:r>
                      <a:endParaRPr lang="en-US" sz="160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Conduct tests | Gather feedback | Refine model and document findings</a:t>
                      </a:r>
                    </a:p>
                  </a:txBody>
                  <a:tcPr marL="59771" marR="59771" marT="29885" marB="29885" anchor="ctr"/>
                </a:tc>
                <a:extLst>
                  <a:ext uri="{0D108BD9-81ED-4DB2-BD59-A6C34878D82A}">
                    <a16:rowId xmlns:a16="http://schemas.microsoft.com/office/drawing/2014/main" val="1277831234"/>
                  </a:ext>
                </a:extLst>
              </a:tr>
              <a:tr h="567267">
                <a:tc>
                  <a:txBody>
                    <a:bodyPr/>
                    <a:lstStyle/>
                    <a:p>
                      <a:pPr algn="ctr">
                        <a:buNone/>
                      </a:pPr>
                      <a:r>
                        <a:rPr lang="en-US" sz="1600" b="1">
                          <a:latin typeface="Times New Roman" panose="02020603050405020304" pitchFamily="18" charset="0"/>
                          <a:cs typeface="Times New Roman" panose="02020603050405020304" pitchFamily="18" charset="0"/>
                        </a:rPr>
                        <a:t>June 2025</a:t>
                      </a:r>
                      <a:endParaRPr lang="en-US" sz="160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Build UI with </a:t>
                      </a:r>
                      <a:r>
                        <a:rPr lang="en-US" sz="1600" dirty="0" err="1">
                          <a:latin typeface="Times New Roman" panose="02020603050405020304" pitchFamily="18" charset="0"/>
                          <a:cs typeface="Times New Roman" panose="02020603050405020304" pitchFamily="18" charset="0"/>
                        </a:rPr>
                        <a:t>Streamlit</a:t>
                      </a:r>
                      <a:r>
                        <a:rPr lang="en-US" sz="1600" dirty="0">
                          <a:latin typeface="Times New Roman" panose="02020603050405020304" pitchFamily="18" charset="0"/>
                          <a:cs typeface="Times New Roman" panose="02020603050405020304" pitchFamily="18" charset="0"/>
                        </a:rPr>
                        <a:t> | Deploy to the cloud | Perform system testing</a:t>
                      </a:r>
                    </a:p>
                  </a:txBody>
                  <a:tcPr marL="59771" marR="59771" marT="29885" marB="29885" anchor="ctr"/>
                </a:tc>
                <a:extLst>
                  <a:ext uri="{0D108BD9-81ED-4DB2-BD59-A6C34878D82A}">
                    <a16:rowId xmlns:a16="http://schemas.microsoft.com/office/drawing/2014/main" val="2276540905"/>
                  </a:ext>
                </a:extLst>
              </a:tr>
              <a:tr h="567267">
                <a:tc>
                  <a:txBody>
                    <a:bodyPr/>
                    <a:lstStyle/>
                    <a:p>
                      <a:pPr algn="ctr">
                        <a:buNone/>
                      </a:pPr>
                      <a:r>
                        <a:rPr lang="en-US" sz="1600" b="1">
                          <a:latin typeface="Times New Roman" panose="02020603050405020304" pitchFamily="18" charset="0"/>
                          <a:cs typeface="Times New Roman" panose="02020603050405020304" pitchFamily="18" charset="0"/>
                        </a:rPr>
                        <a:t>July 2025</a:t>
                      </a:r>
                      <a:endParaRPr lang="en-US" sz="160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Write thesis on methodology, findings, and outcomes with visuals</a:t>
                      </a:r>
                    </a:p>
                  </a:txBody>
                  <a:tcPr marL="59771" marR="59771" marT="29885" marB="29885" anchor="ctr"/>
                </a:tc>
                <a:extLst>
                  <a:ext uri="{0D108BD9-81ED-4DB2-BD59-A6C34878D82A}">
                    <a16:rowId xmlns:a16="http://schemas.microsoft.com/office/drawing/2014/main" val="2997753712"/>
                  </a:ext>
                </a:extLst>
              </a:tr>
              <a:tr h="567267">
                <a:tc>
                  <a:txBody>
                    <a:bodyPr/>
                    <a:lstStyle/>
                    <a:p>
                      <a:pPr algn="ctr">
                        <a:buNone/>
                      </a:pPr>
                      <a:r>
                        <a:rPr lang="en-US" sz="1600" b="1">
                          <a:latin typeface="Times New Roman" panose="02020603050405020304" pitchFamily="18" charset="0"/>
                          <a:cs typeface="Times New Roman" panose="02020603050405020304" pitchFamily="18" charset="0"/>
                        </a:rPr>
                        <a:t>August 2025</a:t>
                      </a:r>
                      <a:endParaRPr lang="en-US" sz="160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Evaluate accuracy | Refine based on feedback | Finalize metrics</a:t>
                      </a:r>
                    </a:p>
                  </a:txBody>
                  <a:tcPr marL="59771" marR="59771" marT="29885" marB="29885" anchor="ctr"/>
                </a:tc>
                <a:extLst>
                  <a:ext uri="{0D108BD9-81ED-4DB2-BD59-A6C34878D82A}">
                    <a16:rowId xmlns:a16="http://schemas.microsoft.com/office/drawing/2014/main" val="4003743908"/>
                  </a:ext>
                </a:extLst>
              </a:tr>
              <a:tr h="567267">
                <a:tc>
                  <a:txBody>
                    <a:bodyPr/>
                    <a:lstStyle/>
                    <a:p>
                      <a:pPr algn="ctr">
                        <a:buNone/>
                      </a:pPr>
                      <a:r>
                        <a:rPr lang="en-US" sz="1600" b="1" dirty="0">
                          <a:latin typeface="Times New Roman" panose="02020603050405020304" pitchFamily="18" charset="0"/>
                          <a:cs typeface="Times New Roman" panose="02020603050405020304" pitchFamily="18" charset="0"/>
                        </a:rPr>
                        <a:t>September 2025</a:t>
                      </a:r>
                      <a:endParaRPr lang="en-US" sz="1600" dirty="0">
                        <a:latin typeface="Times New Roman" panose="02020603050405020304" pitchFamily="18" charset="0"/>
                        <a:cs typeface="Times New Roman" panose="02020603050405020304" pitchFamily="18" charset="0"/>
                      </a:endParaRPr>
                    </a:p>
                  </a:txBody>
                  <a:tcPr marL="59771" marR="59771" marT="29885" marB="29885" anchor="ctr"/>
                </a:tc>
                <a:tc>
                  <a:txBody>
                    <a:bodyPr/>
                    <a:lstStyle/>
                    <a:p>
                      <a:pPr>
                        <a:buNone/>
                      </a:pPr>
                      <a:r>
                        <a:rPr lang="en-US" sz="1600" dirty="0">
                          <a:latin typeface="Times New Roman" panose="02020603050405020304" pitchFamily="18" charset="0"/>
                          <a:cs typeface="Times New Roman" panose="02020603050405020304" pitchFamily="18" charset="0"/>
                        </a:rPr>
                        <a:t>Complete final report | Present findings | Submit version for review</a:t>
                      </a:r>
                    </a:p>
                  </a:txBody>
                  <a:tcPr marL="59771" marR="59771" marT="29885" marB="29885" anchor="ctr"/>
                </a:tc>
                <a:extLst>
                  <a:ext uri="{0D108BD9-81ED-4DB2-BD59-A6C34878D82A}">
                    <a16:rowId xmlns:a16="http://schemas.microsoft.com/office/drawing/2014/main" val="4209501580"/>
                  </a:ext>
                </a:extLst>
              </a:tr>
            </a:tbl>
          </a:graphicData>
        </a:graphic>
      </p:graphicFrame>
      <p:sp>
        <p:nvSpPr>
          <p:cNvPr id="7" name="TextBox 6">
            <a:extLst>
              <a:ext uri="{FF2B5EF4-FFF2-40B4-BE49-F238E27FC236}">
                <a16:creationId xmlns:a16="http://schemas.microsoft.com/office/drawing/2014/main" id="{554C9A0C-08B6-A4FA-03AB-0E4ED0EBCAFB}"/>
              </a:ext>
            </a:extLst>
          </p:cNvPr>
          <p:cNvSpPr txBox="1"/>
          <p:nvPr/>
        </p:nvSpPr>
        <p:spPr>
          <a:xfrm>
            <a:off x="2209800" y="152400"/>
            <a:ext cx="3886200" cy="584775"/>
          </a:xfrm>
          <a:prstGeom prst="rect">
            <a:avLst/>
          </a:prstGeom>
          <a:noFill/>
        </p:spPr>
        <p:txBody>
          <a:bodyPr wrap="square" rtlCol="0">
            <a:spAutoFit/>
          </a:bodyPr>
          <a:lstStyle/>
          <a:p>
            <a:pPr algn="ctr"/>
            <a:r>
              <a:rPr lang="en-US" sz="3200" b="1" dirty="0">
                <a:latin typeface="Calibri "/>
                <a:cs typeface="Times New Roman" panose="02020603050405020304" pitchFamily="18" charset="0"/>
              </a:rPr>
              <a:t>Project Timeline</a:t>
            </a:r>
          </a:p>
        </p:txBody>
      </p:sp>
      <p:sp>
        <p:nvSpPr>
          <p:cNvPr id="3" name="Footer Placeholder 1">
            <a:extLst>
              <a:ext uri="{FF2B5EF4-FFF2-40B4-BE49-F238E27FC236}">
                <a16:creationId xmlns:a16="http://schemas.microsoft.com/office/drawing/2014/main" id="{C4159C5D-56D1-8562-A9DE-882EB3A5F628}"/>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dirty="0">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DEPARTMENT OF Information Technology, SBBU,SBA</a:t>
            </a:r>
          </a:p>
        </p:txBody>
      </p:sp>
    </p:spTree>
    <p:extLst>
      <p:ext uri="{BB962C8B-B14F-4D97-AF65-F5344CB8AC3E}">
        <p14:creationId xmlns:p14="http://schemas.microsoft.com/office/powerpoint/2010/main" val="2162954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9713FD-1834-846F-97BD-66295CC4614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7699994-F930-4BD1-804C-3E97736C3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5E3040-CB0E-4155-9346-CDC038759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31750" cap="sq">
            <a:solidFill>
              <a:srgbClr val="FF704C"/>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954A8EB8-9630-4BEE-9F41-866EC4A83F83}"/>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a:solidFill>
                  <a:srgbClr val="FFFFFF">
                    <a:alpha val="80000"/>
                  </a:srgbClr>
                </a:solidFill>
                <a:latin typeface="Times New Roman" panose="02020603050405020304" pitchFamily="18" charset="0"/>
                <a:cs typeface="Times New Roman" panose="02020603050405020304" pitchFamily="18" charset="0"/>
              </a:rPr>
              <a:t>DEPARTMENT OF Information Technology, SBBU,SBA</a:t>
            </a:r>
          </a:p>
        </p:txBody>
      </p:sp>
      <p:sp>
        <p:nvSpPr>
          <p:cNvPr id="3" name="Slide Number Placeholder 2">
            <a:extLst>
              <a:ext uri="{FF2B5EF4-FFF2-40B4-BE49-F238E27FC236}">
                <a16:creationId xmlns:a16="http://schemas.microsoft.com/office/drawing/2014/main" id="{D7CA6331-99E2-78EB-22F6-B8D5D3C7252E}"/>
              </a:ext>
            </a:extLst>
          </p:cNvPr>
          <p:cNvSpPr>
            <a:spLocks noGrp="1"/>
          </p:cNvSpPr>
          <p:nvPr>
            <p:ph type="sldNum" sz="quarter" idx="12"/>
          </p:nvPr>
        </p:nvSpPr>
        <p:spPr>
          <a:xfrm>
            <a:off x="6572944" y="6412447"/>
            <a:ext cx="2194560" cy="370850"/>
          </a:xfrm>
        </p:spPr>
        <p:txBody>
          <a:bodyPr anchor="ctr">
            <a:normAutofit/>
          </a:bodyPr>
          <a:lstStyle/>
          <a:p>
            <a:pPr>
              <a:lnSpc>
                <a:spcPct val="90000"/>
              </a:lnSpc>
              <a:spcAft>
                <a:spcPts val="600"/>
              </a:spcAft>
            </a:pPr>
            <a:fld id="{D525BB11-F316-475A-8C08-1EE647C41E0C}" type="slidenum">
              <a:rPr lang="en-US" sz="1900">
                <a:solidFill>
                  <a:srgbClr val="FFFFFF">
                    <a:alpha val="80000"/>
                  </a:srgbClr>
                </a:solidFill>
              </a:rPr>
              <a:pPr>
                <a:lnSpc>
                  <a:spcPct val="90000"/>
                </a:lnSpc>
                <a:spcAft>
                  <a:spcPts val="600"/>
                </a:spcAft>
              </a:pPr>
              <a:t>13</a:t>
            </a:fld>
            <a:endParaRPr lang="en-US" sz="1900" dirty="0">
              <a:solidFill>
                <a:srgbClr val="FFFFFF">
                  <a:alpha val="80000"/>
                </a:srgbClr>
              </a:solidFill>
            </a:endParaRPr>
          </a:p>
        </p:txBody>
      </p:sp>
      <p:sp>
        <p:nvSpPr>
          <p:cNvPr id="4" name="TextBox 3">
            <a:extLst>
              <a:ext uri="{FF2B5EF4-FFF2-40B4-BE49-F238E27FC236}">
                <a16:creationId xmlns:a16="http://schemas.microsoft.com/office/drawing/2014/main" id="{707AD7AE-F5B2-5B35-DDBE-AB07EBC09E23}"/>
              </a:ext>
            </a:extLst>
          </p:cNvPr>
          <p:cNvSpPr txBox="1"/>
          <p:nvPr/>
        </p:nvSpPr>
        <p:spPr>
          <a:xfrm>
            <a:off x="2555609" y="431938"/>
            <a:ext cx="4038600" cy="646331"/>
          </a:xfrm>
          <a:prstGeom prst="rect">
            <a:avLst/>
          </a:prstGeom>
          <a:noFill/>
        </p:spPr>
        <p:txBody>
          <a:bodyPr wrap="square" rtlCol="0">
            <a:spAutoFit/>
          </a:bodyPr>
          <a:lstStyle/>
          <a:p>
            <a:pPr algn="ctr"/>
            <a:r>
              <a:rPr lang="en-US" sz="36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INTERFACE</a:t>
            </a:r>
          </a:p>
        </p:txBody>
      </p:sp>
      <p:pic>
        <p:nvPicPr>
          <p:cNvPr id="6" name="Picture 5">
            <a:extLst>
              <a:ext uri="{FF2B5EF4-FFF2-40B4-BE49-F238E27FC236}">
                <a16:creationId xmlns:a16="http://schemas.microsoft.com/office/drawing/2014/main" id="{A87A2CE2-68B2-E6CE-C38B-1656FED7E1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058489"/>
            <a:ext cx="8405241" cy="5189911"/>
          </a:xfrm>
          <a:prstGeom prst="rect">
            <a:avLst/>
          </a:prstGeom>
        </p:spPr>
      </p:pic>
    </p:spTree>
    <p:extLst>
      <p:ext uri="{BB962C8B-B14F-4D97-AF65-F5344CB8AC3E}">
        <p14:creationId xmlns:p14="http://schemas.microsoft.com/office/powerpoint/2010/main" val="2370930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AAAACB-18C1-F119-2C7B-C3A4E13CD89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0C50D4A-C648-D027-2D36-1459C288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5FB5AF-B5F9-851E-5352-49D9B4260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31750" cap="sq">
            <a:solidFill>
              <a:srgbClr val="FF704C"/>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3B8A4B1-6C64-9B37-B722-15AA8A11A4E5}"/>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a:solidFill>
                  <a:srgbClr val="FFFFFF">
                    <a:alpha val="80000"/>
                  </a:srgbClr>
                </a:solidFill>
                <a:latin typeface="Times New Roman" panose="02020603050405020304" pitchFamily="18" charset="0"/>
                <a:cs typeface="Times New Roman" panose="02020603050405020304" pitchFamily="18" charset="0"/>
              </a:rPr>
              <a:t>DEPARTMENT OF Information Technology, SBBU,SBA</a:t>
            </a:r>
          </a:p>
        </p:txBody>
      </p:sp>
      <p:sp>
        <p:nvSpPr>
          <p:cNvPr id="3" name="Slide Number Placeholder 2">
            <a:extLst>
              <a:ext uri="{FF2B5EF4-FFF2-40B4-BE49-F238E27FC236}">
                <a16:creationId xmlns:a16="http://schemas.microsoft.com/office/drawing/2014/main" id="{EBD9A006-F087-9E20-677C-579AC68C6169}"/>
              </a:ext>
            </a:extLst>
          </p:cNvPr>
          <p:cNvSpPr>
            <a:spLocks noGrp="1"/>
          </p:cNvSpPr>
          <p:nvPr>
            <p:ph type="sldNum" sz="quarter" idx="12"/>
          </p:nvPr>
        </p:nvSpPr>
        <p:spPr>
          <a:xfrm>
            <a:off x="6572944" y="6412447"/>
            <a:ext cx="2194560" cy="370850"/>
          </a:xfrm>
        </p:spPr>
        <p:txBody>
          <a:bodyPr anchor="ctr">
            <a:normAutofit/>
          </a:bodyPr>
          <a:lstStyle/>
          <a:p>
            <a:pPr>
              <a:lnSpc>
                <a:spcPct val="90000"/>
              </a:lnSpc>
              <a:spcAft>
                <a:spcPts val="600"/>
              </a:spcAft>
            </a:pPr>
            <a:fld id="{D525BB11-F316-475A-8C08-1EE647C41E0C}" type="slidenum">
              <a:rPr lang="en-US" sz="1900">
                <a:solidFill>
                  <a:srgbClr val="FFFFFF">
                    <a:alpha val="80000"/>
                  </a:srgbClr>
                </a:solidFill>
              </a:rPr>
              <a:pPr>
                <a:lnSpc>
                  <a:spcPct val="90000"/>
                </a:lnSpc>
                <a:spcAft>
                  <a:spcPts val="600"/>
                </a:spcAft>
              </a:pPr>
              <a:t>14</a:t>
            </a:fld>
            <a:endParaRPr lang="en-US" sz="1900" dirty="0">
              <a:solidFill>
                <a:srgbClr val="FFFFFF">
                  <a:alpha val="80000"/>
                </a:srgbClr>
              </a:solidFill>
            </a:endParaRPr>
          </a:p>
        </p:txBody>
      </p:sp>
      <p:sp>
        <p:nvSpPr>
          <p:cNvPr id="4" name="TextBox 3">
            <a:extLst>
              <a:ext uri="{FF2B5EF4-FFF2-40B4-BE49-F238E27FC236}">
                <a16:creationId xmlns:a16="http://schemas.microsoft.com/office/drawing/2014/main" id="{CC185977-B4E4-92E2-4E60-C4594588B2AE}"/>
              </a:ext>
            </a:extLst>
          </p:cNvPr>
          <p:cNvSpPr txBox="1"/>
          <p:nvPr/>
        </p:nvSpPr>
        <p:spPr>
          <a:xfrm>
            <a:off x="2555609" y="431938"/>
            <a:ext cx="4038600" cy="646331"/>
          </a:xfrm>
          <a:prstGeom prst="rect">
            <a:avLst/>
          </a:prstGeom>
          <a:noFill/>
        </p:spPr>
        <p:txBody>
          <a:bodyPr wrap="square" rtlCol="0">
            <a:spAutoFit/>
          </a:bodyPr>
          <a:lstStyle/>
          <a:p>
            <a:pPr algn="ctr"/>
            <a:r>
              <a:rPr lang="en-US" sz="36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INTERFACE</a:t>
            </a:r>
          </a:p>
        </p:txBody>
      </p:sp>
      <p:pic>
        <p:nvPicPr>
          <p:cNvPr id="7" name="Picture 6">
            <a:extLst>
              <a:ext uri="{FF2B5EF4-FFF2-40B4-BE49-F238E27FC236}">
                <a16:creationId xmlns:a16="http://schemas.microsoft.com/office/drawing/2014/main" id="{750A9396-2BE7-DB7F-E123-B2A11F142C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078270"/>
            <a:ext cx="8386504" cy="5193792"/>
          </a:xfrm>
          <a:prstGeom prst="rect">
            <a:avLst/>
          </a:prstGeom>
        </p:spPr>
      </p:pic>
      <p:sp>
        <p:nvSpPr>
          <p:cNvPr id="6" name="TextBox 5">
            <a:extLst>
              <a:ext uri="{FF2B5EF4-FFF2-40B4-BE49-F238E27FC236}">
                <a16:creationId xmlns:a16="http://schemas.microsoft.com/office/drawing/2014/main" id="{E63B5735-16C4-AA61-2F48-34BC9B3F2DEB}"/>
              </a:ext>
            </a:extLst>
          </p:cNvPr>
          <p:cNvSpPr txBox="1"/>
          <p:nvPr/>
        </p:nvSpPr>
        <p:spPr>
          <a:xfrm>
            <a:off x="2247090" y="2869819"/>
            <a:ext cx="4649820" cy="369332"/>
          </a:xfrm>
          <a:prstGeom prst="rect">
            <a:avLst/>
          </a:prstGeom>
          <a:noFill/>
        </p:spPr>
        <p:txBody>
          <a:bodyPr wrap="square">
            <a:spAutoFit/>
          </a:bodyPr>
          <a:lstStyle/>
          <a:p>
            <a:r>
              <a:rPr lang="en-US" dirty="0"/>
              <a:t>Calibri</a:t>
            </a:r>
          </a:p>
        </p:txBody>
      </p:sp>
    </p:spTree>
    <p:extLst>
      <p:ext uri="{BB962C8B-B14F-4D97-AF65-F5344CB8AC3E}">
        <p14:creationId xmlns:p14="http://schemas.microsoft.com/office/powerpoint/2010/main" val="3421433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2E3710-18AB-65C7-F2BD-B08585FF6D4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A776092-0CD3-7B44-95A9-5F1B06B09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D6273BB-5C7A-68D2-7FB8-D81F37B30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31750" cap="sq">
            <a:solidFill>
              <a:srgbClr val="FF704C"/>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A82489A8-1866-ACAA-E0D6-6E37C91F0DB2}"/>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a:solidFill>
                  <a:srgbClr val="FFFFFF">
                    <a:alpha val="80000"/>
                  </a:srgbClr>
                </a:solidFill>
                <a:latin typeface="Calibri" panose="020F0502020204030204" pitchFamily="34" charset="0"/>
                <a:ea typeface="Calibri" panose="020F0502020204030204" pitchFamily="34" charset="0"/>
                <a:cs typeface="Calibri" panose="020F0502020204030204" pitchFamily="34" charset="0"/>
              </a:rPr>
              <a:t>DEPARTMENT OF Information Technology, SBBU,SBA</a:t>
            </a:r>
          </a:p>
        </p:txBody>
      </p:sp>
      <p:sp>
        <p:nvSpPr>
          <p:cNvPr id="3" name="Slide Number Placeholder 2">
            <a:extLst>
              <a:ext uri="{FF2B5EF4-FFF2-40B4-BE49-F238E27FC236}">
                <a16:creationId xmlns:a16="http://schemas.microsoft.com/office/drawing/2014/main" id="{E3A8C07D-CAAB-FA75-22BB-C8C2A509D411}"/>
              </a:ext>
            </a:extLst>
          </p:cNvPr>
          <p:cNvSpPr>
            <a:spLocks noGrp="1"/>
          </p:cNvSpPr>
          <p:nvPr>
            <p:ph type="sldNum" sz="quarter" idx="12"/>
          </p:nvPr>
        </p:nvSpPr>
        <p:spPr>
          <a:xfrm>
            <a:off x="6572944" y="6412447"/>
            <a:ext cx="2194560" cy="370850"/>
          </a:xfrm>
        </p:spPr>
        <p:txBody>
          <a:bodyPr anchor="ctr">
            <a:normAutofit/>
          </a:bodyPr>
          <a:lstStyle/>
          <a:p>
            <a:pPr>
              <a:lnSpc>
                <a:spcPct val="90000"/>
              </a:lnSpc>
              <a:spcAft>
                <a:spcPts val="600"/>
              </a:spcAft>
            </a:pPr>
            <a:fld id="{D525BB11-F316-475A-8C08-1EE647C41E0C}" type="slidenum">
              <a:rPr lang="en-US" sz="1900">
                <a:solidFill>
                  <a:srgbClr val="FFFFFF">
                    <a:alpha val="80000"/>
                  </a:srgb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15</a:t>
            </a:fld>
            <a:endParaRPr lang="en-US" sz="1900" dirty="0">
              <a:solidFill>
                <a:srgbClr val="FFFFFF">
                  <a:alpha val="80000"/>
                </a:srgb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AB9EE4E-E04E-6D2C-2EDF-5A4FB2106D1E}"/>
              </a:ext>
            </a:extLst>
          </p:cNvPr>
          <p:cNvSpPr txBox="1"/>
          <p:nvPr/>
        </p:nvSpPr>
        <p:spPr>
          <a:xfrm>
            <a:off x="2555609" y="431938"/>
            <a:ext cx="4038600" cy="646331"/>
          </a:xfrm>
          <a:prstGeom prst="rect">
            <a:avLst/>
          </a:prstGeom>
          <a:noFill/>
        </p:spPr>
        <p:txBody>
          <a:bodyPr wrap="square" rtlCol="0">
            <a:spAutoFit/>
          </a:bodyPr>
          <a:lstStyle/>
          <a:p>
            <a:pPr algn="ctr"/>
            <a:r>
              <a:rPr lang="en-US" sz="36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INTERFACE</a:t>
            </a:r>
          </a:p>
        </p:txBody>
      </p:sp>
      <p:pic>
        <p:nvPicPr>
          <p:cNvPr id="5" name="Picture 4">
            <a:extLst>
              <a:ext uri="{FF2B5EF4-FFF2-40B4-BE49-F238E27FC236}">
                <a16:creationId xmlns:a16="http://schemas.microsoft.com/office/drawing/2014/main" id="{089DD95F-FDB0-361A-CB03-3FC7A52453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6496" y="1078270"/>
            <a:ext cx="8409745" cy="5334177"/>
          </a:xfrm>
          <a:prstGeom prst="rect">
            <a:avLst/>
          </a:prstGeom>
        </p:spPr>
      </p:pic>
    </p:spTree>
    <p:extLst>
      <p:ext uri="{BB962C8B-B14F-4D97-AF65-F5344CB8AC3E}">
        <p14:creationId xmlns:p14="http://schemas.microsoft.com/office/powerpoint/2010/main" val="793261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CC33B-8795-9153-105D-1C9BD630E5D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371551C-2B13-38CF-E44E-5E74F5E11A0C}"/>
              </a:ext>
            </a:extLst>
          </p:cNvPr>
          <p:cNvSpPr/>
          <p:nvPr/>
        </p:nvSpPr>
        <p:spPr>
          <a:xfrm>
            <a:off x="7391400" y="6400800"/>
            <a:ext cx="1447800" cy="228600"/>
          </a:xfrm>
          <a:prstGeom prst="rect">
            <a:avLst/>
          </a:prstGeom>
          <a:solidFill>
            <a:srgbClr val="FFFFFF"/>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D5C9150-C8B9-3FC3-FEBC-355D49E3D423}"/>
              </a:ext>
            </a:extLst>
          </p:cNvPr>
          <p:cNvSpPr txBox="1"/>
          <p:nvPr/>
        </p:nvSpPr>
        <p:spPr>
          <a:xfrm>
            <a:off x="2209800" y="152400"/>
            <a:ext cx="3886200" cy="584775"/>
          </a:xfrm>
          <a:prstGeom prst="rect">
            <a:avLst/>
          </a:prstGeom>
          <a:noFill/>
        </p:spPr>
        <p:txBody>
          <a:bodyPr wrap="square" rtlCol="0">
            <a:spAutoFit/>
          </a:bodyPr>
          <a:lstStyle/>
          <a:p>
            <a:pPr algn="ctr"/>
            <a:r>
              <a:rPr lang="en-US" sz="3200" b="1" dirty="0">
                <a:latin typeface="Calibri" panose="020F0502020204030204" pitchFamily="34" charset="0"/>
                <a:ea typeface="Calibri" panose="020F0502020204030204" pitchFamily="34" charset="0"/>
                <a:cs typeface="Calibri" panose="020F0502020204030204" pitchFamily="34" charset="0"/>
              </a:rPr>
              <a:t>Results</a:t>
            </a:r>
          </a:p>
        </p:txBody>
      </p:sp>
      <p:sp>
        <p:nvSpPr>
          <p:cNvPr id="5" name="TextBox 4">
            <a:extLst>
              <a:ext uri="{FF2B5EF4-FFF2-40B4-BE49-F238E27FC236}">
                <a16:creationId xmlns:a16="http://schemas.microsoft.com/office/drawing/2014/main" id="{6BFACEFD-4369-56D6-8764-6A69D6F7B062}"/>
              </a:ext>
            </a:extLst>
          </p:cNvPr>
          <p:cNvSpPr txBox="1"/>
          <p:nvPr/>
        </p:nvSpPr>
        <p:spPr>
          <a:xfrm>
            <a:off x="0" y="762000"/>
            <a:ext cx="9144000" cy="5768246"/>
          </a:xfrm>
          <a:prstGeom prst="rect">
            <a:avLst/>
          </a:prstGeom>
          <a:noFill/>
        </p:spPr>
        <p:txBody>
          <a:bodyPr wrap="square">
            <a:spAutoFit/>
          </a:bodyPr>
          <a:lstStyle/>
          <a:p>
            <a:pPr algn="l">
              <a:spcBef>
                <a:spcPts val="1200"/>
              </a:spcBef>
              <a:spcAft>
                <a:spcPts val="1200"/>
              </a:spcAft>
              <a:buNone/>
            </a:pPr>
            <a:r>
              <a:rPr lang="en-US" b="1" i="0" dirty="0">
                <a:effectLst/>
                <a:latin typeface="Calibri" panose="020F0502020204030204" pitchFamily="34" charset="0"/>
                <a:ea typeface="Calibri" panose="020F0502020204030204" pitchFamily="34" charset="0"/>
                <a:cs typeface="Calibri" panose="020F0502020204030204" pitchFamily="34" charset="0"/>
              </a:rPr>
              <a:t>Retrieval Performance:</a:t>
            </a:r>
            <a:endParaRPr lang="en-US"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spcAft>
                <a:spcPts val="1200"/>
              </a:spcAft>
            </a:pPr>
            <a:r>
              <a:rPr lang="en-US" b="1" i="0" dirty="0" err="1">
                <a:effectLst/>
                <a:latin typeface="Calibri" panose="020F0502020204030204" pitchFamily="34" charset="0"/>
                <a:ea typeface="Calibri" panose="020F0502020204030204" pitchFamily="34" charset="0"/>
                <a:cs typeface="Calibri" panose="020F0502020204030204" pitchFamily="34" charset="0"/>
              </a:rPr>
              <a:t>Precision@k</a:t>
            </a:r>
            <a:r>
              <a:rPr lang="en-US" b="1" i="0" dirty="0">
                <a:effectLst/>
                <a:latin typeface="Calibri" panose="020F0502020204030204" pitchFamily="34" charset="0"/>
                <a:ea typeface="Calibri" panose="020F0502020204030204" pitchFamily="34" charset="0"/>
                <a:cs typeface="Calibri" panose="020F0502020204030204" pitchFamily="34" charset="0"/>
              </a:rPr>
              <a:t>: 0.82</a:t>
            </a:r>
            <a:r>
              <a:rPr lang="en-US" dirty="0">
                <a:latin typeface="Calibri" panose="020F0502020204030204" pitchFamily="34" charset="0"/>
                <a:ea typeface="Calibri" panose="020F0502020204030204" pitchFamily="34" charset="0"/>
                <a:cs typeface="Calibri" panose="020F0502020204030204" pitchFamily="34" charset="0"/>
              </a:rPr>
              <a:t>                        </a:t>
            </a:r>
            <a:r>
              <a:rPr lang="en-US" b="0" i="0" dirty="0">
                <a:effectLst/>
                <a:latin typeface="Calibri" panose="020F0502020204030204" pitchFamily="34" charset="0"/>
                <a:ea typeface="Calibri" panose="020F0502020204030204" pitchFamily="34" charset="0"/>
                <a:cs typeface="Calibri" panose="020F0502020204030204" pitchFamily="34" charset="0"/>
              </a:rPr>
              <a:t>82% of retrieved documents were relevant</a:t>
            </a:r>
            <a:endParaRPr lang="en-US" b="1" i="0" dirty="0">
              <a:effectLst/>
              <a:latin typeface="Calibri" panose="020F0502020204030204" pitchFamily="34" charset="0"/>
              <a:ea typeface="Calibri" panose="020F0502020204030204" pitchFamily="34" charset="0"/>
              <a:cs typeface="Calibri" panose="020F0502020204030204" pitchFamily="34" charset="0"/>
            </a:endParaRPr>
          </a:p>
          <a:p>
            <a:pPr lvl="1">
              <a:spcBef>
                <a:spcPts val="450"/>
              </a:spcBef>
              <a:spcAft>
                <a:spcPts val="1200"/>
              </a:spcAft>
            </a:pPr>
            <a:r>
              <a:rPr lang="en-US" b="1" i="0" dirty="0" err="1">
                <a:effectLst/>
                <a:latin typeface="Calibri" panose="020F0502020204030204" pitchFamily="34" charset="0"/>
                <a:ea typeface="Calibri" panose="020F0502020204030204" pitchFamily="34" charset="0"/>
                <a:cs typeface="Calibri" panose="020F0502020204030204" pitchFamily="34" charset="0"/>
              </a:rPr>
              <a:t>Recall@k</a:t>
            </a:r>
            <a:r>
              <a:rPr lang="en-US" b="1" i="0" dirty="0">
                <a:effectLst/>
                <a:latin typeface="Calibri" panose="020F0502020204030204" pitchFamily="34" charset="0"/>
                <a:ea typeface="Calibri" panose="020F0502020204030204" pitchFamily="34" charset="0"/>
                <a:cs typeface="Calibri" panose="020F0502020204030204" pitchFamily="34" charset="0"/>
              </a:rPr>
              <a:t>: 0.76</a:t>
            </a:r>
            <a:r>
              <a:rPr lang="en-US" b="0" i="0" dirty="0">
                <a:effectLst/>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                             </a:t>
            </a:r>
            <a:r>
              <a:rPr lang="en-US" b="0" i="0" dirty="0">
                <a:effectLst/>
                <a:latin typeface="Calibri" panose="020F0502020204030204" pitchFamily="34" charset="0"/>
                <a:ea typeface="Calibri" panose="020F0502020204030204" pitchFamily="34" charset="0"/>
                <a:cs typeface="Calibri" panose="020F0502020204030204" pitchFamily="34" charset="0"/>
              </a:rPr>
              <a:t>Strong ability to find relevant information</a:t>
            </a:r>
          </a:p>
          <a:p>
            <a:pPr lvl="1">
              <a:spcBef>
                <a:spcPts val="450"/>
              </a:spcBef>
              <a:spcAft>
                <a:spcPts val="1200"/>
              </a:spcAft>
            </a:pPr>
            <a:r>
              <a:rPr lang="en-US" b="1" i="0" dirty="0">
                <a:effectLst/>
                <a:latin typeface="Calibri" panose="020F0502020204030204" pitchFamily="34" charset="0"/>
                <a:ea typeface="Calibri" panose="020F0502020204030204" pitchFamily="34" charset="0"/>
                <a:cs typeface="Calibri" panose="020F0502020204030204" pitchFamily="34" charset="0"/>
              </a:rPr>
              <a:t>F1-Score: 0.79</a:t>
            </a:r>
            <a:r>
              <a:rPr lang="en-US" dirty="0">
                <a:latin typeface="Calibri" panose="020F0502020204030204" pitchFamily="34" charset="0"/>
                <a:ea typeface="Calibri" panose="020F0502020204030204" pitchFamily="34" charset="0"/>
                <a:cs typeface="Calibri" panose="020F0502020204030204" pitchFamily="34" charset="0"/>
              </a:rPr>
              <a:t>                               </a:t>
            </a:r>
            <a:r>
              <a:rPr lang="en-US" b="0" i="0" dirty="0">
                <a:effectLst/>
                <a:latin typeface="Calibri" panose="020F0502020204030204" pitchFamily="34" charset="0"/>
                <a:ea typeface="Calibri" panose="020F0502020204030204" pitchFamily="34" charset="0"/>
                <a:cs typeface="Calibri" panose="020F0502020204030204" pitchFamily="34" charset="0"/>
              </a:rPr>
              <a:t>Balanced performance between precision and recall</a:t>
            </a:r>
          </a:p>
          <a:p>
            <a:pPr lvl="1">
              <a:spcBef>
                <a:spcPts val="450"/>
              </a:spcBef>
              <a:spcAft>
                <a:spcPts val="1200"/>
              </a:spcAft>
            </a:pPr>
            <a:endParaRPr lang="en-US" b="1" i="0" dirty="0">
              <a:effectLst/>
              <a:latin typeface="Calibri" panose="020F0502020204030204" pitchFamily="34" charset="0"/>
              <a:ea typeface="Calibri" panose="020F0502020204030204" pitchFamily="34" charset="0"/>
              <a:cs typeface="Calibri" panose="020F0502020204030204" pitchFamily="34" charset="0"/>
            </a:endParaRPr>
          </a:p>
          <a:p>
            <a:pPr lvl="1">
              <a:spcBef>
                <a:spcPts val="1200"/>
              </a:spcBef>
              <a:spcAft>
                <a:spcPts val="1200"/>
              </a:spcAft>
            </a:pPr>
            <a:r>
              <a:rPr lang="en-US" b="1" i="0" dirty="0">
                <a:effectLst/>
                <a:latin typeface="Calibri" panose="020F0502020204030204" pitchFamily="34" charset="0"/>
                <a:ea typeface="Calibri" panose="020F0502020204030204" pitchFamily="34" charset="0"/>
                <a:cs typeface="Calibri" panose="020F0502020204030204" pitchFamily="34" charset="0"/>
              </a:rPr>
              <a:t>Generation Quality:</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lvl="1">
              <a:spcBef>
                <a:spcPts val="1200"/>
              </a:spcBef>
              <a:spcAft>
                <a:spcPts val="1200"/>
              </a:spcAft>
            </a:pPr>
            <a:r>
              <a:rPr lang="en-US" b="1" i="0" dirty="0">
                <a:effectLst/>
                <a:latin typeface="Calibri" panose="020F0502020204030204" pitchFamily="34" charset="0"/>
                <a:ea typeface="Calibri" panose="020F0502020204030204" pitchFamily="34" charset="0"/>
                <a:cs typeface="Calibri" panose="020F0502020204030204" pitchFamily="34" charset="0"/>
              </a:rPr>
              <a:t>Factual Accuracy: 81%</a:t>
            </a:r>
            <a:r>
              <a:rPr lang="en-US" dirty="0">
                <a:latin typeface="Calibri" panose="020F0502020204030204" pitchFamily="34" charset="0"/>
                <a:ea typeface="Calibri" panose="020F0502020204030204" pitchFamily="34" charset="0"/>
                <a:cs typeface="Calibri" panose="020F0502020204030204" pitchFamily="34" charset="0"/>
              </a:rPr>
              <a:t>                 </a:t>
            </a:r>
            <a:r>
              <a:rPr lang="en-US" b="0" i="0" dirty="0">
                <a:effectLst/>
                <a:latin typeface="Calibri" panose="020F0502020204030204" pitchFamily="34" charset="0"/>
                <a:ea typeface="Calibri" panose="020F0502020204030204" pitchFamily="34" charset="0"/>
                <a:cs typeface="Calibri" panose="020F0502020204030204" pitchFamily="34" charset="0"/>
              </a:rPr>
              <a:t>Verified by medical professionals</a:t>
            </a:r>
          </a:p>
          <a:p>
            <a:pPr lvl="1">
              <a:spcBef>
                <a:spcPts val="450"/>
              </a:spcBef>
              <a:spcAft>
                <a:spcPts val="1200"/>
              </a:spcAft>
            </a:pPr>
            <a:r>
              <a:rPr lang="en-US" b="1" i="0" dirty="0">
                <a:effectLst/>
                <a:latin typeface="Calibri" panose="020F0502020204030204" pitchFamily="34" charset="0"/>
                <a:ea typeface="Calibri" panose="020F0502020204030204" pitchFamily="34" charset="0"/>
                <a:cs typeface="Calibri" panose="020F0502020204030204" pitchFamily="34" charset="0"/>
              </a:rPr>
              <a:t>Fluency Score: 78%</a:t>
            </a:r>
            <a:r>
              <a:rPr lang="en-US" dirty="0">
                <a:latin typeface="Calibri" panose="020F0502020204030204" pitchFamily="34" charset="0"/>
                <a:ea typeface="Calibri" panose="020F0502020204030204" pitchFamily="34" charset="0"/>
                <a:cs typeface="Calibri" panose="020F0502020204030204" pitchFamily="34" charset="0"/>
              </a:rPr>
              <a:t>                      </a:t>
            </a:r>
            <a:r>
              <a:rPr lang="en-US" b="0" i="0" dirty="0">
                <a:effectLst/>
                <a:latin typeface="Calibri" panose="020F0502020204030204" pitchFamily="34" charset="0"/>
                <a:ea typeface="Calibri" panose="020F0502020204030204" pitchFamily="34" charset="0"/>
                <a:cs typeface="Calibri" panose="020F0502020204030204" pitchFamily="34" charset="0"/>
              </a:rPr>
              <a:t>Assessed by native Sindhi speakers</a:t>
            </a:r>
          </a:p>
          <a:p>
            <a:pPr lvl="1">
              <a:spcBef>
                <a:spcPts val="450"/>
              </a:spcBef>
              <a:spcAft>
                <a:spcPts val="1200"/>
              </a:spcAft>
            </a:pPr>
            <a:endParaRPr lang="en-US" b="1" i="0" dirty="0">
              <a:effectLst/>
              <a:latin typeface="Calibri" panose="020F0502020204030204" pitchFamily="34" charset="0"/>
              <a:ea typeface="Calibri" panose="020F0502020204030204" pitchFamily="34" charset="0"/>
              <a:cs typeface="Calibri" panose="020F0502020204030204" pitchFamily="34" charset="0"/>
            </a:endParaRPr>
          </a:p>
          <a:p>
            <a:pPr lvl="1">
              <a:spcBef>
                <a:spcPts val="1200"/>
              </a:spcBef>
              <a:spcAft>
                <a:spcPts val="1200"/>
              </a:spcAft>
            </a:pPr>
            <a:r>
              <a:rPr lang="en-US" b="1" i="0" dirty="0">
                <a:effectLst/>
                <a:latin typeface="Calibri" panose="020F0502020204030204" pitchFamily="34" charset="0"/>
                <a:ea typeface="Calibri" panose="020F0502020204030204" pitchFamily="34" charset="0"/>
                <a:cs typeface="Calibri" panose="020F0502020204030204" pitchFamily="34" charset="0"/>
              </a:rPr>
              <a:t>Comparative Improvement:</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lvl="1">
              <a:spcBef>
                <a:spcPts val="1200"/>
              </a:spcBef>
              <a:spcAft>
                <a:spcPts val="1200"/>
              </a:spcAft>
            </a:pPr>
            <a:r>
              <a:rPr lang="en-US" b="1" i="0" dirty="0">
                <a:effectLst/>
                <a:latin typeface="Calibri" panose="020F0502020204030204" pitchFamily="34" charset="0"/>
                <a:ea typeface="Calibri" panose="020F0502020204030204" pitchFamily="34" charset="0"/>
                <a:cs typeface="Calibri" panose="020F0502020204030204" pitchFamily="34" charset="0"/>
              </a:rPr>
              <a:t>+24.6%</a:t>
            </a:r>
            <a:r>
              <a:rPr lang="en-US" i="0" dirty="0">
                <a:effectLst/>
                <a:latin typeface="Calibri" panose="020F0502020204030204" pitchFamily="34" charset="0"/>
                <a:ea typeface="Calibri" panose="020F0502020204030204" pitchFamily="34" charset="0"/>
                <a:cs typeface="Calibri" panose="020F0502020204030204" pitchFamily="34" charset="0"/>
              </a:rPr>
              <a:t> higher factual accuracy than baseline model without RAG</a:t>
            </a:r>
          </a:p>
        </p:txBody>
      </p:sp>
      <p:sp>
        <p:nvSpPr>
          <p:cNvPr id="2" name="Footer Placeholder 1">
            <a:extLst>
              <a:ext uri="{FF2B5EF4-FFF2-40B4-BE49-F238E27FC236}">
                <a16:creationId xmlns:a16="http://schemas.microsoft.com/office/drawing/2014/main" id="{1A132A58-2BA5-5A34-C17D-FD3C5D93278C}"/>
              </a:ext>
            </a:extLst>
          </p:cNvPr>
          <p:cNvSpPr>
            <a:spLocks noGrp="1"/>
          </p:cNvSpPr>
          <p:nvPr>
            <p:ph type="ftr" sz="quarter" idx="11"/>
          </p:nvPr>
        </p:nvSpPr>
        <p:spPr>
          <a:xfrm>
            <a:off x="514350" y="6554697"/>
            <a:ext cx="3771900" cy="228600"/>
          </a:xfrm>
        </p:spPr>
        <p:txBody>
          <a:bodyPr vert="horz" lIns="91440" tIns="45720" rIns="91440" bIns="45720" rtlCol="0" anchor="ctr">
            <a:normAutofit/>
          </a:bodyPr>
          <a:lstStyle/>
          <a:p>
            <a:pPr>
              <a:lnSpc>
                <a:spcPct val="90000"/>
              </a:lnSpc>
              <a:spcAft>
                <a:spcPts val="600"/>
              </a:spcAft>
            </a:pPr>
            <a:r>
              <a:rPr lang="en-US" dirty="0">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DEPARTMENT OF TELECOMMUNICATION, MUET</a:t>
            </a:r>
          </a:p>
        </p:txBody>
      </p:sp>
    </p:spTree>
    <p:extLst>
      <p:ext uri="{BB962C8B-B14F-4D97-AF65-F5344CB8AC3E}">
        <p14:creationId xmlns:p14="http://schemas.microsoft.com/office/powerpoint/2010/main" val="1812180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96D817-73EC-E2C0-C095-4115A8EF8AE3}"/>
              </a:ext>
            </a:extLst>
          </p:cNvPr>
          <p:cNvSpPr>
            <a:spLocks noGrp="1"/>
          </p:cNvSpPr>
          <p:nvPr>
            <p:ph type="ftr" sz="quarter" idx="11"/>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DEPARTMENT OF TELECOMMUNICATION, MUET</a:t>
            </a:r>
          </a:p>
        </p:txBody>
      </p:sp>
      <p:sp>
        <p:nvSpPr>
          <p:cNvPr id="3" name="Slide Number Placeholder 2">
            <a:extLst>
              <a:ext uri="{FF2B5EF4-FFF2-40B4-BE49-F238E27FC236}">
                <a16:creationId xmlns:a16="http://schemas.microsoft.com/office/drawing/2014/main" id="{4DBC1D0D-3C1A-DAF9-7B50-3333B39C94CB}"/>
              </a:ext>
            </a:extLst>
          </p:cNvPr>
          <p:cNvSpPr>
            <a:spLocks noGrp="1"/>
          </p:cNvSpPr>
          <p:nvPr>
            <p:ph type="sldNum" sz="quarter" idx="12"/>
          </p:nvPr>
        </p:nvSpPr>
        <p:spPr/>
        <p:txBody>
          <a:bodyPr/>
          <a:lstStyle/>
          <a:p>
            <a:fld id="{D525BB11-F316-475A-8C08-1EE647C41E0C}" type="slidenum">
              <a:rPr lang="en-US" smtClean="0">
                <a:latin typeface="Calibri" panose="020F0502020204030204" pitchFamily="34" charset="0"/>
                <a:ea typeface="Calibri" panose="020F0502020204030204" pitchFamily="34" charset="0"/>
                <a:cs typeface="Calibri" panose="020F0502020204030204" pitchFamily="34" charset="0"/>
              </a:rPr>
              <a:pPr/>
              <a:t>17</a:t>
            </a:fld>
            <a:endParaRPr lang="en-US">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blue squares with white text">
            <a:extLst>
              <a:ext uri="{FF2B5EF4-FFF2-40B4-BE49-F238E27FC236}">
                <a16:creationId xmlns:a16="http://schemas.microsoft.com/office/drawing/2014/main" id="{4A183CB9-48C0-A3EF-031A-1DD23AEAF5CB}"/>
              </a:ext>
            </a:extLst>
          </p:cNvPr>
          <p:cNvPicPr>
            <a:picLocks noChangeAspect="1"/>
          </p:cNvPicPr>
          <p:nvPr/>
        </p:nvPicPr>
        <p:blipFill>
          <a:blip r:embed="rId2">
            <a:extLst>
              <a:ext uri="{28A0092B-C50C-407E-A947-70E740481C1C}">
                <a14:useLocalDpi xmlns:a14="http://schemas.microsoft.com/office/drawing/2010/main" val="0"/>
              </a:ext>
            </a:extLst>
          </a:blip>
          <a:srcRect t="12451"/>
          <a:stretch>
            <a:fillRect/>
          </a:stretch>
        </p:blipFill>
        <p:spPr>
          <a:xfrm>
            <a:off x="0" y="1447800"/>
            <a:ext cx="9144000" cy="3962400"/>
          </a:xfrm>
          <a:prstGeom prst="rect">
            <a:avLst/>
          </a:prstGeom>
        </p:spPr>
      </p:pic>
      <p:sp>
        <p:nvSpPr>
          <p:cNvPr id="6" name="TextBox 5">
            <a:extLst>
              <a:ext uri="{FF2B5EF4-FFF2-40B4-BE49-F238E27FC236}">
                <a16:creationId xmlns:a16="http://schemas.microsoft.com/office/drawing/2014/main" id="{5F96DBBF-8838-588A-3910-AD4E1D15D7F2}"/>
              </a:ext>
            </a:extLst>
          </p:cNvPr>
          <p:cNvSpPr txBox="1"/>
          <p:nvPr/>
        </p:nvSpPr>
        <p:spPr>
          <a:xfrm>
            <a:off x="2133600" y="644719"/>
            <a:ext cx="5105400" cy="461665"/>
          </a:xfrm>
          <a:prstGeom prst="rect">
            <a:avLst/>
          </a:prstGeom>
          <a:noFill/>
        </p:spPr>
        <p:txBody>
          <a:bodyPr wrap="squar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Average RAG Evaluation Metrics</a:t>
            </a:r>
          </a:p>
        </p:txBody>
      </p:sp>
    </p:spTree>
    <p:extLst>
      <p:ext uri="{BB962C8B-B14F-4D97-AF65-F5344CB8AC3E}">
        <p14:creationId xmlns:p14="http://schemas.microsoft.com/office/powerpoint/2010/main" val="986851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7CFAA6-1DBB-43B0-BD82-2FB83CF4E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65998F4-51FB-94B7-6675-FE033CCF4E61}"/>
              </a:ext>
            </a:extLst>
          </p:cNvPr>
          <p:cNvSpPr txBox="1"/>
          <p:nvPr/>
        </p:nvSpPr>
        <p:spPr>
          <a:xfrm>
            <a:off x="529724" y="639763"/>
            <a:ext cx="2960998" cy="5492750"/>
          </a:xfrm>
          <a:prstGeom prst="rect">
            <a:avLst/>
          </a:prstGeom>
        </p:spPr>
        <p:txBody>
          <a:bodyPr vert="horz" lIns="91440" tIns="45720" rIns="91440" bIns="45720" rtlCol="0" anchor="ctr">
            <a:normAutofit/>
          </a:bodyPr>
          <a:lstStyle/>
          <a:p>
            <a:pPr defTabSz="914400">
              <a:lnSpc>
                <a:spcPct val="85000"/>
              </a:lnSpc>
              <a:spcBef>
                <a:spcPct val="0"/>
              </a:spcBef>
              <a:spcAft>
                <a:spcPts val="600"/>
              </a:spcAft>
            </a:pPr>
            <a:r>
              <a:rPr lang="en-US" sz="4400" b="1" spc="-120" dirty="0">
                <a:solidFill>
                  <a:srgbClr val="FFFFFF"/>
                </a:solidFill>
                <a:latin typeface="Calibri" panose="020F0502020204030204" pitchFamily="34" charset="0"/>
                <a:ea typeface="Calibri" panose="020F0502020204030204" pitchFamily="34" charset="0"/>
                <a:cs typeface="Calibri" panose="020F0502020204030204" pitchFamily="34" charset="0"/>
              </a:rPr>
              <a:t>Conclusion </a:t>
            </a:r>
          </a:p>
        </p:txBody>
      </p:sp>
      <p:cxnSp>
        <p:nvCxnSpPr>
          <p:cNvPr id="15" name="Straight Connector 14">
            <a:extLst>
              <a:ext uri="{FF2B5EF4-FFF2-40B4-BE49-F238E27FC236}">
                <a16:creationId xmlns:a16="http://schemas.microsoft.com/office/drawing/2014/main" id="{9E13708B-D2E3-41E3-BD49-F910056473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28492" y="2211346"/>
            <a:ext cx="0" cy="2349584"/>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8BC506E8-F0CC-A548-6515-43C582CAAB0E}"/>
              </a:ext>
            </a:extLst>
          </p:cNvPr>
          <p:cNvSpPr>
            <a:spLocks noGrp="1"/>
          </p:cNvSpPr>
          <p:nvPr>
            <p:ph type="ftr" sz="quarter" idx="11"/>
          </p:nvPr>
        </p:nvSpPr>
        <p:spPr>
          <a:xfrm>
            <a:off x="514350" y="6554697"/>
            <a:ext cx="3771900" cy="228600"/>
          </a:xfrm>
        </p:spPr>
        <p:txBody>
          <a:bodyPr vert="horz" lIns="91440" tIns="45720" rIns="91440" bIns="45720" rtlCol="0" anchor="ctr">
            <a:normAutofit/>
          </a:bodyPr>
          <a:lstStyle/>
          <a:p>
            <a:pPr>
              <a:lnSpc>
                <a:spcPct val="90000"/>
              </a:lnSpc>
              <a:spcAft>
                <a:spcPts val="600"/>
              </a:spcAft>
            </a:pPr>
            <a:r>
              <a:rPr lang="en-US" dirty="0">
                <a:solidFill>
                  <a:schemeClr val="tx1">
                    <a:alpha val="80000"/>
                  </a:schemeClr>
                </a:solidFill>
                <a:latin typeface="Calibri" panose="020F0502020204030204" pitchFamily="34" charset="0"/>
                <a:ea typeface="Calibri" panose="020F0502020204030204" pitchFamily="34" charset="0"/>
                <a:cs typeface="Calibri" panose="020F0502020204030204" pitchFamily="34" charset="0"/>
              </a:rPr>
              <a:t>DEPARTMENT OF TELECOMMUNICATION, MUET</a:t>
            </a:r>
          </a:p>
        </p:txBody>
      </p:sp>
      <p:sp>
        <p:nvSpPr>
          <p:cNvPr id="3" name="Slide Number Placeholder 2">
            <a:extLst>
              <a:ext uri="{FF2B5EF4-FFF2-40B4-BE49-F238E27FC236}">
                <a16:creationId xmlns:a16="http://schemas.microsoft.com/office/drawing/2014/main" id="{58465379-82C6-934A-815B-91CD7C7A4882}"/>
              </a:ext>
            </a:extLst>
          </p:cNvPr>
          <p:cNvSpPr>
            <a:spLocks noGrp="1"/>
          </p:cNvSpPr>
          <p:nvPr>
            <p:ph type="sldNum" sz="quarter" idx="12"/>
          </p:nvPr>
        </p:nvSpPr>
        <p:spPr>
          <a:xfrm>
            <a:off x="6572944" y="5562600"/>
            <a:ext cx="2194560" cy="1397039"/>
          </a:xfrm>
        </p:spPr>
        <p:txBody>
          <a:bodyPr vert="horz" lIns="91440" tIns="45720" rIns="91440" bIns="45720" rtlCol="0" anchor="b">
            <a:normAutofit/>
          </a:bodyPr>
          <a:lstStyle/>
          <a:p>
            <a:pPr>
              <a:lnSpc>
                <a:spcPct val="90000"/>
              </a:lnSpc>
              <a:spcAft>
                <a:spcPts val="600"/>
              </a:spcAft>
            </a:pPr>
            <a:fld id="{D525BB11-F316-475A-8C08-1EE647C41E0C}" type="slidenum">
              <a:rPr lang="en-US" sz="9500" b="0" kern="1200">
                <a:ln>
                  <a:noFill/>
                </a:ln>
                <a:solidFill>
                  <a:srgbClr val="FFFFFF">
                    <a:alpha val="25000"/>
                  </a:srgb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18</a:t>
            </a:fld>
            <a:endParaRPr lang="en-US" sz="9500" b="0" kern="1200" dirty="0">
              <a:ln>
                <a:noFill/>
              </a:ln>
              <a:solidFill>
                <a:srgbClr val="FFFFFF">
                  <a:alpha val="25000"/>
                </a:srgbClr>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FFBD3FE-3EB5-6867-EE10-BC6DDE23F04F}"/>
              </a:ext>
            </a:extLst>
          </p:cNvPr>
          <p:cNvSpPr txBox="1"/>
          <p:nvPr/>
        </p:nvSpPr>
        <p:spPr>
          <a:xfrm>
            <a:off x="3966261" y="639764"/>
            <a:ext cx="4606524" cy="5492749"/>
          </a:xfrm>
          <a:prstGeom prst="rect">
            <a:avLst/>
          </a:prstGeom>
        </p:spPr>
        <p:txBody>
          <a:bodyPr vert="horz" lIns="91440" tIns="45720" rIns="91440" bIns="45720" rtlCol="0" anchor="ctr">
            <a:normAutofit/>
          </a:bodyPr>
          <a:lstStyle/>
          <a:p>
            <a:pPr algn="just" defTabSz="914400">
              <a:lnSpc>
                <a:spcPct val="150000"/>
              </a:lnSpc>
              <a:spcAft>
                <a:spcPts val="600"/>
              </a:spcAft>
            </a:pP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“We leave behind a </a:t>
            </a:r>
            <a:r>
              <a:rPr lang="en-US" sz="2400" b="1"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foundation</a:t>
            </a: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 a proven </a:t>
            </a:r>
            <a:r>
              <a:rPr lang="en-US" sz="2400" b="1"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framework</a:t>
            </a: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 a valuable </a:t>
            </a:r>
            <a:r>
              <a:rPr lang="en-US" sz="2400" b="1"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corpus</a:t>
            </a: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 and a </a:t>
            </a:r>
            <a:r>
              <a:rPr lang="en-US" sz="2400" b="1"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functional tool </a:t>
            </a: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that will empower </a:t>
            </a:r>
            <a:r>
              <a:rPr lang="en-US" sz="2400" b="1"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future innovators </a:t>
            </a: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to ensure no language is left behind in the </a:t>
            </a:r>
            <a:r>
              <a:rPr lang="en-US" sz="2400" b="1"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digital health revolution</a:t>
            </a:r>
            <a:r>
              <a:rPr lang="en-US" sz="2400" i="1" dirty="0">
                <a:solidFill>
                  <a:schemeClr val="tx1">
                    <a:lumMod val="85000"/>
                    <a:lumOff val="15000"/>
                  </a:schemeClr>
                </a:solidFill>
                <a:effectLst/>
                <a:latin typeface="Calibri" panose="020F0502020204030204" pitchFamily="34" charset="0"/>
                <a:ea typeface="Calibri" panose="020F0502020204030204" pitchFamily="34" charset="0"/>
                <a:cs typeface="Calibri" panose="020F0502020204030204" pitchFamily="34" charset="0"/>
              </a:rPr>
              <a:t>.”</a:t>
            </a:r>
            <a:endParaRPr lang="en-US" sz="2400" i="1" dirty="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1163029"/>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0B16C5-1FFE-77B3-F607-89FF71766485}"/>
              </a:ext>
            </a:extLst>
          </p:cNvPr>
          <p:cNvSpPr>
            <a:spLocks noGrp="1"/>
          </p:cNvSpPr>
          <p:nvPr>
            <p:ph type="ftr" sz="quarter" idx="11"/>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DEPARTMENT OF TELECOMMUNICATION, MUET</a:t>
            </a:r>
          </a:p>
        </p:txBody>
      </p:sp>
      <p:sp>
        <p:nvSpPr>
          <p:cNvPr id="3" name="Slide Number Placeholder 2">
            <a:extLst>
              <a:ext uri="{FF2B5EF4-FFF2-40B4-BE49-F238E27FC236}">
                <a16:creationId xmlns:a16="http://schemas.microsoft.com/office/drawing/2014/main" id="{35BCBC4E-299C-1E7A-9319-A6148C20A1BD}"/>
              </a:ext>
            </a:extLst>
          </p:cNvPr>
          <p:cNvSpPr>
            <a:spLocks noGrp="1"/>
          </p:cNvSpPr>
          <p:nvPr>
            <p:ph type="sldNum" sz="quarter" idx="12"/>
          </p:nvPr>
        </p:nvSpPr>
        <p:spPr/>
        <p:txBody>
          <a:bodyPr/>
          <a:lstStyle/>
          <a:p>
            <a:fld id="{D525BB11-F316-475A-8C08-1EE647C41E0C}" type="slidenum">
              <a:rPr lang="en-US" smtClean="0">
                <a:latin typeface="Calibri" panose="020F0502020204030204" pitchFamily="34" charset="0"/>
                <a:ea typeface="Calibri" panose="020F0502020204030204" pitchFamily="34" charset="0"/>
                <a:cs typeface="Calibri" panose="020F0502020204030204" pitchFamily="34" charset="0"/>
              </a:rPr>
              <a:pPr/>
              <a:t>19</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20195FC-1BF4-20F6-EAFC-D60B54A311A4}"/>
              </a:ext>
            </a:extLst>
          </p:cNvPr>
          <p:cNvSpPr txBox="1"/>
          <p:nvPr/>
        </p:nvSpPr>
        <p:spPr>
          <a:xfrm>
            <a:off x="0" y="845765"/>
            <a:ext cx="9144000" cy="5783635"/>
          </a:xfrm>
          <a:prstGeom prst="rect">
            <a:avLst/>
          </a:prstGeom>
          <a:noFill/>
        </p:spPr>
        <p:txBody>
          <a:bodyPr wrap="square">
            <a:spAutoFit/>
          </a:bodyPr>
          <a:lstStyle/>
          <a:p>
            <a:pPr algn="l">
              <a:spcBef>
                <a:spcPts val="1200"/>
              </a:spcBef>
              <a:spcAft>
                <a:spcPts val="600"/>
              </a:spcAft>
            </a:pPr>
            <a:r>
              <a:rPr lang="en-US" b="1" i="0" dirty="0">
                <a:effectLst/>
                <a:latin typeface="Calibri" panose="020F0502020204030204" pitchFamily="34" charset="0"/>
                <a:ea typeface="Calibri" panose="020F0502020204030204" pitchFamily="34" charset="0"/>
                <a:cs typeface="Calibri" panose="020F0502020204030204" pitchFamily="34" charset="0"/>
              </a:rPr>
              <a:t>Challenges Overcome:</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Bef>
                <a:spcPts val="30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Data Scarcity:</a:t>
            </a:r>
            <a:r>
              <a:rPr lang="en-US" b="0" i="0" dirty="0">
                <a:effectLst/>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Data Scarcity &amp; OCR errors in Sindhi textbooks.</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Bef>
                <a:spcPts val="45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Computational Limits:</a:t>
            </a:r>
            <a:r>
              <a:rPr lang="en-US" b="0" i="0" dirty="0">
                <a:effectLst/>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Computational limitations for model training.</a:t>
            </a:r>
          </a:p>
          <a:p>
            <a:pPr marL="800100" lvl="1" indent="-342900">
              <a:spcBef>
                <a:spcPts val="450"/>
              </a:spcBef>
              <a:spcAft>
                <a:spcPts val="1200"/>
              </a:spcAft>
              <a:buFont typeface="+mj-lt"/>
              <a:buAutoNum type="arabicPeriod"/>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algn="l">
              <a:spcBef>
                <a:spcPts val="450"/>
              </a:spcBef>
              <a:spcAft>
                <a:spcPts val="600"/>
              </a:spcAft>
            </a:pPr>
            <a:r>
              <a:rPr lang="en-US" b="1" i="0" dirty="0">
                <a:effectLst/>
                <a:latin typeface="Calibri" panose="020F0502020204030204" pitchFamily="34" charset="0"/>
                <a:ea typeface="Calibri" panose="020F0502020204030204" pitchFamily="34" charset="0"/>
                <a:cs typeface="Calibri" panose="020F0502020204030204" pitchFamily="34" charset="0"/>
              </a:rPr>
              <a:t>Limitations (Be Transparent):</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800100" lvl="1" indent="-342900">
              <a:spcBef>
                <a:spcPts val="30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Static Knowledge:</a:t>
            </a:r>
            <a:r>
              <a:rPr lang="en-US" b="0" i="0" dirty="0">
                <a:effectLst/>
                <a:latin typeface="Calibri" panose="020F0502020204030204" pitchFamily="34" charset="0"/>
                <a:ea typeface="Calibri" panose="020F0502020204030204" pitchFamily="34" charset="0"/>
                <a:cs typeface="Calibri" panose="020F0502020204030204" pitchFamily="34" charset="0"/>
              </a:rPr>
              <a:t> Corpus is based on textbooks</a:t>
            </a:r>
            <a:r>
              <a:rPr lang="en-US" dirty="0">
                <a:latin typeface="Calibri" panose="020F0502020204030204" pitchFamily="34" charset="0"/>
                <a:ea typeface="Calibri" panose="020F0502020204030204" pitchFamily="34" charset="0"/>
                <a:cs typeface="Calibri" panose="020F0502020204030204" pitchFamily="34" charset="0"/>
              </a:rPr>
              <a:t>(not up-to-date with latest research)</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800100" lvl="1" indent="-342900" algn="l">
              <a:spcBef>
                <a:spcPts val="45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Formal Tone:</a:t>
            </a:r>
            <a:r>
              <a:rPr lang="en-US" b="0" i="0" dirty="0">
                <a:effectLst/>
                <a:latin typeface="Calibri" panose="020F0502020204030204" pitchFamily="34" charset="0"/>
                <a:ea typeface="Calibri" panose="020F0502020204030204" pitchFamily="34" charset="0"/>
                <a:cs typeface="Calibri" panose="020F0502020204030204" pitchFamily="34" charset="0"/>
              </a:rPr>
              <a:t> Outputs are educational, not conversational.</a:t>
            </a:r>
          </a:p>
          <a:p>
            <a:pPr marL="800100" lvl="1" indent="-342900" algn="l">
              <a:spcBef>
                <a:spcPts val="450"/>
              </a:spcBef>
              <a:spcAft>
                <a:spcPts val="1200"/>
              </a:spcAft>
              <a:buFont typeface="+mj-lt"/>
              <a:buAutoNum type="arabicPeriod"/>
            </a:pP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algn="l">
              <a:spcBef>
                <a:spcPts val="450"/>
              </a:spcBef>
              <a:spcAft>
                <a:spcPts val="600"/>
              </a:spcAft>
            </a:pPr>
            <a:r>
              <a:rPr lang="en-US" b="1" i="0" dirty="0">
                <a:effectLst/>
                <a:latin typeface="Calibri" panose="020F0502020204030204" pitchFamily="34" charset="0"/>
                <a:ea typeface="Calibri" panose="020F0502020204030204" pitchFamily="34" charset="0"/>
                <a:cs typeface="Calibri" panose="020F0502020204030204" pitchFamily="34" charset="0"/>
              </a:rPr>
              <a:t>Ethical Guardrails (Crucial for Healthcare):</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800100" lvl="1" indent="-342900" algn="l">
              <a:spcBef>
                <a:spcPts val="30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Clear Disclaimer:</a:t>
            </a:r>
            <a:r>
              <a:rPr lang="en-US" b="0" i="0" dirty="0">
                <a:effectLst/>
                <a:latin typeface="Calibri" panose="020F0502020204030204" pitchFamily="34" charset="0"/>
                <a:ea typeface="Calibri" panose="020F0502020204030204" pitchFamily="34" charset="0"/>
                <a:cs typeface="Calibri" panose="020F0502020204030204" pitchFamily="34" charset="0"/>
              </a:rPr>
              <a:t> "This is an educational aid, not a medical diagnostic tool."</a:t>
            </a:r>
          </a:p>
          <a:p>
            <a:pPr marL="800100" lvl="1" indent="-342900" algn="l">
              <a:spcBef>
                <a:spcPts val="45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Privacy:</a:t>
            </a:r>
            <a:r>
              <a:rPr lang="en-US" b="0" i="0" dirty="0">
                <a:effectLst/>
                <a:latin typeface="Calibri" panose="020F0502020204030204" pitchFamily="34" charset="0"/>
                <a:ea typeface="Calibri" panose="020F0502020204030204" pitchFamily="34" charset="0"/>
                <a:cs typeface="Calibri" panose="020F0502020204030204" pitchFamily="34" charset="0"/>
              </a:rPr>
              <a:t> User queries are not stored permanently.</a:t>
            </a:r>
          </a:p>
          <a:p>
            <a:pPr marL="800100" lvl="1" indent="-342900" algn="l">
              <a:spcBef>
                <a:spcPts val="450"/>
              </a:spcBef>
              <a:spcAft>
                <a:spcPts val="1200"/>
              </a:spcAft>
              <a:buFont typeface="+mj-lt"/>
              <a:buAutoNum type="arabicPeriod"/>
            </a:pPr>
            <a:r>
              <a:rPr lang="en-US" b="1" i="0" dirty="0">
                <a:effectLst/>
                <a:latin typeface="Calibri" panose="020F0502020204030204" pitchFamily="34" charset="0"/>
                <a:ea typeface="Calibri" panose="020F0502020204030204" pitchFamily="34" charset="0"/>
                <a:cs typeface="Calibri" panose="020F0502020204030204" pitchFamily="34" charset="0"/>
              </a:rPr>
              <a:t>Accessibility:</a:t>
            </a:r>
            <a:r>
              <a:rPr lang="en-US" b="0" i="0" dirty="0">
                <a:effectLst/>
                <a:latin typeface="Calibri" panose="020F0502020204030204" pitchFamily="34" charset="0"/>
                <a:ea typeface="Calibri" panose="020F0502020204030204" pitchFamily="34" charset="0"/>
                <a:cs typeface="Calibri" panose="020F0502020204030204" pitchFamily="34" charset="0"/>
              </a:rPr>
              <a:t> We acknowledge the need for voice-based interfaces for wider reach in HCI field.</a:t>
            </a:r>
          </a:p>
        </p:txBody>
      </p:sp>
      <p:sp>
        <p:nvSpPr>
          <p:cNvPr id="6" name="TextBox 5">
            <a:extLst>
              <a:ext uri="{FF2B5EF4-FFF2-40B4-BE49-F238E27FC236}">
                <a16:creationId xmlns:a16="http://schemas.microsoft.com/office/drawing/2014/main" id="{642CB8FA-E57A-B434-0953-964ED2457A7E}"/>
              </a:ext>
            </a:extLst>
          </p:cNvPr>
          <p:cNvSpPr txBox="1"/>
          <p:nvPr/>
        </p:nvSpPr>
        <p:spPr>
          <a:xfrm>
            <a:off x="2895600" y="233901"/>
            <a:ext cx="3352800" cy="584775"/>
          </a:xfrm>
          <a:prstGeom prst="rect">
            <a:avLst/>
          </a:prstGeom>
          <a:noFill/>
        </p:spPr>
        <p:txBody>
          <a:bodyPr wrap="square" rtlCol="0">
            <a:spAutoFit/>
          </a:bodyPr>
          <a:lstStyle/>
          <a:p>
            <a:pPr algn="ctr"/>
            <a:r>
              <a:rPr lang="en-US" sz="3200" b="1">
                <a:latin typeface="Calibri" panose="020F0502020204030204" pitchFamily="34" charset="0"/>
                <a:ea typeface="Calibri" panose="020F0502020204030204" pitchFamily="34" charset="0"/>
                <a:cs typeface="Calibri" panose="020F0502020204030204" pitchFamily="34" charset="0"/>
              </a:rPr>
              <a:t>Limitations</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0396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BA1747-ECC0-D88D-8A9A-F9268563BB65}"/>
              </a:ext>
            </a:extLst>
          </p:cNvPr>
          <p:cNvSpPr>
            <a:spLocks noGrp="1"/>
          </p:cNvSpPr>
          <p:nvPr>
            <p:ph type="ftr" sz="quarter" idx="11"/>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DEPARTMENT OF TELECOMMUNICATION, MUET</a:t>
            </a:r>
          </a:p>
        </p:txBody>
      </p:sp>
      <p:sp>
        <p:nvSpPr>
          <p:cNvPr id="3" name="Slide Number Placeholder 2">
            <a:extLst>
              <a:ext uri="{FF2B5EF4-FFF2-40B4-BE49-F238E27FC236}">
                <a16:creationId xmlns:a16="http://schemas.microsoft.com/office/drawing/2014/main" id="{120B079C-6A4D-4E42-FF6C-1776FEF7B49A}"/>
              </a:ext>
            </a:extLst>
          </p:cNvPr>
          <p:cNvSpPr>
            <a:spLocks noGrp="1"/>
          </p:cNvSpPr>
          <p:nvPr>
            <p:ph type="sldNum" sz="quarter" idx="12"/>
          </p:nvPr>
        </p:nvSpPr>
        <p:spPr/>
        <p:txBody>
          <a:bodyPr/>
          <a:lstStyle/>
          <a:p>
            <a:fld id="{D525BB11-F316-475A-8C08-1EE647C41E0C}" type="slidenum">
              <a:rPr lang="en-US" smtClean="0">
                <a:latin typeface="Calibri" panose="020F0502020204030204" pitchFamily="34" charset="0"/>
                <a:ea typeface="Calibri" panose="020F0502020204030204" pitchFamily="34" charset="0"/>
                <a:cs typeface="Calibri" panose="020F0502020204030204" pitchFamily="34" charset="0"/>
              </a:rPr>
              <a:pPr/>
              <a:t>20</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B862A6F-BA04-9EB1-95C0-B2AA6DCB7110}"/>
              </a:ext>
            </a:extLst>
          </p:cNvPr>
          <p:cNvSpPr txBox="1"/>
          <p:nvPr/>
        </p:nvSpPr>
        <p:spPr>
          <a:xfrm>
            <a:off x="0" y="1470913"/>
            <a:ext cx="9143999" cy="4098558"/>
          </a:xfrm>
          <a:prstGeom prst="rect">
            <a:avLst/>
          </a:prstGeom>
          <a:noFill/>
        </p:spPr>
        <p:txBody>
          <a:bodyPr wrap="square">
            <a:spAutoFit/>
          </a:bodyPr>
          <a:lstStyle/>
          <a:p>
            <a:pPr algn="l">
              <a:spcBef>
                <a:spcPts val="1200"/>
              </a:spcBef>
              <a:spcAft>
                <a:spcPts val="1200"/>
              </a:spcAft>
              <a:buNone/>
            </a:pPr>
            <a:r>
              <a:rPr lang="en-US" b="1" i="0" dirty="0">
                <a:effectLst/>
                <a:latin typeface="Calibri" panose="020F0502020204030204" pitchFamily="34" charset="0"/>
                <a:ea typeface="Calibri" panose="020F0502020204030204" pitchFamily="34" charset="0"/>
                <a:cs typeface="Calibri" panose="020F0502020204030204" pitchFamily="34" charset="0"/>
              </a:rPr>
              <a:t>Short-Term (Next 6 months):</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spcBef>
                <a:spcPts val="300"/>
              </a:spcBef>
              <a:spcAft>
                <a:spcPts val="1200"/>
              </a:spcAf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Corpus expansion with latest guidelines &amp; multimedia.</a:t>
            </a:r>
          </a:p>
          <a:p>
            <a:pPr marL="742950" lvl="1" indent="-285750" algn="l">
              <a:spcBef>
                <a:spcPts val="450"/>
              </a:spcBef>
              <a:spcAft>
                <a:spcPts val="1200"/>
              </a:spcAf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Develop a mobile application.</a:t>
            </a:r>
          </a:p>
          <a:p>
            <a:pPr algn="l">
              <a:spcBef>
                <a:spcPts val="450"/>
              </a:spcBef>
              <a:spcAft>
                <a:spcPts val="600"/>
              </a:spcAft>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Medium-Term (Next 1-2 years):</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spcBef>
                <a:spcPts val="300"/>
              </a:spcBef>
              <a:spcAft>
                <a:spcPts val="1200"/>
              </a:spcAf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Integrate Sindhi Text-to-Speech and Speech-to-Text.</a:t>
            </a:r>
          </a:p>
          <a:p>
            <a:pPr marL="742950" lvl="1" indent="-285750" algn="l">
              <a:spcBef>
                <a:spcPts val="450"/>
              </a:spcBef>
              <a:spcAft>
                <a:spcPts val="1200"/>
              </a:spcAf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Partnerships with health NGOs for real-world deployment.</a:t>
            </a:r>
          </a:p>
          <a:p>
            <a:pPr algn="l">
              <a:spcBef>
                <a:spcPts val="450"/>
              </a:spcBef>
              <a:spcAft>
                <a:spcPts val="600"/>
              </a:spcAft>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Long-Term Vision:</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p>
            <a:pPr marL="742950" lvl="1" indent="-285750" algn="l">
              <a:spcBef>
                <a:spcPts val="300"/>
              </a:spcBef>
              <a:spcAft>
                <a:spcPts val="1200"/>
              </a:spcAft>
              <a:buFont typeface="Arial" panose="020B0604020202020204" pitchFamily="34" charset="0"/>
              <a:buChar char="•"/>
            </a:pPr>
            <a:r>
              <a:rPr lang="en-US" b="1" i="0" dirty="0">
                <a:effectLst/>
                <a:latin typeface="Calibri" panose="020F0502020204030204" pitchFamily="34" charset="0"/>
                <a:ea typeface="Calibri" panose="020F0502020204030204" pitchFamily="34" charset="0"/>
                <a:cs typeface="Calibri" panose="020F0502020204030204" pitchFamily="34" charset="0"/>
              </a:rPr>
              <a:t>"Sindhi Health AI Assistant":</a:t>
            </a:r>
            <a:r>
              <a:rPr lang="en-US" b="0" i="0" dirty="0">
                <a:effectLst/>
                <a:latin typeface="Calibri" panose="020F0502020204030204" pitchFamily="34" charset="0"/>
                <a:ea typeface="Calibri" panose="020F0502020204030204" pitchFamily="34" charset="0"/>
                <a:cs typeface="Calibri" panose="020F0502020204030204" pitchFamily="34" charset="0"/>
              </a:rPr>
              <a:t> A multimodal, always-up-to-date health companion.</a:t>
            </a:r>
          </a:p>
          <a:p>
            <a:pPr marL="742950" lvl="1" indent="-285750" algn="l">
              <a:spcBef>
                <a:spcPts val="450"/>
              </a:spcBef>
              <a:spcAft>
                <a:spcPts val="1200"/>
              </a:spcAft>
              <a:buFont typeface="Arial" panose="020B0604020202020204" pitchFamily="34" charset="0"/>
              <a:buChar char="•"/>
            </a:pPr>
            <a:r>
              <a:rPr lang="en-US" b="0" i="0" dirty="0">
                <a:effectLst/>
                <a:latin typeface="Calibri" panose="020F0502020204030204" pitchFamily="34" charset="0"/>
                <a:ea typeface="Calibri" panose="020F0502020204030204" pitchFamily="34" charset="0"/>
                <a:cs typeface="Calibri" panose="020F0502020204030204" pitchFamily="34" charset="0"/>
              </a:rPr>
              <a:t>Adapt this framework for other Pakistani languages (Urdu, Pashto, Balochi).</a:t>
            </a:r>
          </a:p>
        </p:txBody>
      </p:sp>
      <p:sp>
        <p:nvSpPr>
          <p:cNvPr id="6" name="TextBox 5">
            <a:extLst>
              <a:ext uri="{FF2B5EF4-FFF2-40B4-BE49-F238E27FC236}">
                <a16:creationId xmlns:a16="http://schemas.microsoft.com/office/drawing/2014/main" id="{3BCB1D83-532A-2A0A-7043-86AEC0316069}"/>
              </a:ext>
            </a:extLst>
          </p:cNvPr>
          <p:cNvSpPr txBox="1"/>
          <p:nvPr/>
        </p:nvSpPr>
        <p:spPr>
          <a:xfrm>
            <a:off x="1905000" y="152400"/>
            <a:ext cx="5486400" cy="892552"/>
          </a:xfrm>
          <a:prstGeom prst="rect">
            <a:avLst/>
          </a:prstGeom>
          <a:noFill/>
        </p:spPr>
        <p:txBody>
          <a:bodyPr wrap="square" rtlCol="0">
            <a:spAutoFit/>
          </a:bodyPr>
          <a:lstStyle/>
          <a:p>
            <a:pPr algn="ctr"/>
            <a:r>
              <a:rPr lang="en-US" sz="3200" b="1" dirty="0">
                <a:latin typeface="Calibri" panose="020F0502020204030204" pitchFamily="34" charset="0"/>
                <a:ea typeface="Calibri" panose="020F0502020204030204" pitchFamily="34" charset="0"/>
                <a:cs typeface="Calibri" panose="020F0502020204030204" pitchFamily="34" charset="0"/>
              </a:rPr>
              <a:t>Future Work</a:t>
            </a:r>
          </a:p>
          <a:p>
            <a:pPr algn="ctr"/>
            <a:r>
              <a:rPr lang="en-US" sz="2000" i="1" dirty="0">
                <a:latin typeface="Calibri" panose="020F0502020204030204" pitchFamily="34" charset="0"/>
                <a:ea typeface="Calibri" panose="020F0502020204030204" pitchFamily="34" charset="0"/>
                <a:cs typeface="Calibri" panose="020F0502020204030204" pitchFamily="34" charset="0"/>
              </a:rPr>
              <a:t>The Road Ahead</a:t>
            </a:r>
          </a:p>
        </p:txBody>
      </p:sp>
    </p:spTree>
    <p:extLst>
      <p:ext uri="{BB962C8B-B14F-4D97-AF65-F5344CB8AC3E}">
        <p14:creationId xmlns:p14="http://schemas.microsoft.com/office/powerpoint/2010/main" val="3379041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1CCD5EF-766D-43B9-A25D-19122E5FB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1989682"/>
          </a:xfrm>
          <a:prstGeom prst="rect">
            <a:avLst/>
          </a:prstGeom>
          <a:solidFill>
            <a:schemeClr val="accent1"/>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D9699C9-77F1-4E33-A750-CB78C7EA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646" y="806204"/>
            <a:ext cx="7934706" cy="1664208"/>
          </a:xfrm>
          <a:prstGeom prst="rect">
            <a:avLst/>
          </a:prstGeom>
          <a:noFill/>
          <a:ln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42B5EE-30F3-28CA-E7DF-95D21368401E}"/>
              </a:ext>
            </a:extLst>
          </p:cNvPr>
          <p:cNvSpPr>
            <a:spLocks noGrp="1"/>
          </p:cNvSpPr>
          <p:nvPr>
            <p:ph type="title"/>
          </p:nvPr>
        </p:nvSpPr>
        <p:spPr>
          <a:xfrm>
            <a:off x="803884" y="1059736"/>
            <a:ext cx="7530175" cy="1228130"/>
          </a:xfrm>
        </p:spPr>
        <p:txBody>
          <a:bodyPr>
            <a:normAutofit/>
          </a:bodyPr>
          <a:lstStyle/>
          <a:p>
            <a:r>
              <a:rPr lang="en-US" dirty="0">
                <a:solidFill>
                  <a:srgbClr val="FFFFFF"/>
                </a:solidFill>
                <a:latin typeface="Calibri" panose="020F0502020204030204" pitchFamily="34" charset="0"/>
                <a:ea typeface="Calibri" panose="020F0502020204030204" pitchFamily="34" charset="0"/>
                <a:cs typeface="Calibri" panose="020F0502020204030204" pitchFamily="34" charset="0"/>
              </a:rPr>
              <a:t>References </a:t>
            </a:r>
          </a:p>
        </p:txBody>
      </p:sp>
      <p:sp>
        <p:nvSpPr>
          <p:cNvPr id="4" name="Footer Placeholder 3">
            <a:extLst>
              <a:ext uri="{FF2B5EF4-FFF2-40B4-BE49-F238E27FC236}">
                <a16:creationId xmlns:a16="http://schemas.microsoft.com/office/drawing/2014/main" id="{522D8356-0DE4-4333-8AE2-F3E11448D767}"/>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dirty="0">
                <a:latin typeface="Calibri" panose="020F0502020204030204" pitchFamily="34" charset="0"/>
                <a:ea typeface="Calibri" panose="020F0502020204030204" pitchFamily="34" charset="0"/>
                <a:cs typeface="Calibri" panose="020F0502020204030204" pitchFamily="34" charset="0"/>
              </a:rPr>
              <a:t>DEPARTMENT OF Information Technology, SBBU,SBA</a:t>
            </a: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CEF1F9F9-A5C7-65AC-358D-826091782236}"/>
              </a:ext>
            </a:extLst>
          </p:cNvPr>
          <p:cNvSpPr>
            <a:spLocks noGrp="1"/>
          </p:cNvSpPr>
          <p:nvPr>
            <p:ph type="sldNum" sz="quarter" idx="12"/>
          </p:nvPr>
        </p:nvSpPr>
        <p:spPr>
          <a:xfrm>
            <a:off x="6949440" y="5527668"/>
            <a:ext cx="2194560" cy="1397039"/>
          </a:xfrm>
        </p:spPr>
        <p:txBody>
          <a:bodyPr>
            <a:normAutofit/>
          </a:bodyPr>
          <a:lstStyle/>
          <a:p>
            <a:pPr>
              <a:lnSpc>
                <a:spcPct val="90000"/>
              </a:lnSpc>
              <a:spcAft>
                <a:spcPts val="600"/>
              </a:spcAft>
            </a:pPr>
            <a:fld id="{D525BB11-F316-475A-8C08-1EE647C41E0C}" type="slidenum">
              <a:rPr lang="en-US" smtClean="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21</a:t>
            </a:fld>
            <a:endParaRPr lang="en-US" dirty="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1BDB45FC-9EB1-B166-5932-F6830E0F04BB}"/>
              </a:ext>
            </a:extLst>
          </p:cNvPr>
          <p:cNvSpPr>
            <a:spLocks noGrp="1"/>
          </p:cNvSpPr>
          <p:nvPr>
            <p:ph idx="1"/>
          </p:nvPr>
        </p:nvSpPr>
        <p:spPr>
          <a:xfrm>
            <a:off x="803884" y="2973313"/>
            <a:ext cx="7530175" cy="2903099"/>
          </a:xfrm>
        </p:spPr>
        <p:txBody>
          <a:bodyPr>
            <a:normAutofit/>
          </a:bodyPr>
          <a:lstStyle/>
          <a:p>
            <a:r>
              <a:rPr lang="en-US" sz="1100" b="1">
                <a:latin typeface="Calibri" panose="020F0502020204030204" pitchFamily="34" charset="0"/>
                <a:ea typeface="Calibri" panose="020F0502020204030204" pitchFamily="34" charset="0"/>
                <a:cs typeface="Calibri" panose="020F0502020204030204" pitchFamily="34" charset="0"/>
              </a:rPr>
              <a:t>[1] </a:t>
            </a:r>
            <a:r>
              <a:rPr lang="en-US" sz="1100" i="0">
                <a:effectLst/>
                <a:latin typeface="Calibri" panose="020F0502020204030204" pitchFamily="34" charset="0"/>
                <a:ea typeface="Calibri" panose="020F0502020204030204" pitchFamily="34" charset="0"/>
                <a:cs typeface="Calibri" panose="020F0502020204030204" pitchFamily="34" charset="0"/>
              </a:rPr>
              <a:t>Memon, A. A., Hina, S., Kazi, A. K., &amp; Ahmed, S. (2024). Parts-of-speech tagger for Sindhi language using deep neural network architecture. </a:t>
            </a:r>
            <a:r>
              <a:rPr lang="en-US" sz="1100" i="1">
                <a:effectLst/>
                <a:latin typeface="Calibri" panose="020F0502020204030204" pitchFamily="34" charset="0"/>
                <a:ea typeface="Calibri" panose="020F0502020204030204" pitchFamily="34" charset="0"/>
                <a:cs typeface="Calibri" panose="020F0502020204030204" pitchFamily="34" charset="0"/>
              </a:rPr>
              <a:t>Mehran University Research Journal Of Engineering &amp; Technology</a:t>
            </a:r>
            <a:r>
              <a:rPr lang="en-US" sz="1100" i="0">
                <a:effectLst/>
                <a:latin typeface="Calibri" panose="020F0502020204030204" pitchFamily="34" charset="0"/>
                <a:ea typeface="Calibri" panose="020F0502020204030204" pitchFamily="34" charset="0"/>
                <a:cs typeface="Calibri" panose="020F0502020204030204" pitchFamily="34" charset="0"/>
              </a:rPr>
              <a:t>, </a:t>
            </a:r>
            <a:r>
              <a:rPr lang="en-US" sz="1100" i="1">
                <a:effectLst/>
                <a:latin typeface="Calibri" panose="020F0502020204030204" pitchFamily="34" charset="0"/>
                <a:ea typeface="Calibri" panose="020F0502020204030204" pitchFamily="34" charset="0"/>
                <a:cs typeface="Calibri" panose="020F0502020204030204" pitchFamily="34" charset="0"/>
              </a:rPr>
              <a:t>43</a:t>
            </a:r>
            <a:r>
              <a:rPr lang="en-US" sz="1100" i="0">
                <a:effectLst/>
                <a:latin typeface="Calibri" panose="020F0502020204030204" pitchFamily="34" charset="0"/>
                <a:ea typeface="Calibri" panose="020F0502020204030204" pitchFamily="34" charset="0"/>
                <a:cs typeface="Calibri" panose="020F0502020204030204" pitchFamily="34" charset="0"/>
              </a:rPr>
              <a:t>(3), 47-55.</a:t>
            </a:r>
            <a:endParaRPr lang="en-US" sz="1100">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[2] </a:t>
            </a:r>
            <a:r>
              <a:rPr lang="en-US" sz="1100" i="0">
                <a:effectLst/>
                <a:latin typeface="Calibri" panose="020F0502020204030204" pitchFamily="34" charset="0"/>
                <a:ea typeface="Calibri" panose="020F0502020204030204" pitchFamily="34" charset="0"/>
                <a:cs typeface="Calibri" panose="020F0502020204030204" pitchFamily="34" charset="0"/>
              </a:rPr>
              <a:t>Shaikh, I. A., Nawaz, H. I., &amp; Abbasi, M. A. (2025). Exploring the Effects of English Language Dominance on Sindhi Language Speakers' Attitudes. </a:t>
            </a:r>
            <a:r>
              <a:rPr lang="en-US" sz="1100" i="1">
                <a:effectLst/>
                <a:latin typeface="Calibri" panose="020F0502020204030204" pitchFamily="34" charset="0"/>
                <a:ea typeface="Calibri" panose="020F0502020204030204" pitchFamily="34" charset="0"/>
                <a:cs typeface="Calibri" panose="020F0502020204030204" pitchFamily="34" charset="0"/>
              </a:rPr>
              <a:t>Dialogue Social Science Review (DSSR)</a:t>
            </a:r>
            <a:r>
              <a:rPr lang="en-US" sz="1100" i="0">
                <a:effectLst/>
                <a:latin typeface="Calibri" panose="020F0502020204030204" pitchFamily="34" charset="0"/>
                <a:ea typeface="Calibri" panose="020F0502020204030204" pitchFamily="34" charset="0"/>
                <a:cs typeface="Calibri" panose="020F0502020204030204" pitchFamily="34" charset="0"/>
              </a:rPr>
              <a:t>, </a:t>
            </a:r>
            <a:r>
              <a:rPr lang="en-US" sz="1100" i="1">
                <a:effectLst/>
                <a:latin typeface="Calibri" panose="020F0502020204030204" pitchFamily="34" charset="0"/>
                <a:ea typeface="Calibri" panose="020F0502020204030204" pitchFamily="34" charset="0"/>
                <a:cs typeface="Calibri" panose="020F0502020204030204" pitchFamily="34" charset="0"/>
              </a:rPr>
              <a:t>3</a:t>
            </a:r>
            <a:r>
              <a:rPr lang="en-US" sz="1100" i="0">
                <a:effectLst/>
                <a:latin typeface="Calibri" panose="020F0502020204030204" pitchFamily="34" charset="0"/>
                <a:ea typeface="Calibri" panose="020F0502020204030204" pitchFamily="34" charset="0"/>
                <a:cs typeface="Calibri" panose="020F0502020204030204" pitchFamily="34" charset="0"/>
              </a:rPr>
              <a:t>(1)</a:t>
            </a:r>
            <a:endParaRPr lang="en-US" sz="1100">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[3] </a:t>
            </a:r>
            <a:r>
              <a:rPr lang="en-US" sz="1100" i="0">
                <a:effectLst/>
                <a:latin typeface="Calibri" panose="020F0502020204030204" pitchFamily="34" charset="0"/>
                <a:ea typeface="Calibri" panose="020F0502020204030204" pitchFamily="34" charset="0"/>
                <a:cs typeface="Calibri" panose="020F0502020204030204" pitchFamily="34" charset="0"/>
              </a:rPr>
              <a:t>Arora, P., Nathani, B., Joshi, N., &amp; Katyayan, P. (2024, January). Development of Rule-Based </a:t>
            </a:r>
            <a:r>
              <a:rPr lang="en-US" sz="1100" i="0" err="1">
                <a:effectLst/>
                <a:latin typeface="Calibri" panose="020F0502020204030204" pitchFamily="34" charset="0"/>
                <a:ea typeface="Calibri" panose="020F0502020204030204" pitchFamily="34" charset="0"/>
                <a:cs typeface="Calibri" panose="020F0502020204030204" pitchFamily="34" charset="0"/>
              </a:rPr>
              <a:t>Chunker</a:t>
            </a:r>
            <a:r>
              <a:rPr lang="en-US" sz="1100" i="0">
                <a:effectLst/>
                <a:latin typeface="Calibri" panose="020F0502020204030204" pitchFamily="34" charset="0"/>
                <a:ea typeface="Calibri" panose="020F0502020204030204" pitchFamily="34" charset="0"/>
                <a:cs typeface="Calibri" panose="020F0502020204030204" pitchFamily="34" charset="0"/>
              </a:rPr>
              <a:t> for Sindhi. In </a:t>
            </a:r>
            <a:r>
              <a:rPr lang="en-US" sz="1100" i="1">
                <a:effectLst/>
                <a:latin typeface="Calibri" panose="020F0502020204030204" pitchFamily="34" charset="0"/>
                <a:ea typeface="Calibri" panose="020F0502020204030204" pitchFamily="34" charset="0"/>
                <a:cs typeface="Calibri" panose="020F0502020204030204" pitchFamily="34" charset="0"/>
              </a:rPr>
              <a:t>International Conference on Computation of Artificial Intelligence &amp; Machine Learning</a:t>
            </a:r>
            <a:r>
              <a:rPr lang="en-US" sz="1100" i="0">
                <a:effectLst/>
                <a:latin typeface="Calibri" panose="020F0502020204030204" pitchFamily="34" charset="0"/>
                <a:ea typeface="Calibri" panose="020F0502020204030204" pitchFamily="34" charset="0"/>
                <a:cs typeface="Calibri" panose="020F0502020204030204" pitchFamily="34" charset="0"/>
              </a:rPr>
              <a:t> (pp. 102-112). Cham: Springer Nature Switzerland.</a:t>
            </a:r>
            <a:endParaRPr lang="en-US" sz="1100">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[4] </a:t>
            </a:r>
            <a:r>
              <a:rPr lang="en-US" sz="1100" i="0">
                <a:effectLst/>
                <a:latin typeface="Calibri" panose="020F0502020204030204" pitchFamily="34" charset="0"/>
                <a:ea typeface="Calibri" panose="020F0502020204030204" pitchFamily="34" charset="0"/>
                <a:cs typeface="Calibri" panose="020F0502020204030204" pitchFamily="34" charset="0"/>
              </a:rPr>
              <a:t>Gupta, P. (2024). A Breadth-First Catalog of Text Processing, Speech Processing and Multimodal Research in South Asian Languages. </a:t>
            </a:r>
            <a:r>
              <a:rPr lang="en-US" sz="1100" i="1" err="1">
                <a:effectLst/>
                <a:latin typeface="Calibri" panose="020F0502020204030204" pitchFamily="34" charset="0"/>
                <a:ea typeface="Calibri" panose="020F0502020204030204" pitchFamily="34" charset="0"/>
                <a:cs typeface="Calibri" panose="020F0502020204030204" pitchFamily="34" charset="0"/>
              </a:rPr>
              <a:t>arXiv</a:t>
            </a:r>
            <a:r>
              <a:rPr lang="en-US" sz="1100" i="1">
                <a:effectLst/>
                <a:latin typeface="Calibri" panose="020F0502020204030204" pitchFamily="34" charset="0"/>
                <a:ea typeface="Calibri" panose="020F0502020204030204" pitchFamily="34" charset="0"/>
                <a:cs typeface="Calibri" panose="020F0502020204030204" pitchFamily="34" charset="0"/>
              </a:rPr>
              <a:t> preprint arXiv:2501.00029</a:t>
            </a:r>
            <a:r>
              <a:rPr lang="en-US" sz="1100" i="0">
                <a:effectLst/>
                <a:latin typeface="Calibri" panose="020F0502020204030204" pitchFamily="34" charset="0"/>
                <a:ea typeface="Calibri" panose="020F0502020204030204" pitchFamily="34" charset="0"/>
                <a:cs typeface="Calibri" panose="020F0502020204030204" pitchFamily="34" charset="0"/>
              </a:rPr>
              <a:t>.</a:t>
            </a:r>
            <a:endParaRPr lang="en-US" sz="1100">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[5] </a:t>
            </a:r>
            <a:r>
              <a:rPr lang="en-US" sz="1100" i="0">
                <a:effectLst/>
                <a:latin typeface="Calibri" panose="020F0502020204030204" pitchFamily="34" charset="0"/>
                <a:ea typeface="Calibri" panose="020F0502020204030204" pitchFamily="34" charset="0"/>
                <a:cs typeface="Calibri" panose="020F0502020204030204" pitchFamily="34" charset="0"/>
              </a:rPr>
              <a:t>Memon, A. A., Hina, S., Kazi, A. K., &amp; Ahmed, S. (2024). Parts-of-speech tagger for Sindhi language using deep neural network architecture. </a:t>
            </a:r>
            <a:r>
              <a:rPr lang="en-US" sz="1100" i="1">
                <a:effectLst/>
                <a:latin typeface="Calibri" panose="020F0502020204030204" pitchFamily="34" charset="0"/>
                <a:ea typeface="Calibri" panose="020F0502020204030204" pitchFamily="34" charset="0"/>
                <a:cs typeface="Calibri" panose="020F0502020204030204" pitchFamily="34" charset="0"/>
              </a:rPr>
              <a:t>Mehran University Research Journal Of Engineering &amp; Technology</a:t>
            </a:r>
            <a:r>
              <a:rPr lang="en-US" sz="1100" i="0">
                <a:effectLst/>
                <a:latin typeface="Calibri" panose="020F0502020204030204" pitchFamily="34" charset="0"/>
                <a:ea typeface="Calibri" panose="020F0502020204030204" pitchFamily="34" charset="0"/>
                <a:cs typeface="Calibri" panose="020F0502020204030204" pitchFamily="34" charset="0"/>
              </a:rPr>
              <a:t>, </a:t>
            </a:r>
            <a:r>
              <a:rPr lang="en-US" sz="1100" i="1">
                <a:effectLst/>
                <a:latin typeface="Calibri" panose="020F0502020204030204" pitchFamily="34" charset="0"/>
                <a:ea typeface="Calibri" panose="020F0502020204030204" pitchFamily="34" charset="0"/>
                <a:cs typeface="Calibri" panose="020F0502020204030204" pitchFamily="34" charset="0"/>
              </a:rPr>
              <a:t>43</a:t>
            </a:r>
            <a:r>
              <a:rPr lang="en-US" sz="1100" i="0">
                <a:effectLst/>
                <a:latin typeface="Calibri" panose="020F0502020204030204" pitchFamily="34" charset="0"/>
                <a:ea typeface="Calibri" panose="020F0502020204030204" pitchFamily="34" charset="0"/>
                <a:cs typeface="Calibri" panose="020F0502020204030204" pitchFamily="34" charset="0"/>
              </a:rPr>
              <a:t>(3), 47-55.</a:t>
            </a:r>
            <a:endParaRPr lang="en-US" sz="1100">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[6] </a:t>
            </a:r>
            <a:r>
              <a:rPr lang="en-US" sz="1100" i="0">
                <a:effectLst/>
                <a:latin typeface="Calibri" panose="020F0502020204030204" pitchFamily="34" charset="0"/>
                <a:ea typeface="Calibri" panose="020F0502020204030204" pitchFamily="34" charset="0"/>
                <a:cs typeface="Calibri" panose="020F0502020204030204" pitchFamily="34" charset="0"/>
              </a:rPr>
              <a:t>Ali, W., </a:t>
            </a:r>
            <a:r>
              <a:rPr lang="en-US" sz="1100" i="0" err="1">
                <a:effectLst/>
                <a:latin typeface="Calibri" panose="020F0502020204030204" pitchFamily="34" charset="0"/>
                <a:ea typeface="Calibri" panose="020F0502020204030204" pitchFamily="34" charset="0"/>
                <a:cs typeface="Calibri" panose="020F0502020204030204" pitchFamily="34" charset="0"/>
              </a:rPr>
              <a:t>Tumrani</a:t>
            </a:r>
            <a:r>
              <a:rPr lang="en-US" sz="1100" i="0">
                <a:effectLst/>
                <a:latin typeface="Calibri" panose="020F0502020204030204" pitchFamily="34" charset="0"/>
                <a:ea typeface="Calibri" panose="020F0502020204030204" pitchFamily="34" charset="0"/>
                <a:cs typeface="Calibri" panose="020F0502020204030204" pitchFamily="34" charset="0"/>
              </a:rPr>
              <a:t>, S., Kumar, J., &amp; Soomro, T. R. (2024). An Evaluation of Sindhi Word Embedding in Semantic Analogies and Downstream Tasks. </a:t>
            </a:r>
            <a:r>
              <a:rPr lang="en-US" sz="1100" i="1" err="1">
                <a:effectLst/>
                <a:latin typeface="Calibri" panose="020F0502020204030204" pitchFamily="34" charset="0"/>
                <a:ea typeface="Calibri" panose="020F0502020204030204" pitchFamily="34" charset="0"/>
                <a:cs typeface="Calibri" panose="020F0502020204030204" pitchFamily="34" charset="0"/>
              </a:rPr>
              <a:t>arXiv</a:t>
            </a:r>
            <a:r>
              <a:rPr lang="en-US" sz="1100" i="1">
                <a:effectLst/>
                <a:latin typeface="Calibri" panose="020F0502020204030204" pitchFamily="34" charset="0"/>
                <a:ea typeface="Calibri" panose="020F0502020204030204" pitchFamily="34" charset="0"/>
                <a:cs typeface="Calibri" panose="020F0502020204030204" pitchFamily="34" charset="0"/>
              </a:rPr>
              <a:t> preprint arXiv:2408.15720</a:t>
            </a:r>
            <a:r>
              <a:rPr lang="en-US" sz="110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90016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10CFBE-FB8A-081B-D132-A42673E2C2A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1CCD5EF-766D-43B9-A25D-19122E5FB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1989682"/>
          </a:xfrm>
          <a:prstGeom prst="rect">
            <a:avLst/>
          </a:prstGeom>
          <a:solidFill>
            <a:schemeClr val="accent1"/>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D9699C9-77F1-4E33-A750-CB78C7EA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646" y="806204"/>
            <a:ext cx="7934706" cy="1664208"/>
          </a:xfrm>
          <a:prstGeom prst="rect">
            <a:avLst/>
          </a:prstGeom>
          <a:noFill/>
          <a:ln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66EEE1-FB1D-2D04-A2F2-C1E03930D758}"/>
              </a:ext>
            </a:extLst>
          </p:cNvPr>
          <p:cNvSpPr>
            <a:spLocks noGrp="1"/>
          </p:cNvSpPr>
          <p:nvPr>
            <p:ph type="title"/>
          </p:nvPr>
        </p:nvSpPr>
        <p:spPr>
          <a:xfrm>
            <a:off x="803884" y="1059736"/>
            <a:ext cx="7530175" cy="1228130"/>
          </a:xfrm>
        </p:spPr>
        <p:txBody>
          <a:bodyPr>
            <a:normAutofit/>
          </a:bodyPr>
          <a:lstStyle/>
          <a:p>
            <a:r>
              <a:rPr lang="en-US">
                <a:solidFill>
                  <a:srgbClr val="FFFFFF"/>
                </a:solidFill>
                <a:latin typeface="Calibri" panose="020F0502020204030204" pitchFamily="34" charset="0"/>
                <a:ea typeface="Calibri" panose="020F0502020204030204" pitchFamily="34" charset="0"/>
                <a:cs typeface="Calibri" panose="020F0502020204030204" pitchFamily="34" charset="0"/>
              </a:rPr>
              <a:t>References</a:t>
            </a:r>
          </a:p>
        </p:txBody>
      </p:sp>
      <p:sp>
        <p:nvSpPr>
          <p:cNvPr id="4" name="Footer Placeholder 3">
            <a:extLst>
              <a:ext uri="{FF2B5EF4-FFF2-40B4-BE49-F238E27FC236}">
                <a16:creationId xmlns:a16="http://schemas.microsoft.com/office/drawing/2014/main" id="{4CDC903C-0234-7207-FDB5-558D7DD94B18}"/>
              </a:ext>
            </a:extLst>
          </p:cNvPr>
          <p:cNvSpPr>
            <a:spLocks noGrp="1"/>
          </p:cNvSpPr>
          <p:nvPr>
            <p:ph type="ftr" sz="quarter" idx="11"/>
          </p:nvPr>
        </p:nvSpPr>
        <p:spPr>
          <a:xfrm>
            <a:off x="514350" y="6554697"/>
            <a:ext cx="3771900" cy="228600"/>
          </a:xfrm>
        </p:spPr>
        <p:txBody>
          <a:bodyPr>
            <a:normAutofit/>
          </a:bodyPr>
          <a:lstStyle/>
          <a:p>
            <a:pPr>
              <a:lnSpc>
                <a:spcPct val="90000"/>
              </a:lnSpc>
              <a:spcAft>
                <a:spcPts val="600"/>
              </a:spcAft>
            </a:pPr>
            <a:r>
              <a:rPr lang="en-US" dirty="0">
                <a:latin typeface="Calibri" panose="020F0502020204030204" pitchFamily="34" charset="0"/>
                <a:ea typeface="Calibri" panose="020F0502020204030204" pitchFamily="34" charset="0"/>
                <a:cs typeface="Calibri" panose="020F0502020204030204" pitchFamily="34" charset="0"/>
              </a:rPr>
              <a:t>DEPARTMENT OF Information Technology, SBBU,SBA</a:t>
            </a: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126034D-22D3-0140-9CC1-365FDFD2C0A1}"/>
              </a:ext>
            </a:extLst>
          </p:cNvPr>
          <p:cNvSpPr>
            <a:spLocks noGrp="1"/>
          </p:cNvSpPr>
          <p:nvPr>
            <p:ph type="sldNum" sz="quarter" idx="12"/>
          </p:nvPr>
        </p:nvSpPr>
        <p:spPr>
          <a:xfrm>
            <a:off x="6781800" y="5517035"/>
            <a:ext cx="2194560" cy="1397039"/>
          </a:xfrm>
        </p:spPr>
        <p:txBody>
          <a:bodyPr>
            <a:normAutofit/>
          </a:bodyPr>
          <a:lstStyle/>
          <a:p>
            <a:pPr>
              <a:lnSpc>
                <a:spcPct val="90000"/>
              </a:lnSpc>
              <a:spcAft>
                <a:spcPts val="600"/>
              </a:spcAft>
            </a:pPr>
            <a:fld id="{D525BB11-F316-475A-8C08-1EE647C41E0C}" type="slidenum">
              <a:rPr lang="en-US" smtClean="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rPr>
              <a:pPr>
                <a:lnSpc>
                  <a:spcPct val="90000"/>
                </a:lnSpc>
                <a:spcAft>
                  <a:spcPts val="600"/>
                </a:spcAft>
              </a:pPr>
              <a:t>22</a:t>
            </a:fld>
            <a:endParaRPr lang="en-US" dirty="0">
              <a:solidFill>
                <a:srgbClr val="00B0F0">
                  <a:alpha val="20000"/>
                </a:srgb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59241EE-122B-B2FA-1BDB-9501DC9DEE8F}"/>
              </a:ext>
            </a:extLst>
          </p:cNvPr>
          <p:cNvSpPr>
            <a:spLocks noGrp="1"/>
          </p:cNvSpPr>
          <p:nvPr>
            <p:ph idx="1"/>
          </p:nvPr>
        </p:nvSpPr>
        <p:spPr>
          <a:xfrm>
            <a:off x="803884" y="2973313"/>
            <a:ext cx="7530175" cy="2903099"/>
          </a:xfrm>
        </p:spPr>
        <p:txBody>
          <a:bodyPr>
            <a:normAutofit/>
          </a:bodyPr>
          <a:lstStyle/>
          <a:p>
            <a:r>
              <a:rPr lang="en-US" sz="1100" b="1">
                <a:latin typeface="Calibri" panose="020F0502020204030204" pitchFamily="34" charset="0"/>
                <a:ea typeface="Calibri" panose="020F0502020204030204" pitchFamily="34" charset="0"/>
                <a:cs typeface="Calibri" panose="020F0502020204030204" pitchFamily="34" charset="0"/>
              </a:rPr>
              <a:t>[7] </a:t>
            </a:r>
            <a:r>
              <a:rPr lang="en-US" sz="1100" b="0" i="0">
                <a:effectLst/>
                <a:latin typeface="Calibri" panose="020F0502020204030204" pitchFamily="34" charset="0"/>
                <a:ea typeface="Calibri" panose="020F0502020204030204" pitchFamily="34" charset="0"/>
                <a:cs typeface="Calibri" panose="020F0502020204030204" pitchFamily="34" charset="0"/>
              </a:rPr>
              <a:t>Bunnell, D. J., Bondy, M. J., </a:t>
            </a:r>
            <a:r>
              <a:rPr lang="en-US" sz="1100" b="0" i="0" err="1">
                <a:effectLst/>
                <a:latin typeface="Calibri" panose="020F0502020204030204" pitchFamily="34" charset="0"/>
                <a:ea typeface="Calibri" panose="020F0502020204030204" pitchFamily="34" charset="0"/>
                <a:cs typeface="Calibri" panose="020F0502020204030204" pitchFamily="34" charset="0"/>
              </a:rPr>
              <a:t>Fromtling</a:t>
            </a:r>
            <a:r>
              <a:rPr lang="en-US" sz="1100" b="0" i="0">
                <a:effectLst/>
                <a:latin typeface="Calibri" panose="020F0502020204030204" pitchFamily="34" charset="0"/>
                <a:ea typeface="Calibri" panose="020F0502020204030204" pitchFamily="34" charset="0"/>
                <a:cs typeface="Calibri" panose="020F0502020204030204" pitchFamily="34" charset="0"/>
              </a:rPr>
              <a:t>, L. M., Ludeman, E., &amp; Gourab, K. (2025). Bridging AI and Healthcare: A Scoping Review of Retrieval-Augmented Generation-Ethics, Bias, Transparency, Improvements, and Applications. </a:t>
            </a:r>
            <a:r>
              <a:rPr lang="en-US" sz="1100" b="0" i="1" err="1">
                <a:effectLst/>
                <a:latin typeface="Calibri" panose="020F0502020204030204" pitchFamily="34" charset="0"/>
                <a:ea typeface="Calibri" panose="020F0502020204030204" pitchFamily="34" charset="0"/>
                <a:cs typeface="Calibri" panose="020F0502020204030204" pitchFamily="34" charset="0"/>
              </a:rPr>
              <a:t>medRxiv</a:t>
            </a:r>
            <a:r>
              <a:rPr lang="en-US" sz="1100" b="0" i="0">
                <a:effectLst/>
                <a:latin typeface="Calibri" panose="020F0502020204030204" pitchFamily="34" charset="0"/>
                <a:ea typeface="Calibri" panose="020F0502020204030204" pitchFamily="34" charset="0"/>
                <a:cs typeface="Calibri" panose="020F0502020204030204" pitchFamily="34" charset="0"/>
              </a:rPr>
              <a:t>, 2025-04.</a:t>
            </a:r>
            <a:endParaRPr lang="en-US" sz="1100" b="1">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[8] </a:t>
            </a:r>
            <a:r>
              <a:rPr lang="en-US" sz="1100" b="0" i="0">
                <a:effectLst/>
                <a:latin typeface="Calibri" panose="020F0502020204030204" pitchFamily="34" charset="0"/>
                <a:ea typeface="Calibri" panose="020F0502020204030204" pitchFamily="34" charset="0"/>
                <a:cs typeface="Calibri" panose="020F0502020204030204" pitchFamily="34" charset="0"/>
              </a:rPr>
              <a:t>Singh, A. (2025). Future Prospects of Agentic RAG in Medical Research. </a:t>
            </a:r>
            <a:r>
              <a:rPr lang="en-US" sz="1100" b="0" i="1">
                <a:effectLst/>
                <a:latin typeface="Calibri" panose="020F0502020204030204" pitchFamily="34" charset="0"/>
                <a:ea typeface="Calibri" panose="020F0502020204030204" pitchFamily="34" charset="0"/>
                <a:cs typeface="Calibri" panose="020F0502020204030204" pitchFamily="34" charset="0"/>
              </a:rPr>
              <a:t>Available at SSRN 5212343</a:t>
            </a:r>
            <a:r>
              <a:rPr lang="en-US" sz="1100" b="0" i="0">
                <a:effectLst/>
                <a:latin typeface="Calibri" panose="020F0502020204030204" pitchFamily="34" charset="0"/>
                <a:ea typeface="Calibri" panose="020F0502020204030204" pitchFamily="34" charset="0"/>
                <a:cs typeface="Calibri" panose="020F0502020204030204" pitchFamily="34" charset="0"/>
              </a:rPr>
              <a:t>.</a:t>
            </a:r>
            <a:endParaRPr lang="en-US" sz="1100" b="1">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[9] </a:t>
            </a:r>
            <a:r>
              <a:rPr lang="en-US" sz="1100" b="0" i="0">
                <a:effectLst/>
                <a:latin typeface="Calibri" panose="020F0502020204030204" pitchFamily="34" charset="0"/>
                <a:ea typeface="Calibri" panose="020F0502020204030204" pitchFamily="34" charset="0"/>
                <a:cs typeface="Calibri" panose="020F0502020204030204" pitchFamily="34" charset="0"/>
              </a:rPr>
              <a:t>Ng, K. K. Y., </a:t>
            </a:r>
            <a:r>
              <a:rPr lang="en-US" sz="1100" b="0" i="0" err="1">
                <a:effectLst/>
                <a:latin typeface="Calibri" panose="020F0502020204030204" pitchFamily="34" charset="0"/>
                <a:ea typeface="Calibri" panose="020F0502020204030204" pitchFamily="34" charset="0"/>
                <a:cs typeface="Calibri" panose="020F0502020204030204" pitchFamily="34" charset="0"/>
              </a:rPr>
              <a:t>Matsuba</a:t>
            </a:r>
            <a:r>
              <a:rPr lang="en-US" sz="1100" b="0" i="0">
                <a:effectLst/>
                <a:latin typeface="Calibri" panose="020F0502020204030204" pitchFamily="34" charset="0"/>
                <a:ea typeface="Calibri" panose="020F0502020204030204" pitchFamily="34" charset="0"/>
                <a:cs typeface="Calibri" panose="020F0502020204030204" pitchFamily="34" charset="0"/>
              </a:rPr>
              <a:t>, I., &amp; Zhang, P. C. (2025). RAG in health care: a novel framework for improving communication and decision-making by addressing LLM limitations. </a:t>
            </a:r>
            <a:r>
              <a:rPr lang="en-US" sz="1100" b="0" i="1">
                <a:effectLst/>
                <a:latin typeface="Calibri" panose="020F0502020204030204" pitchFamily="34" charset="0"/>
                <a:ea typeface="Calibri" panose="020F0502020204030204" pitchFamily="34" charset="0"/>
                <a:cs typeface="Calibri" panose="020F0502020204030204" pitchFamily="34" charset="0"/>
              </a:rPr>
              <a:t>NEJM AI</a:t>
            </a:r>
            <a:r>
              <a:rPr lang="en-US" sz="1100" b="0" i="0">
                <a:effectLst/>
                <a:latin typeface="Calibri" panose="020F0502020204030204" pitchFamily="34" charset="0"/>
                <a:ea typeface="Calibri" panose="020F0502020204030204" pitchFamily="34" charset="0"/>
                <a:cs typeface="Calibri" panose="020F0502020204030204" pitchFamily="34" charset="0"/>
              </a:rPr>
              <a:t>, </a:t>
            </a:r>
            <a:r>
              <a:rPr lang="en-US" sz="1100" b="0" i="1">
                <a:effectLst/>
                <a:latin typeface="Calibri" panose="020F0502020204030204" pitchFamily="34" charset="0"/>
                <a:ea typeface="Calibri" panose="020F0502020204030204" pitchFamily="34" charset="0"/>
                <a:cs typeface="Calibri" panose="020F0502020204030204" pitchFamily="34" charset="0"/>
              </a:rPr>
              <a:t>2</a:t>
            </a:r>
            <a:r>
              <a:rPr lang="en-US" sz="1100" b="0" i="0">
                <a:effectLst/>
                <a:latin typeface="Calibri" panose="020F0502020204030204" pitchFamily="34" charset="0"/>
                <a:ea typeface="Calibri" panose="020F0502020204030204" pitchFamily="34" charset="0"/>
                <a:cs typeface="Calibri" panose="020F0502020204030204" pitchFamily="34" charset="0"/>
              </a:rPr>
              <a:t>(1), AIra2400380.</a:t>
            </a:r>
            <a:endParaRPr lang="en-US" sz="1100" b="1">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[10] </a:t>
            </a:r>
            <a:r>
              <a:rPr lang="en-US" sz="1100" b="0" i="0" err="1">
                <a:effectLst/>
                <a:latin typeface="Calibri" panose="020F0502020204030204" pitchFamily="34" charset="0"/>
                <a:ea typeface="Calibri" panose="020F0502020204030204" pitchFamily="34" charset="0"/>
                <a:cs typeface="Calibri" panose="020F0502020204030204" pitchFamily="34" charset="0"/>
              </a:rPr>
              <a:t>Amugongo</a:t>
            </a:r>
            <a:r>
              <a:rPr lang="en-US" sz="1100" b="0" i="0">
                <a:effectLst/>
                <a:latin typeface="Calibri" panose="020F0502020204030204" pitchFamily="34" charset="0"/>
                <a:ea typeface="Calibri" panose="020F0502020204030204" pitchFamily="34" charset="0"/>
                <a:cs typeface="Calibri" panose="020F0502020204030204" pitchFamily="34" charset="0"/>
              </a:rPr>
              <a:t>, L. M., </a:t>
            </a:r>
            <a:r>
              <a:rPr lang="en-US" sz="1100" b="0" i="0" err="1">
                <a:effectLst/>
                <a:latin typeface="Calibri" panose="020F0502020204030204" pitchFamily="34" charset="0"/>
                <a:ea typeface="Calibri" panose="020F0502020204030204" pitchFamily="34" charset="0"/>
                <a:cs typeface="Calibri" panose="020F0502020204030204" pitchFamily="34" charset="0"/>
              </a:rPr>
              <a:t>Mascheroni</a:t>
            </a:r>
            <a:r>
              <a:rPr lang="en-US" sz="1100" b="0" i="0">
                <a:effectLst/>
                <a:latin typeface="Calibri" panose="020F0502020204030204" pitchFamily="34" charset="0"/>
                <a:ea typeface="Calibri" panose="020F0502020204030204" pitchFamily="34" charset="0"/>
                <a:cs typeface="Calibri" panose="020F0502020204030204" pitchFamily="34" charset="0"/>
              </a:rPr>
              <a:t>, P., Brooks, S. G., Doering, S., &amp; Seidel, J. (2024). Retrieval Augmented Generation for Large Language Models in Healthcare: A Systematic Review.</a:t>
            </a:r>
            <a:endParaRPr lang="en-US" sz="1100" b="1">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[11] </a:t>
            </a:r>
            <a:r>
              <a:rPr lang="en-US" sz="1100" b="0" i="0" err="1">
                <a:effectLst/>
                <a:latin typeface="Calibri" panose="020F0502020204030204" pitchFamily="34" charset="0"/>
                <a:ea typeface="Calibri" panose="020F0502020204030204" pitchFamily="34" charset="0"/>
                <a:cs typeface="Calibri" panose="020F0502020204030204" pitchFamily="34" charset="0"/>
              </a:rPr>
              <a:t>Quidwai</a:t>
            </a:r>
            <a:r>
              <a:rPr lang="en-US" sz="1100" b="0" i="0">
                <a:effectLst/>
                <a:latin typeface="Calibri" panose="020F0502020204030204" pitchFamily="34" charset="0"/>
                <a:ea typeface="Calibri" panose="020F0502020204030204" pitchFamily="34" charset="0"/>
                <a:cs typeface="Calibri" panose="020F0502020204030204" pitchFamily="34" charset="0"/>
              </a:rPr>
              <a:t>, M. A., &amp; Lagana, A. (2024). A rag chatbot for precision medicine of multiple myeloma. </a:t>
            </a:r>
            <a:r>
              <a:rPr lang="en-US" sz="1100" b="0" i="1" err="1">
                <a:effectLst/>
                <a:latin typeface="Calibri" panose="020F0502020204030204" pitchFamily="34" charset="0"/>
                <a:ea typeface="Calibri" panose="020F0502020204030204" pitchFamily="34" charset="0"/>
                <a:cs typeface="Calibri" panose="020F0502020204030204" pitchFamily="34" charset="0"/>
              </a:rPr>
              <a:t>medRxiv</a:t>
            </a:r>
            <a:r>
              <a:rPr lang="en-US" sz="1100" b="0" i="0">
                <a:effectLst/>
                <a:latin typeface="Calibri" panose="020F0502020204030204" pitchFamily="34" charset="0"/>
                <a:ea typeface="Calibri" panose="020F0502020204030204" pitchFamily="34" charset="0"/>
                <a:cs typeface="Calibri" panose="020F0502020204030204" pitchFamily="34" charset="0"/>
              </a:rPr>
              <a:t>, 2024-03.</a:t>
            </a:r>
            <a:endParaRPr lang="en-US" sz="1100" b="1">
              <a:latin typeface="Calibri" panose="020F0502020204030204" pitchFamily="34" charset="0"/>
              <a:ea typeface="Calibri" panose="020F0502020204030204" pitchFamily="34" charset="0"/>
              <a:cs typeface="Calibri" panose="020F0502020204030204" pitchFamily="34" charset="0"/>
            </a:endParaRPr>
          </a:p>
          <a:p>
            <a:r>
              <a:rPr lang="en-US" sz="1100" b="1">
                <a:latin typeface="Calibri" panose="020F0502020204030204" pitchFamily="34" charset="0"/>
                <a:ea typeface="Calibri" panose="020F0502020204030204" pitchFamily="34" charset="0"/>
                <a:cs typeface="Calibri" panose="020F0502020204030204" pitchFamily="34" charset="0"/>
              </a:rPr>
              <a:t>[12] </a:t>
            </a:r>
            <a:r>
              <a:rPr lang="en-US" sz="1100" b="0" i="0">
                <a:effectLst/>
                <a:latin typeface="Calibri" panose="020F0502020204030204" pitchFamily="34" charset="0"/>
                <a:ea typeface="Calibri" panose="020F0502020204030204" pitchFamily="34" charset="0"/>
                <a:cs typeface="Calibri" panose="020F0502020204030204" pitchFamily="34" charset="0"/>
              </a:rPr>
              <a:t>Raja, M., &amp; </a:t>
            </a:r>
            <a:r>
              <a:rPr lang="en-US" sz="1100" b="0" i="0" err="1">
                <a:effectLst/>
                <a:latin typeface="Calibri" panose="020F0502020204030204" pitchFamily="34" charset="0"/>
                <a:ea typeface="Calibri" panose="020F0502020204030204" pitchFamily="34" charset="0"/>
                <a:cs typeface="Calibri" panose="020F0502020204030204" pitchFamily="34" charset="0"/>
              </a:rPr>
              <a:t>Yuvaraajan</a:t>
            </a:r>
            <a:r>
              <a:rPr lang="en-US" sz="1100" b="0" i="0">
                <a:effectLst/>
                <a:latin typeface="Calibri" panose="020F0502020204030204" pitchFamily="34" charset="0"/>
                <a:ea typeface="Calibri" panose="020F0502020204030204" pitchFamily="34" charset="0"/>
                <a:cs typeface="Calibri" panose="020F0502020204030204" pitchFamily="34" charset="0"/>
              </a:rPr>
              <a:t>, E. (2024, April). A rag-based medical assistant especially for infectious diseases. In </a:t>
            </a:r>
            <a:r>
              <a:rPr lang="en-US" sz="1100" b="0" i="1">
                <a:effectLst/>
                <a:latin typeface="Calibri" panose="020F0502020204030204" pitchFamily="34" charset="0"/>
                <a:ea typeface="Calibri" panose="020F0502020204030204" pitchFamily="34" charset="0"/>
                <a:cs typeface="Calibri" panose="020F0502020204030204" pitchFamily="34" charset="0"/>
              </a:rPr>
              <a:t>2024 International Conference on Inventive Computation Technologies (ICICT)</a:t>
            </a:r>
            <a:r>
              <a:rPr lang="en-US" sz="1100" b="0" i="0">
                <a:effectLst/>
                <a:latin typeface="Calibri" panose="020F0502020204030204" pitchFamily="34" charset="0"/>
                <a:ea typeface="Calibri" panose="020F0502020204030204" pitchFamily="34" charset="0"/>
                <a:cs typeface="Calibri" panose="020F0502020204030204" pitchFamily="34" charset="0"/>
              </a:rPr>
              <a:t> (pp. 1128-1133). IEEE.</a:t>
            </a:r>
            <a:endParaRPr lang="en-US" sz="11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8674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176BE22-0984-1822-FE55-665B29428A79}"/>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D87AB319-64C0-4E2D-B1CD-0A970301B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CC4A892D-088E-4414-965D-1F8C4212F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B660D5-2E1B-232A-BF91-ACC9EEE2B258}"/>
              </a:ext>
            </a:extLst>
          </p:cNvPr>
          <p:cNvSpPr>
            <a:spLocks noGrp="1"/>
          </p:cNvSpPr>
          <p:nvPr>
            <p:ph type="title"/>
          </p:nvPr>
        </p:nvSpPr>
        <p:spPr>
          <a:xfrm>
            <a:off x="457200" y="4714251"/>
            <a:ext cx="8192729" cy="1125190"/>
          </a:xfrm>
        </p:spPr>
        <p:txBody>
          <a:bodyPr vert="horz" lIns="91440" tIns="45720" rIns="91440" bIns="45720" rtlCol="0" anchor="b">
            <a:normAutofit/>
          </a:bodyPr>
          <a:lstStyle/>
          <a:p>
            <a:pPr algn="ctr">
              <a:lnSpc>
                <a:spcPct val="80000"/>
              </a:lnSpc>
            </a:pPr>
            <a:r>
              <a:rPr lang="en-US" sz="5700" dirty="0">
                <a:solidFill>
                  <a:srgbClr val="FFFFFF"/>
                </a:solidFill>
                <a:latin typeface="Calibri" panose="020F0502020204030204" pitchFamily="34" charset="0"/>
                <a:ea typeface="Calibri" panose="020F0502020204030204" pitchFamily="34" charset="0"/>
                <a:cs typeface="Calibri" panose="020F0502020204030204" pitchFamily="34" charset="0"/>
              </a:rPr>
              <a:t>Thank you</a:t>
            </a:r>
          </a:p>
        </p:txBody>
      </p:sp>
      <p:sp>
        <p:nvSpPr>
          <p:cNvPr id="25" name="Rectangle 24">
            <a:extLst>
              <a:ext uri="{FF2B5EF4-FFF2-40B4-BE49-F238E27FC236}">
                <a16:creationId xmlns:a16="http://schemas.microsoft.com/office/drawing/2014/main" id="{472BC85F-BF83-4D6D-A1BC-8EE5822F0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Handshake">
            <a:extLst>
              <a:ext uri="{FF2B5EF4-FFF2-40B4-BE49-F238E27FC236}">
                <a16:creationId xmlns:a16="http://schemas.microsoft.com/office/drawing/2014/main" id="{0950B154-1B23-BCF8-79F5-C81BA695DE7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64197" y="643467"/>
            <a:ext cx="3590205" cy="3590205"/>
          </a:xfrm>
          <a:prstGeom prst="rect">
            <a:avLst/>
          </a:prstGeom>
        </p:spPr>
      </p:pic>
      <p:sp>
        <p:nvSpPr>
          <p:cNvPr id="4" name="Footer Placeholder 3">
            <a:extLst>
              <a:ext uri="{FF2B5EF4-FFF2-40B4-BE49-F238E27FC236}">
                <a16:creationId xmlns:a16="http://schemas.microsoft.com/office/drawing/2014/main" id="{EA9CCD7D-E1C1-3628-FDB9-5A19828C34E8}"/>
              </a:ext>
            </a:extLst>
          </p:cNvPr>
          <p:cNvSpPr>
            <a:spLocks noGrp="1"/>
          </p:cNvSpPr>
          <p:nvPr>
            <p:ph type="ftr" sz="quarter" idx="11"/>
          </p:nvPr>
        </p:nvSpPr>
        <p:spPr>
          <a:xfrm>
            <a:off x="514350" y="6554697"/>
            <a:ext cx="3771900" cy="228600"/>
          </a:xfrm>
        </p:spPr>
        <p:txBody>
          <a:bodyPr vert="horz" lIns="91440" tIns="45720" rIns="91440" bIns="45720" rtlCol="0" anchor="ctr">
            <a:normAutofit/>
          </a:bodyPr>
          <a:lstStyle/>
          <a:p>
            <a:pPr defTabSz="914400">
              <a:lnSpc>
                <a:spcPct val="90000"/>
              </a:lnSpc>
              <a:spcAft>
                <a:spcPts val="600"/>
              </a:spcAft>
            </a:pPr>
            <a:r>
              <a:rPr lang="en-US" kern="1200" cap="all" baseline="0">
                <a:solidFill>
                  <a:srgbClr val="FFFFFF">
                    <a:alpha val="80000"/>
                  </a:srgbClr>
                </a:solidFill>
                <a:latin typeface="Calibri" panose="020F0502020204030204" pitchFamily="34" charset="0"/>
                <a:ea typeface="Calibri" panose="020F0502020204030204" pitchFamily="34" charset="0"/>
                <a:cs typeface="Calibri" panose="020F0502020204030204" pitchFamily="34" charset="0"/>
              </a:rPr>
              <a:t>DEPARTMENT OF Information Technology, SBBU,SBA</a:t>
            </a:r>
          </a:p>
        </p:txBody>
      </p:sp>
      <p:sp>
        <p:nvSpPr>
          <p:cNvPr id="5" name="Slide Number Placeholder 4">
            <a:extLst>
              <a:ext uri="{FF2B5EF4-FFF2-40B4-BE49-F238E27FC236}">
                <a16:creationId xmlns:a16="http://schemas.microsoft.com/office/drawing/2014/main" id="{FBB57757-9875-856F-8DAF-1A6219793172}"/>
              </a:ext>
            </a:extLst>
          </p:cNvPr>
          <p:cNvSpPr>
            <a:spLocks noGrp="1"/>
          </p:cNvSpPr>
          <p:nvPr>
            <p:ph type="sldNum" sz="quarter" idx="12"/>
          </p:nvPr>
        </p:nvSpPr>
        <p:spPr>
          <a:xfrm>
            <a:off x="6903709" y="5505638"/>
            <a:ext cx="2194560" cy="1397039"/>
          </a:xfrm>
        </p:spPr>
        <p:txBody>
          <a:bodyPr vert="horz" lIns="91440" tIns="45720" rIns="91440" bIns="45720" rtlCol="0" anchor="b">
            <a:normAutofit/>
          </a:bodyPr>
          <a:lstStyle/>
          <a:p>
            <a:pPr defTabSz="914400">
              <a:lnSpc>
                <a:spcPct val="90000"/>
              </a:lnSpc>
              <a:spcAft>
                <a:spcPts val="600"/>
              </a:spcAft>
            </a:pPr>
            <a:fld id="{D525BB11-F316-475A-8C08-1EE647C41E0C}" type="slidenum">
              <a:rPr lang="en-US" sz="9500">
                <a:solidFill>
                  <a:schemeClr val="bg2">
                    <a:alpha val="25000"/>
                  </a:schemeClr>
                </a:solidFill>
                <a:latin typeface="Calibri" panose="020F0502020204030204" pitchFamily="34" charset="0"/>
                <a:ea typeface="Calibri" panose="020F0502020204030204" pitchFamily="34" charset="0"/>
                <a:cs typeface="Calibri" panose="020F0502020204030204" pitchFamily="34" charset="0"/>
              </a:rPr>
              <a:pPr defTabSz="914400">
                <a:lnSpc>
                  <a:spcPct val="90000"/>
                </a:lnSpc>
                <a:spcAft>
                  <a:spcPts val="600"/>
                </a:spcAft>
              </a:pPr>
              <a:t>23</a:t>
            </a:fld>
            <a:endParaRPr lang="en-US" sz="9500" dirty="0">
              <a:solidFill>
                <a:schemeClr val="bg2">
                  <a:alpha val="2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6269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9"/>
                                        </p:tgtEl>
                                        <p:attrNameLst>
                                          <p:attrName>style.visibility</p:attrName>
                                        </p:attrNameLst>
                                      </p:cBhvr>
                                      <p:to>
                                        <p:strVal val="visible"/>
                                      </p:to>
                                    </p:set>
                                    <p:animEffect transition="in" filter="fade">
                                      <p:cBhvr>
                                        <p:cTn id="10"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2663</TotalTime>
  <Words>1787</Words>
  <Application>Microsoft Office PowerPoint</Application>
  <PresentationFormat>On-screen Show (4:3)</PresentationFormat>
  <Paragraphs>186</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vt:lpstr>
      <vt:lpstr>Calibri Light</vt:lpstr>
      <vt:lpstr>Symbol</vt:lpstr>
      <vt:lpstr>Times New Roman</vt:lpstr>
      <vt:lpstr>Metropolitan</vt:lpstr>
      <vt:lpstr>LLM Base Sindhi Health Text Generator Using RAG Technique</vt:lpstr>
      <vt:lpstr>Presentation Outline</vt:lpstr>
      <vt:lpstr>Introduction </vt:lpstr>
      <vt:lpstr>Background </vt:lpstr>
      <vt:lpstr>Motivation</vt:lpstr>
      <vt:lpstr>Problem Statement</vt:lpstr>
      <vt:lpstr>Relevant Work / Literature Review</vt:lpstr>
      <vt:lpstr>Aim and Objectives</vt:lpstr>
      <vt:lpstr>PowerPoint Presentation</vt:lpstr>
      <vt:lpstr>PowerPoint Presentation</vt:lpstr>
      <vt:lpstr>Scope /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References</vt:lpstr>
      <vt:lpstr>Thank you</vt:lpstr>
    </vt:vector>
  </TitlesOfParts>
  <Company>OFFICE LAPTOP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Mohsin Ali Shah</dc:creator>
  <cp:lastModifiedBy>Hajan Dahre</cp:lastModifiedBy>
  <cp:revision>74</cp:revision>
  <dcterms:created xsi:type="dcterms:W3CDTF">2018-01-30T06:30:58Z</dcterms:created>
  <dcterms:modified xsi:type="dcterms:W3CDTF">2025-11-19T07:38:19Z</dcterms:modified>
</cp:coreProperties>
</file>